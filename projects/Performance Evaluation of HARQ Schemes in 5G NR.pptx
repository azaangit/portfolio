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微软雅黑" panose="020B0503020204020204" pitchFamily="34" charset="-122"/>
      <p:regular r:id="rId26"/>
      <p:bold r:id="rId27"/>
    </p:embeddedFont>
    <p:embeddedFont>
      <p:font typeface="MiSans" panose="020B0604020202020204" charset="-122"/>
      <p:regular r:id="rId28"/>
    </p:embeddedFont>
    <p:embeddedFont>
      <p:font typeface="Noto Sans SC" panose="020B0604020202020204" charset="-128"/>
      <p:regular r:id="rId29"/>
    </p:embeddedFont>
    <p:embeddedFont>
      <p:font typeface="Sorts Mill Goudy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nithie" userId="9c01fcdb85ac97be" providerId="LiveId" clId="{B3D9AA01-4110-4DD2-AD89-B076EB5F7652}"/>
    <pc:docChg chg="modSld">
      <pc:chgData name="Sree nithie" userId="9c01fcdb85ac97be" providerId="LiveId" clId="{B3D9AA01-4110-4DD2-AD89-B076EB5F7652}" dt="2026-03-29T11:49:19.680" v="29" actId="20577"/>
      <pc:docMkLst>
        <pc:docMk/>
      </pc:docMkLst>
      <pc:sldChg chg="modSp mod">
        <pc:chgData name="Sree nithie" userId="9c01fcdb85ac97be" providerId="LiveId" clId="{B3D9AA01-4110-4DD2-AD89-B076EB5F7652}" dt="2026-03-29T11:46:57.923" v="7" actId="20577"/>
        <pc:sldMkLst>
          <pc:docMk/>
          <pc:sldMk cId="0" sldId="258"/>
        </pc:sldMkLst>
        <pc:spChg chg="mod">
          <ac:chgData name="Sree nithie" userId="9c01fcdb85ac97be" providerId="LiveId" clId="{B3D9AA01-4110-4DD2-AD89-B076EB5F7652}" dt="2026-03-29T11:46:57.923" v="7" actId="20577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Sree nithie" userId="9c01fcdb85ac97be" providerId="LiveId" clId="{B3D9AA01-4110-4DD2-AD89-B076EB5F7652}" dt="2026-03-29T11:49:19.680" v="29" actId="20577"/>
        <pc:sldMkLst>
          <pc:docMk/>
          <pc:sldMk cId="0" sldId="277"/>
        </pc:sldMkLst>
        <pc:spChg chg="mod">
          <ac:chgData name="Sree nithie" userId="9c01fcdb85ac97be" providerId="LiveId" clId="{B3D9AA01-4110-4DD2-AD89-B076EB5F7652}" dt="2026-03-29T11:49:19.680" v="29" actId="20577"/>
          <ac:spMkLst>
            <pc:docMk/>
            <pc:sldMk cId="0" sldId="277"/>
            <ac:spMk id="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46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dda6jJY28kotadnWUhL9A8lzhUtEJBAd/view?usp=sharin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kU1ZefZHrEepkwp1Bvz3mE7fPYl0F24M/view?usp=sharin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CXkximxC0kV0OQwOXhVA5ePVRsdiFDlN/view?usp=shari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zRtiz0Se1VHyuoPNnd8NCS2iN9XQrdyF/view?usp=sharing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-OrEkbxuYs4QRwbdTpeMklnE2wDYdli/view?usp=sharing" TargetMode="External"/><Relationship Id="rId7" Type="http://schemas.openxmlformats.org/officeDocument/2006/relationships/hyperlink" Target="https://drive.google.com/file/d/1YbbMUDmyaAqTGB-pGvnqG1AITd0fjF1F/view?usp=sharin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8ZLKuHUWLrPDFYnw_WdtTpKi9yQad_Qj/view?usp=sharing" TargetMode="External"/><Relationship Id="rId5" Type="http://schemas.openxmlformats.org/officeDocument/2006/relationships/hyperlink" Target="https://drive.google.com/file/d/1Qx2NJsd29xjYSvTMBcHu1JMaYZAcl1BZ/view?usp=sharing" TargetMode="External"/><Relationship Id="rId4" Type="http://schemas.openxmlformats.org/officeDocument/2006/relationships/hyperlink" Target="https://drive.google.com/file/d/1PMNAJSdlmasz_vWRyERSJZXWKQkN21Ks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cf77b42b9dec20892aa332ce3c4d8b95d8663c4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52400" y="1587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8B000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20775"/>
            <a:ext cx="3476625" cy="381000"/>
          </a:xfrm>
          <a:custGeom>
            <a:avLst/>
            <a:gdLst/>
            <a:ahLst/>
            <a:cxnLst/>
            <a:rect l="l" t="t" r="r" b="b"/>
            <a:pathLst>
              <a:path w="3476625" h="381000">
                <a:moveTo>
                  <a:pt x="0" y="0"/>
                </a:moveTo>
                <a:lnTo>
                  <a:pt x="3476625" y="0"/>
                </a:lnTo>
                <a:lnTo>
                  <a:pt x="3476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207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3"/>
          <p:cNvSpPr/>
          <p:nvPr/>
        </p:nvSpPr>
        <p:spPr>
          <a:xfrm>
            <a:off x="400050" y="993775"/>
            <a:ext cx="752105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200" b="1" kern="0" spc="6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   CASE STUDY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30375"/>
            <a:ext cx="1165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Evaluation of Hybrid Automatic Repeat Request (HARQ) Schemes in 5G NR under Fading Channels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6734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6"/>
          <p:cNvSpPr/>
          <p:nvPr/>
        </p:nvSpPr>
        <p:spPr>
          <a:xfrm>
            <a:off x="381000" y="4054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466725" y="41592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88156" y="4768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81000" y="58261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13680" y="4159250"/>
            <a:ext cx="5082320" cy="218714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Team Members: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K.AZAAN AHAMED - 23BEC0362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S.S.SREENITHIE- 23BEC0423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ADARSH- 23BML0100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WIRELESS AND MOBILE COMMUNICATIONS - BECE317L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77155" y="533400"/>
            <a:ext cx="16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066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352550"/>
            <a:ext cx="5543550" cy="2228850"/>
          </a:xfrm>
          <a:custGeom>
            <a:avLst/>
            <a:gdLst/>
            <a:ahLst/>
            <a:cxnLst/>
            <a:rect l="l" t="t" r="r" b="b"/>
            <a:pathLst>
              <a:path w="5543550" h="2228850">
                <a:moveTo>
                  <a:pt x="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2152646"/>
                </a:lnTo>
                <a:cubicBezTo>
                  <a:pt x="5543550" y="2194732"/>
                  <a:pt x="5509432" y="2228850"/>
                  <a:pt x="5467346" y="2228850"/>
                </a:cubicBezTo>
                <a:lnTo>
                  <a:pt x="0" y="2228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352550"/>
            <a:ext cx="38100" cy="2228850"/>
          </a:xfrm>
          <a:custGeom>
            <a:avLst/>
            <a:gdLst/>
            <a:ahLst/>
            <a:cxnLst/>
            <a:rect l="l" t="t" r="r" b="b"/>
            <a:pathLst>
              <a:path w="38100" h="2228850">
                <a:moveTo>
                  <a:pt x="0" y="0"/>
                </a:moveTo>
                <a:lnTo>
                  <a:pt x="38100" y="0"/>
                </a:lnTo>
                <a:lnTo>
                  <a:pt x="38100" y="2228850"/>
                </a:lnTo>
                <a:lnTo>
                  <a:pt x="0" y="2228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21506" y="1581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47725" y="154305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5G Communication Challenges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192405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Fifth-generation (5G) wireless networks demand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ultra-high reliability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ultra-low latency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 support critical applications including autonomous vehicles, industrial automation, and remote surgery.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838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3894" y="28956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81940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Reliability: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99.999% packet delivery requirement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3162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3894" y="3219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314325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 Latency: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&lt; 1ms end-to-end delay target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810000"/>
            <a:ext cx="5543550" cy="1647825"/>
          </a:xfrm>
          <a:custGeom>
            <a:avLst/>
            <a:gdLst/>
            <a:ahLst/>
            <a:cxnLst/>
            <a:rect l="l" t="t" r="r" b="b"/>
            <a:pathLst>
              <a:path w="5543550" h="1647825">
                <a:moveTo>
                  <a:pt x="0" y="0"/>
                </a:moveTo>
                <a:lnTo>
                  <a:pt x="5467355" y="0"/>
                </a:lnTo>
                <a:cubicBezTo>
                  <a:pt x="5509408" y="0"/>
                  <a:pt x="5543550" y="34142"/>
                  <a:pt x="5543550" y="76195"/>
                </a:cubicBezTo>
                <a:lnTo>
                  <a:pt x="5543550" y="1571630"/>
                </a:lnTo>
                <a:cubicBezTo>
                  <a:pt x="5543550" y="1613711"/>
                  <a:pt x="5509436" y="1647825"/>
                  <a:pt x="5467355" y="1647825"/>
                </a:cubicBez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8100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413" y="4038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7725" y="40005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Wireless Channel Impairments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775" y="4384675"/>
            <a:ext cx="1635125" cy="882650"/>
          </a:xfrm>
          <a:custGeom>
            <a:avLst/>
            <a:gdLst/>
            <a:ahLst/>
            <a:cxnLst/>
            <a:rect l="l" t="t" r="r" b="b"/>
            <a:pathLst>
              <a:path w="1635125" h="882650">
                <a:moveTo>
                  <a:pt x="76199" y="0"/>
                </a:moveTo>
                <a:lnTo>
                  <a:pt x="1558926" y="0"/>
                </a:lnTo>
                <a:cubicBezTo>
                  <a:pt x="1601009" y="0"/>
                  <a:pt x="1635125" y="34116"/>
                  <a:pt x="1635125" y="76199"/>
                </a:cubicBezTo>
                <a:lnTo>
                  <a:pt x="1635125" y="806451"/>
                </a:lnTo>
                <a:cubicBezTo>
                  <a:pt x="1635125" y="848534"/>
                  <a:pt x="1601009" y="882650"/>
                  <a:pt x="1558926" y="882650"/>
                </a:cubicBezTo>
                <a:lnTo>
                  <a:pt x="76199" y="882650"/>
                </a:lnTo>
                <a:cubicBezTo>
                  <a:pt x="34116" y="882650"/>
                  <a:pt x="0" y="848534"/>
                  <a:pt x="0" y="8064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14450" y="45021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42863"/>
                </a:moveTo>
                <a:cubicBezTo>
                  <a:pt x="28575" y="34960"/>
                  <a:pt x="34960" y="28575"/>
                  <a:pt x="42863" y="28575"/>
                </a:cubicBezTo>
                <a:lnTo>
                  <a:pt x="114300" y="28575"/>
                </a:lnTo>
                <a:cubicBezTo>
                  <a:pt x="122203" y="28575"/>
                  <a:pt x="128588" y="34960"/>
                  <a:pt x="128588" y="42863"/>
                </a:cubicBezTo>
                <a:lnTo>
                  <a:pt x="128588" y="171450"/>
                </a:lnTo>
                <a:lnTo>
                  <a:pt x="171450" y="171450"/>
                </a:lnTo>
                <a:lnTo>
                  <a:pt x="171450" y="114300"/>
                </a:lnTo>
                <a:cubicBezTo>
                  <a:pt x="171450" y="106397"/>
                  <a:pt x="177835" y="100013"/>
                  <a:pt x="185738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200025" y="128588"/>
                </a:lnTo>
                <a:lnTo>
                  <a:pt x="200025" y="185738"/>
                </a:lnTo>
                <a:cubicBezTo>
                  <a:pt x="200025" y="193640"/>
                  <a:pt x="193640" y="200025"/>
                  <a:pt x="185738" y="200025"/>
                </a:cubicBezTo>
                <a:lnTo>
                  <a:pt x="114300" y="200025"/>
                </a:lnTo>
                <a:cubicBezTo>
                  <a:pt x="106397" y="200025"/>
                  <a:pt x="100013" y="193640"/>
                  <a:pt x="100013" y="185738"/>
                </a:cubicBezTo>
                <a:lnTo>
                  <a:pt x="100013" y="57150"/>
                </a:lnTo>
                <a:lnTo>
                  <a:pt x="57150" y="57150"/>
                </a:lnTo>
                <a:lnTo>
                  <a:pt x="57150" y="114300"/>
                </a:lnTo>
                <a:cubicBezTo>
                  <a:pt x="57150" y="122203"/>
                  <a:pt x="50765" y="128588"/>
                  <a:pt x="42863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28575" y="100013"/>
                </a:lnTo>
                <a:lnTo>
                  <a:pt x="28575" y="428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96913" y="4806951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1675" y="4997451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Thermal &amp; interference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365375" y="4384675"/>
            <a:ext cx="1635125" cy="882650"/>
          </a:xfrm>
          <a:custGeom>
            <a:avLst/>
            <a:gdLst/>
            <a:ahLst/>
            <a:cxnLst/>
            <a:rect l="l" t="t" r="r" b="b"/>
            <a:pathLst>
              <a:path w="1635125" h="882650">
                <a:moveTo>
                  <a:pt x="76199" y="0"/>
                </a:moveTo>
                <a:lnTo>
                  <a:pt x="1558926" y="0"/>
                </a:lnTo>
                <a:cubicBezTo>
                  <a:pt x="1601009" y="0"/>
                  <a:pt x="1635125" y="34116"/>
                  <a:pt x="1635125" y="76199"/>
                </a:cubicBezTo>
                <a:lnTo>
                  <a:pt x="1635125" y="806451"/>
                </a:lnTo>
                <a:cubicBezTo>
                  <a:pt x="1635125" y="848534"/>
                  <a:pt x="1601009" y="882650"/>
                  <a:pt x="1558926" y="882650"/>
                </a:cubicBezTo>
                <a:lnTo>
                  <a:pt x="76199" y="882650"/>
                </a:lnTo>
                <a:cubicBezTo>
                  <a:pt x="34116" y="882650"/>
                  <a:pt x="0" y="848534"/>
                  <a:pt x="0" y="8064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52763" y="45021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39246" y="5135"/>
                </a:moveTo>
                <a:cubicBezTo>
                  <a:pt x="34201" y="2054"/>
                  <a:pt x="27593" y="3706"/>
                  <a:pt x="24512" y="8751"/>
                </a:cubicBezTo>
                <a:cubicBezTo>
                  <a:pt x="13439" y="27057"/>
                  <a:pt x="7099" y="48533"/>
                  <a:pt x="7099" y="71438"/>
                </a:cubicBezTo>
                <a:cubicBezTo>
                  <a:pt x="7099" y="94342"/>
                  <a:pt x="13439" y="115818"/>
                  <a:pt x="24512" y="134124"/>
                </a:cubicBezTo>
                <a:cubicBezTo>
                  <a:pt x="27593" y="139169"/>
                  <a:pt x="34156" y="140821"/>
                  <a:pt x="39246" y="137740"/>
                </a:cubicBezTo>
                <a:cubicBezTo>
                  <a:pt x="44336" y="134660"/>
                  <a:pt x="45943" y="128096"/>
                  <a:pt x="42863" y="123006"/>
                </a:cubicBezTo>
                <a:cubicBezTo>
                  <a:pt x="33799" y="108005"/>
                  <a:pt x="28575" y="90324"/>
                  <a:pt x="28575" y="71438"/>
                </a:cubicBezTo>
                <a:cubicBezTo>
                  <a:pt x="28575" y="52551"/>
                  <a:pt x="33799" y="34870"/>
                  <a:pt x="42907" y="19824"/>
                </a:cubicBezTo>
                <a:cubicBezTo>
                  <a:pt x="45988" y="14779"/>
                  <a:pt x="44336" y="8171"/>
                  <a:pt x="39291" y="5090"/>
                </a:cubicBezTo>
                <a:close/>
                <a:moveTo>
                  <a:pt x="217884" y="5135"/>
                </a:moveTo>
                <a:cubicBezTo>
                  <a:pt x="212839" y="8215"/>
                  <a:pt x="211187" y="14779"/>
                  <a:pt x="214268" y="19869"/>
                </a:cubicBezTo>
                <a:cubicBezTo>
                  <a:pt x="223376" y="34915"/>
                  <a:pt x="228600" y="52596"/>
                  <a:pt x="228600" y="71482"/>
                </a:cubicBezTo>
                <a:cubicBezTo>
                  <a:pt x="228600" y="90368"/>
                  <a:pt x="223376" y="108049"/>
                  <a:pt x="214268" y="123096"/>
                </a:cubicBezTo>
                <a:cubicBezTo>
                  <a:pt x="211187" y="128141"/>
                  <a:pt x="212839" y="134749"/>
                  <a:pt x="217884" y="137830"/>
                </a:cubicBezTo>
                <a:cubicBezTo>
                  <a:pt x="222930" y="140910"/>
                  <a:pt x="229538" y="139258"/>
                  <a:pt x="232618" y="134213"/>
                </a:cubicBezTo>
                <a:cubicBezTo>
                  <a:pt x="243691" y="115907"/>
                  <a:pt x="250031" y="94431"/>
                  <a:pt x="250031" y="71527"/>
                </a:cubicBezTo>
                <a:cubicBezTo>
                  <a:pt x="250031" y="48622"/>
                  <a:pt x="243691" y="27057"/>
                  <a:pt x="232618" y="8751"/>
                </a:cubicBezTo>
                <a:cubicBezTo>
                  <a:pt x="229538" y="3706"/>
                  <a:pt x="222974" y="2054"/>
                  <a:pt x="217884" y="5135"/>
                </a:cubicBezTo>
                <a:close/>
                <a:moveTo>
                  <a:pt x="142875" y="96173"/>
                </a:moveTo>
                <a:cubicBezTo>
                  <a:pt x="151403" y="91217"/>
                  <a:pt x="157163" y="82019"/>
                  <a:pt x="157163" y="71438"/>
                </a:cubicBezTo>
                <a:cubicBezTo>
                  <a:pt x="157163" y="55677"/>
                  <a:pt x="144348" y="42863"/>
                  <a:pt x="128588" y="42863"/>
                </a:cubicBezTo>
                <a:cubicBezTo>
                  <a:pt x="112827" y="42863"/>
                  <a:pt x="100013" y="55677"/>
                  <a:pt x="100013" y="71438"/>
                </a:cubicBezTo>
                <a:cubicBezTo>
                  <a:pt x="100013" y="82019"/>
                  <a:pt x="105772" y="91261"/>
                  <a:pt x="114300" y="96173"/>
                </a:cubicBezTo>
                <a:lnTo>
                  <a:pt x="114300" y="214313"/>
                </a:lnTo>
                <a:cubicBezTo>
                  <a:pt x="114300" y="222215"/>
                  <a:pt x="120685" y="228600"/>
                  <a:pt x="128588" y="228600"/>
                </a:cubicBezTo>
                <a:cubicBezTo>
                  <a:pt x="136490" y="228600"/>
                  <a:pt x="142875" y="222215"/>
                  <a:pt x="142875" y="214313"/>
                </a:cubicBezTo>
                <a:lnTo>
                  <a:pt x="142875" y="96173"/>
                </a:lnTo>
                <a:close/>
                <a:moveTo>
                  <a:pt x="80456" y="40630"/>
                </a:moveTo>
                <a:cubicBezTo>
                  <a:pt x="83671" y="35629"/>
                  <a:pt x="82198" y="29021"/>
                  <a:pt x="77242" y="25807"/>
                </a:cubicBezTo>
                <a:cubicBezTo>
                  <a:pt x="72286" y="22592"/>
                  <a:pt x="65633" y="24066"/>
                  <a:pt x="62419" y="29021"/>
                </a:cubicBezTo>
                <a:cubicBezTo>
                  <a:pt x="54560" y="41255"/>
                  <a:pt x="50006" y="55811"/>
                  <a:pt x="50006" y="71438"/>
                </a:cubicBezTo>
                <a:cubicBezTo>
                  <a:pt x="50006" y="87064"/>
                  <a:pt x="54560" y="101620"/>
                  <a:pt x="62419" y="113854"/>
                </a:cubicBezTo>
                <a:cubicBezTo>
                  <a:pt x="65633" y="118854"/>
                  <a:pt x="72241" y="120283"/>
                  <a:pt x="77242" y="117068"/>
                </a:cubicBezTo>
                <a:cubicBezTo>
                  <a:pt x="82242" y="113854"/>
                  <a:pt x="83671" y="107246"/>
                  <a:pt x="80456" y="102245"/>
                </a:cubicBezTo>
                <a:cubicBezTo>
                  <a:pt x="74741" y="93360"/>
                  <a:pt x="71438" y="82778"/>
                  <a:pt x="71438" y="71438"/>
                </a:cubicBezTo>
                <a:cubicBezTo>
                  <a:pt x="71438" y="60097"/>
                  <a:pt x="74741" y="49515"/>
                  <a:pt x="80456" y="40630"/>
                </a:cubicBezTo>
                <a:close/>
                <a:moveTo>
                  <a:pt x="194756" y="29021"/>
                </a:moveTo>
                <a:cubicBezTo>
                  <a:pt x="191542" y="24021"/>
                  <a:pt x="184934" y="22592"/>
                  <a:pt x="179933" y="25807"/>
                </a:cubicBezTo>
                <a:cubicBezTo>
                  <a:pt x="174933" y="29021"/>
                  <a:pt x="173504" y="35629"/>
                  <a:pt x="176719" y="40630"/>
                </a:cubicBezTo>
                <a:cubicBezTo>
                  <a:pt x="182434" y="49515"/>
                  <a:pt x="185738" y="60097"/>
                  <a:pt x="185738" y="71438"/>
                </a:cubicBezTo>
                <a:cubicBezTo>
                  <a:pt x="185738" y="82778"/>
                  <a:pt x="182434" y="93360"/>
                  <a:pt x="176719" y="102245"/>
                </a:cubicBezTo>
                <a:cubicBezTo>
                  <a:pt x="173504" y="107246"/>
                  <a:pt x="174977" y="113854"/>
                  <a:pt x="179933" y="117068"/>
                </a:cubicBezTo>
                <a:cubicBezTo>
                  <a:pt x="184889" y="120283"/>
                  <a:pt x="191542" y="118809"/>
                  <a:pt x="194756" y="113854"/>
                </a:cubicBezTo>
                <a:cubicBezTo>
                  <a:pt x="202615" y="101620"/>
                  <a:pt x="207169" y="87064"/>
                  <a:pt x="207169" y="71438"/>
                </a:cubicBezTo>
                <a:cubicBezTo>
                  <a:pt x="207169" y="55811"/>
                  <a:pt x="202615" y="41255"/>
                  <a:pt x="194756" y="2902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2449513" y="4806951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Interference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54275" y="4997451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Co-channel &amp; adjacent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17975" y="4384675"/>
            <a:ext cx="1635125" cy="882650"/>
          </a:xfrm>
          <a:custGeom>
            <a:avLst/>
            <a:gdLst/>
            <a:ahLst/>
            <a:cxnLst/>
            <a:rect l="l" t="t" r="r" b="b"/>
            <a:pathLst>
              <a:path w="1635125" h="882650">
                <a:moveTo>
                  <a:pt x="76199" y="0"/>
                </a:moveTo>
                <a:lnTo>
                  <a:pt x="1558926" y="0"/>
                </a:lnTo>
                <a:cubicBezTo>
                  <a:pt x="1601009" y="0"/>
                  <a:pt x="1635125" y="34116"/>
                  <a:pt x="1635125" y="76199"/>
                </a:cubicBezTo>
                <a:lnTo>
                  <a:pt x="1635125" y="806451"/>
                </a:lnTo>
                <a:cubicBezTo>
                  <a:pt x="1635125" y="848534"/>
                  <a:pt x="1601009" y="882650"/>
                  <a:pt x="1558926" y="882650"/>
                </a:cubicBezTo>
                <a:lnTo>
                  <a:pt x="76199" y="882650"/>
                </a:lnTo>
                <a:cubicBezTo>
                  <a:pt x="34116" y="882650"/>
                  <a:pt x="0" y="848534"/>
                  <a:pt x="0" y="8064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9650" y="45021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202113" y="4806951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Fading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06875" y="4997451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Multipath &amp; shadowing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51575" y="1355725"/>
            <a:ext cx="5559425" cy="2454275"/>
          </a:xfrm>
          <a:custGeom>
            <a:avLst/>
            <a:gdLst/>
            <a:ahLst/>
            <a:cxnLst/>
            <a:rect l="l" t="t" r="r" b="b"/>
            <a:pathLst>
              <a:path w="5559425" h="2454275">
                <a:moveTo>
                  <a:pt x="76205" y="0"/>
                </a:moveTo>
                <a:lnTo>
                  <a:pt x="5483220" y="0"/>
                </a:lnTo>
                <a:cubicBezTo>
                  <a:pt x="5525307" y="0"/>
                  <a:pt x="5559425" y="34118"/>
                  <a:pt x="5559425" y="76205"/>
                </a:cubicBezTo>
                <a:lnTo>
                  <a:pt x="5559425" y="2378070"/>
                </a:lnTo>
                <a:cubicBezTo>
                  <a:pt x="5559425" y="2420157"/>
                  <a:pt x="5525307" y="2454275"/>
                  <a:pt x="5483220" y="2454275"/>
                </a:cubicBezTo>
                <a:lnTo>
                  <a:pt x="76205" y="2454275"/>
                </a:lnTo>
                <a:cubicBezTo>
                  <a:pt x="34118" y="2454275"/>
                  <a:pt x="0" y="2420157"/>
                  <a:pt x="0" y="23780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7156" y="1587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66278" y="141833"/>
                </a:lnTo>
                <a:cubicBezTo>
                  <a:pt x="167841" y="140568"/>
                  <a:pt x="169366" y="139192"/>
                  <a:pt x="170780" y="137778"/>
                </a:cubicBezTo>
                <a:lnTo>
                  <a:pt x="197234" y="111323"/>
                </a:lnTo>
                <a:cubicBezTo>
                  <a:pt x="208136" y="100422"/>
                  <a:pt x="214275" y="85613"/>
                  <a:pt x="214275" y="70172"/>
                </a:cubicBezTo>
                <a:cubicBezTo>
                  <a:pt x="214275" y="38026"/>
                  <a:pt x="188230" y="11943"/>
                  <a:pt x="156046" y="11943"/>
                </a:cubicBezTo>
                <a:cubicBezTo>
                  <a:pt x="142168" y="11943"/>
                  <a:pt x="128848" y="16892"/>
                  <a:pt x="118356" y="25784"/>
                </a:cubicBezTo>
                <a:cubicBezTo>
                  <a:pt x="125909" y="29542"/>
                  <a:pt x="132755" y="34528"/>
                  <a:pt x="138633" y="40481"/>
                </a:cubicBezTo>
                <a:cubicBezTo>
                  <a:pt x="143880" y="37393"/>
                  <a:pt x="149870" y="35756"/>
                  <a:pt x="156046" y="35756"/>
                </a:cubicBezTo>
                <a:cubicBezTo>
                  <a:pt x="175059" y="35756"/>
                  <a:pt x="190463" y="51160"/>
                  <a:pt x="190463" y="70172"/>
                </a:cubicBezTo>
                <a:cubicBezTo>
                  <a:pt x="190463" y="79288"/>
                  <a:pt x="186854" y="88032"/>
                  <a:pt x="180380" y="94506"/>
                </a:cubicBezTo>
                <a:lnTo>
                  <a:pt x="153925" y="120960"/>
                </a:lnTo>
                <a:cubicBezTo>
                  <a:pt x="152474" y="122411"/>
                  <a:pt x="150912" y="123713"/>
                  <a:pt x="149237" y="124867"/>
                </a:cubicBezTo>
                <a:lnTo>
                  <a:pt x="131564" y="107193"/>
                </a:lnTo>
                <a:cubicBezTo>
                  <a:pt x="137703" y="106859"/>
                  <a:pt x="142615" y="101836"/>
                  <a:pt x="142801" y="95622"/>
                </a:cubicBezTo>
                <a:cubicBezTo>
                  <a:pt x="142801" y="95138"/>
                  <a:pt x="142801" y="94655"/>
                  <a:pt x="142801" y="94171"/>
                </a:cubicBezTo>
                <a:cubicBezTo>
                  <a:pt x="142801" y="62061"/>
                  <a:pt x="116793" y="35793"/>
                  <a:pt x="84572" y="35793"/>
                </a:cubicBezTo>
                <a:cubicBezTo>
                  <a:pt x="77428" y="35793"/>
                  <a:pt x="70470" y="37095"/>
                  <a:pt x="63922" y="39588"/>
                </a:cubicBezTo>
                <a:lnTo>
                  <a:pt x="15255" y="-9265"/>
                </a:lnTo>
                <a:close/>
                <a:moveTo>
                  <a:pt x="84051" y="59531"/>
                </a:moveTo>
                <a:cubicBezTo>
                  <a:pt x="84274" y="59531"/>
                  <a:pt x="84460" y="59531"/>
                  <a:pt x="84683" y="59531"/>
                </a:cubicBezTo>
                <a:cubicBezTo>
                  <a:pt x="90301" y="59531"/>
                  <a:pt x="95659" y="60908"/>
                  <a:pt x="100347" y="63326"/>
                </a:cubicBezTo>
                <a:cubicBezTo>
                  <a:pt x="101017" y="63773"/>
                  <a:pt x="101687" y="64182"/>
                  <a:pt x="102394" y="64480"/>
                </a:cubicBezTo>
                <a:cubicBezTo>
                  <a:pt x="112365" y="70545"/>
                  <a:pt x="119063" y="81558"/>
                  <a:pt x="119063" y="94097"/>
                </a:cubicBezTo>
                <a:cubicBezTo>
                  <a:pt x="119063" y="94245"/>
                  <a:pt x="119063" y="94394"/>
                  <a:pt x="119063" y="94543"/>
                </a:cubicBezTo>
                <a:lnTo>
                  <a:pt x="84051" y="59531"/>
                </a:lnTo>
                <a:close/>
                <a:moveTo>
                  <a:pt x="128811" y="154781"/>
                </a:moveTo>
                <a:lnTo>
                  <a:pt x="71438" y="97408"/>
                </a:lnTo>
                <a:cubicBezTo>
                  <a:pt x="71884" y="128885"/>
                  <a:pt x="97334" y="154298"/>
                  <a:pt x="128774" y="154744"/>
                </a:cubicBezTo>
                <a:close/>
                <a:moveTo>
                  <a:pt x="51978" y="77949"/>
                </a:moveTo>
                <a:lnTo>
                  <a:pt x="35123" y="61094"/>
                </a:lnTo>
                <a:lnTo>
                  <a:pt x="17041" y="79177"/>
                </a:lnTo>
                <a:cubicBezTo>
                  <a:pt x="6139" y="90078"/>
                  <a:pt x="0" y="104887"/>
                  <a:pt x="0" y="120328"/>
                </a:cubicBezTo>
                <a:cubicBezTo>
                  <a:pt x="0" y="152474"/>
                  <a:pt x="26045" y="178557"/>
                  <a:pt x="58229" y="178557"/>
                </a:cubicBezTo>
                <a:cubicBezTo>
                  <a:pt x="72070" y="178557"/>
                  <a:pt x="85427" y="173608"/>
                  <a:pt x="95920" y="164716"/>
                </a:cubicBezTo>
                <a:cubicBezTo>
                  <a:pt x="88367" y="160958"/>
                  <a:pt x="81483" y="155972"/>
                  <a:pt x="75605" y="150019"/>
                </a:cubicBezTo>
                <a:cubicBezTo>
                  <a:pt x="70396" y="153070"/>
                  <a:pt x="64405" y="154707"/>
                  <a:pt x="58229" y="154707"/>
                </a:cubicBezTo>
                <a:cubicBezTo>
                  <a:pt x="39216" y="154707"/>
                  <a:pt x="23812" y="139303"/>
                  <a:pt x="23812" y="120290"/>
                </a:cubicBezTo>
                <a:cubicBezTo>
                  <a:pt x="23812" y="111175"/>
                  <a:pt x="27422" y="102431"/>
                  <a:pt x="33896" y="95957"/>
                </a:cubicBezTo>
                <a:lnTo>
                  <a:pt x="51978" y="7787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683375" y="15494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 on Communication Quality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5250" y="1930400"/>
            <a:ext cx="5248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These impairments cause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packet errors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packet loss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directly degrading the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Quality of Service (QoS)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user experience.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8425" y="2581276"/>
            <a:ext cx="5159375" cy="1035050"/>
          </a:xfrm>
          <a:custGeom>
            <a:avLst/>
            <a:gdLst/>
            <a:ahLst/>
            <a:cxnLst/>
            <a:rect l="l" t="t" r="r" b="b"/>
            <a:pathLst>
              <a:path w="5159375" h="1035050">
                <a:moveTo>
                  <a:pt x="76200" y="0"/>
                </a:moveTo>
                <a:lnTo>
                  <a:pt x="5083175" y="0"/>
                </a:lnTo>
                <a:cubicBezTo>
                  <a:pt x="5125259" y="0"/>
                  <a:pt x="5159375" y="34116"/>
                  <a:pt x="5159375" y="76200"/>
                </a:cubicBezTo>
                <a:lnTo>
                  <a:pt x="5159375" y="958850"/>
                </a:lnTo>
                <a:cubicBezTo>
                  <a:pt x="5159375" y="1000934"/>
                  <a:pt x="5125259" y="1035050"/>
                  <a:pt x="5083175" y="1035050"/>
                </a:cubicBezTo>
                <a:lnTo>
                  <a:pt x="76200" y="1035050"/>
                </a:lnTo>
                <a:cubicBezTo>
                  <a:pt x="34116" y="1035050"/>
                  <a:pt x="0" y="1000934"/>
                  <a:pt x="0" y="958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4000" y="2736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900" y="27368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23100" y="277495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Errors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→ Packet Loss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04000" y="3155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900" y="31559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23100" y="31940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Packet Loss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→ Reduced QoS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48400" y="4044951"/>
            <a:ext cx="5562600" cy="2419350"/>
          </a:xfrm>
          <a:custGeom>
            <a:avLst/>
            <a:gdLst/>
            <a:ahLst/>
            <a:cxnLst/>
            <a:rect l="l" t="t" r="r" b="b"/>
            <a:pathLst>
              <a:path w="5562600" h="241935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2343140"/>
                </a:lnTo>
                <a:cubicBezTo>
                  <a:pt x="5562600" y="2385230"/>
                  <a:pt x="5528480" y="2419350"/>
                  <a:pt x="548639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486525" y="427355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677025" y="4235451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HARQ: The Solution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38900" y="4616451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Hybrid Automatic Repeat Request (HARQ)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combines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Forward Error Correction (FEC)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Automatic Repeat Request (ARQ)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 significantly improve link performance.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38900" y="5530851"/>
            <a:ext cx="1428750" cy="723900"/>
          </a:xfrm>
          <a:custGeom>
            <a:avLst/>
            <a:gdLst/>
            <a:ahLst/>
            <a:cxnLst/>
            <a:rect l="l" t="t" r="r" b="b"/>
            <a:pathLst>
              <a:path w="1428750" h="723900">
                <a:moveTo>
                  <a:pt x="76198" y="0"/>
                </a:moveTo>
                <a:lnTo>
                  <a:pt x="1352552" y="0"/>
                </a:lnTo>
                <a:cubicBezTo>
                  <a:pt x="1394607" y="0"/>
                  <a:pt x="1428750" y="34143"/>
                  <a:pt x="1428750" y="76198"/>
                </a:cubicBezTo>
                <a:lnTo>
                  <a:pt x="1428750" y="647702"/>
                </a:lnTo>
                <a:cubicBezTo>
                  <a:pt x="1428750" y="689757"/>
                  <a:pt x="1394607" y="723900"/>
                  <a:pt x="13525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96050" y="5645151"/>
            <a:ext cx="131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19863" y="5949951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Error Correction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22233" y="5740401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+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95184" y="5530851"/>
            <a:ext cx="1428750" cy="723900"/>
          </a:xfrm>
          <a:custGeom>
            <a:avLst/>
            <a:gdLst/>
            <a:ahLst/>
            <a:cxnLst/>
            <a:rect l="l" t="t" r="r" b="b"/>
            <a:pathLst>
              <a:path w="1428750" h="723900">
                <a:moveTo>
                  <a:pt x="76198" y="0"/>
                </a:moveTo>
                <a:lnTo>
                  <a:pt x="1352552" y="0"/>
                </a:lnTo>
                <a:cubicBezTo>
                  <a:pt x="1394607" y="0"/>
                  <a:pt x="1428750" y="34143"/>
                  <a:pt x="1428750" y="76198"/>
                </a:cubicBezTo>
                <a:lnTo>
                  <a:pt x="1428750" y="647702"/>
                </a:lnTo>
                <a:cubicBezTo>
                  <a:pt x="1428750" y="689757"/>
                  <a:pt x="1394607" y="723900"/>
                  <a:pt x="13525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352334" y="5645151"/>
            <a:ext cx="131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ARQ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76146" y="5949951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Retransmission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878517" y="5740401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=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160993" y="5521326"/>
            <a:ext cx="1447800" cy="742950"/>
          </a:xfrm>
          <a:custGeom>
            <a:avLst/>
            <a:gdLst/>
            <a:ahLst/>
            <a:cxnLst/>
            <a:rect l="l" t="t" r="r" b="b"/>
            <a:pathLst>
              <a:path w="1447800" h="742950">
                <a:moveTo>
                  <a:pt x="76197" y="0"/>
                </a:moveTo>
                <a:lnTo>
                  <a:pt x="1371603" y="0"/>
                </a:lnTo>
                <a:cubicBezTo>
                  <a:pt x="1413685" y="0"/>
                  <a:pt x="1447800" y="34115"/>
                  <a:pt x="1447800" y="76197"/>
                </a:cubicBezTo>
                <a:lnTo>
                  <a:pt x="1447800" y="666753"/>
                </a:lnTo>
                <a:cubicBezTo>
                  <a:pt x="1447800" y="708835"/>
                  <a:pt x="1413685" y="742950"/>
                  <a:pt x="13716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27668" y="5645151"/>
            <a:ext cx="131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251480" y="5949951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Enhanced Reliability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64952" y="53340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SDG Goals Alignment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1352550"/>
            <a:ext cx="11515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 technology directly contributes to the United Nations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Sustainable Development Goals (SDGs)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enabling sustainable and inclusive communication infrastructure worldwide.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525" y="2147888"/>
            <a:ext cx="3638550" cy="3448050"/>
          </a:xfrm>
          <a:custGeom>
            <a:avLst/>
            <a:gdLst/>
            <a:ahLst/>
            <a:cxnLst/>
            <a:rect l="l" t="t" r="r" b="b"/>
            <a:pathLst>
              <a:path w="3638550" h="3448050">
                <a:moveTo>
                  <a:pt x="76202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3371848"/>
                </a:lnTo>
                <a:cubicBezTo>
                  <a:pt x="3638550" y="3413933"/>
                  <a:pt x="3604433" y="3448050"/>
                  <a:pt x="3562348" y="3448050"/>
                </a:cubicBezTo>
                <a:lnTo>
                  <a:pt x="76202" y="3448050"/>
                </a:lnTo>
                <a:cubicBezTo>
                  <a:pt x="34117" y="3448050"/>
                  <a:pt x="0" y="3413933"/>
                  <a:pt x="0" y="33718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" y="23860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238601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6350" y="2424113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SDG 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6350" y="2690813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Industry, Innovation &amp; Infrastructure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109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3416" y="3071813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Reliable Communication Systems: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HARQ ensures robust data transmission for industrial IoT and smart manufacturing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9100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3416" y="3871913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Infrastructure Resilience: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Enables critical infrastructure monitoring and control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7101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3416" y="4672013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Technological Innovation: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Drives advancement in wireless communication standards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76725" y="2147888"/>
            <a:ext cx="3638550" cy="3448050"/>
          </a:xfrm>
          <a:custGeom>
            <a:avLst/>
            <a:gdLst/>
            <a:ahLst/>
            <a:cxnLst/>
            <a:rect l="l" t="t" r="r" b="b"/>
            <a:pathLst>
              <a:path w="3638550" h="3448050">
                <a:moveTo>
                  <a:pt x="76202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3371848"/>
                </a:lnTo>
                <a:cubicBezTo>
                  <a:pt x="3638550" y="3413933"/>
                  <a:pt x="3604433" y="3448050"/>
                  <a:pt x="3562348" y="3448050"/>
                </a:cubicBezTo>
                <a:lnTo>
                  <a:pt x="76202" y="3448050"/>
                </a:lnTo>
                <a:cubicBezTo>
                  <a:pt x="34117" y="3448050"/>
                  <a:pt x="0" y="3413933"/>
                  <a:pt x="0" y="33718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14850" y="23860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457700" y="238601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2550" y="2424113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SDG </a:t>
            </a:r>
            <a:r>
              <a:rPr lang="en-US" sz="1500" b="1" dirty="0">
                <a:solidFill>
                  <a:srgbClr val="1F2937"/>
                </a:solidFill>
                <a:ea typeface="Sorts Mill Goudy" pitchFamily="34" charset="-122"/>
                <a:cs typeface="Sorts Mill Goudy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2550" y="2690813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Sustainable Cities &amp; Communities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00563" y="3109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716859" y="3071813"/>
            <a:ext cx="303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Smart Connectivity: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Powers IoT networks for smart city applications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95800" y="3681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617" y="3643313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Intelligent Transport: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Supports autonomous vehicles and traffic management systems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00563" y="4252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719142" y="4214813"/>
            <a:ext cx="303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Public Safety: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Enables reliable emergency communication networks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62925" y="2147888"/>
            <a:ext cx="3638550" cy="3448050"/>
          </a:xfrm>
          <a:custGeom>
            <a:avLst/>
            <a:gdLst/>
            <a:ahLst/>
            <a:cxnLst/>
            <a:rect l="l" t="t" r="r" b="b"/>
            <a:pathLst>
              <a:path w="3638550" h="3448050">
                <a:moveTo>
                  <a:pt x="76202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3371848"/>
                </a:lnTo>
                <a:cubicBezTo>
                  <a:pt x="3638550" y="3413933"/>
                  <a:pt x="3604433" y="3448050"/>
                  <a:pt x="3562348" y="3448050"/>
                </a:cubicBezTo>
                <a:lnTo>
                  <a:pt x="76202" y="3448050"/>
                </a:lnTo>
                <a:cubicBezTo>
                  <a:pt x="34117" y="3448050"/>
                  <a:pt x="0" y="3413933"/>
                  <a:pt x="0" y="33718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01050" y="23860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343900" y="238601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48750" y="2424113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SDG 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48750" y="2690813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Quality Education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6763" y="3109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8597603" y="3071813"/>
            <a:ext cx="303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Learning: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Facilitates remote education and virtual classrooms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3681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817" y="3643313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Collaboration: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Enables seamless international academic cooperation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6763" y="4252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8597801" y="4214813"/>
            <a:ext cx="303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Digital Inclusion: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Provides reliable connectivity for underserved regions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4175" y="5837238"/>
            <a:ext cx="11426825" cy="920750"/>
          </a:xfrm>
          <a:custGeom>
            <a:avLst/>
            <a:gdLst/>
            <a:ahLst/>
            <a:cxnLst/>
            <a:rect l="l" t="t" r="r" b="b"/>
            <a:pathLst>
              <a:path w="11426825" h="920750">
                <a:moveTo>
                  <a:pt x="76201" y="0"/>
                </a:moveTo>
                <a:lnTo>
                  <a:pt x="11350624" y="0"/>
                </a:lnTo>
                <a:cubicBezTo>
                  <a:pt x="11392709" y="0"/>
                  <a:pt x="11426825" y="34116"/>
                  <a:pt x="11426825" y="76201"/>
                </a:cubicBezTo>
                <a:lnTo>
                  <a:pt x="11426825" y="844549"/>
                </a:lnTo>
                <a:cubicBezTo>
                  <a:pt x="11426825" y="886634"/>
                  <a:pt x="11392709" y="920750"/>
                  <a:pt x="11350624" y="920750"/>
                </a:cubicBezTo>
                <a:lnTo>
                  <a:pt x="76201" y="920750"/>
                </a:lnTo>
                <a:cubicBezTo>
                  <a:pt x="34116" y="920750"/>
                  <a:pt x="0" y="886634"/>
                  <a:pt x="0" y="8445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5950" y="61547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1087438" y="6030913"/>
            <a:ext cx="1061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Spectrum Efficiency Impact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87438" y="6335713"/>
            <a:ext cx="1060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 enables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efficient spectrum usage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maximizing data throughput while minimizing interference—critical for sustainable wireless communication growth.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71103" y="53340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300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14450"/>
            <a:ext cx="5581650" cy="4419600"/>
          </a:xfrm>
          <a:custGeom>
            <a:avLst/>
            <a:gdLst/>
            <a:ahLst/>
            <a:cxnLst/>
            <a:rect l="l" t="t" r="r" b="b"/>
            <a:pathLst>
              <a:path w="5581650" h="4419600">
                <a:moveTo>
                  <a:pt x="0" y="0"/>
                </a:moveTo>
                <a:lnTo>
                  <a:pt x="5505456" y="0"/>
                </a:lnTo>
                <a:cubicBezTo>
                  <a:pt x="5547537" y="0"/>
                  <a:pt x="5581650" y="34113"/>
                  <a:pt x="5581650" y="76194"/>
                </a:cubicBezTo>
                <a:lnTo>
                  <a:pt x="5581650" y="4343406"/>
                </a:lnTo>
                <a:cubicBezTo>
                  <a:pt x="5581650" y="4385487"/>
                  <a:pt x="5547537" y="4419600"/>
                  <a:pt x="5505456" y="4419600"/>
                </a:cubicBezTo>
                <a:lnTo>
                  <a:pt x="0" y="44196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314450"/>
            <a:ext cx="38100" cy="4419600"/>
          </a:xfrm>
          <a:custGeom>
            <a:avLst/>
            <a:gdLst/>
            <a:ahLst/>
            <a:cxnLst/>
            <a:rect l="l" t="t" r="r" b="b"/>
            <a:pathLst>
              <a:path w="38100" h="4419600">
                <a:moveTo>
                  <a:pt x="0" y="0"/>
                </a:moveTo>
                <a:lnTo>
                  <a:pt x="38100" y="0"/>
                </a:lnTo>
                <a:lnTo>
                  <a:pt x="38100" y="4419600"/>
                </a:lnTo>
                <a:lnTo>
                  <a:pt x="0" y="441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847725" y="150495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Challenges in 5G Communication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775" y="1889125"/>
            <a:ext cx="5178425" cy="1263650"/>
          </a:xfrm>
          <a:custGeom>
            <a:avLst/>
            <a:gdLst/>
            <a:ahLst/>
            <a:cxnLst/>
            <a:rect l="l" t="t" r="r" b="b"/>
            <a:pathLst>
              <a:path w="5178425" h="1263650">
                <a:moveTo>
                  <a:pt x="76198" y="0"/>
                </a:moveTo>
                <a:lnTo>
                  <a:pt x="5102227" y="0"/>
                </a:lnTo>
                <a:cubicBezTo>
                  <a:pt x="5144310" y="0"/>
                  <a:pt x="5178425" y="34115"/>
                  <a:pt x="5178425" y="76198"/>
                </a:cubicBezTo>
                <a:lnTo>
                  <a:pt x="5178425" y="1187452"/>
                </a:lnTo>
                <a:cubicBezTo>
                  <a:pt x="5178425" y="1229535"/>
                  <a:pt x="5144310" y="1263650"/>
                  <a:pt x="5102227" y="1263650"/>
                </a:cubicBezTo>
                <a:lnTo>
                  <a:pt x="76198" y="1263650"/>
                </a:lnTo>
                <a:cubicBezTo>
                  <a:pt x="34115" y="1263650"/>
                  <a:pt x="0" y="1229535"/>
                  <a:pt x="0" y="11874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350" y="204470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0250" y="204470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7450" y="2044701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Error Rates in Fading Channels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7450" y="2311401"/>
            <a:ext cx="4524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Wireless fading channels cause significant signal degradation, leading to high Bit Error Rates (BER) that compromise data integrity.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775" y="3311527"/>
            <a:ext cx="5178425" cy="1035050"/>
          </a:xfrm>
          <a:custGeom>
            <a:avLst/>
            <a:gdLst/>
            <a:ahLst/>
            <a:cxnLst/>
            <a:rect l="l" t="t" r="r" b="b"/>
            <a:pathLst>
              <a:path w="5178425" h="1035050">
                <a:moveTo>
                  <a:pt x="76200" y="0"/>
                </a:moveTo>
                <a:lnTo>
                  <a:pt x="5102225" y="0"/>
                </a:lnTo>
                <a:cubicBezTo>
                  <a:pt x="5144309" y="0"/>
                  <a:pt x="5178425" y="34116"/>
                  <a:pt x="5178425" y="76200"/>
                </a:cubicBezTo>
                <a:lnTo>
                  <a:pt x="5178425" y="958850"/>
                </a:lnTo>
                <a:cubicBezTo>
                  <a:pt x="5178425" y="1000934"/>
                  <a:pt x="5144309" y="1035050"/>
                  <a:pt x="5102225" y="1035050"/>
                </a:cubicBezTo>
                <a:lnTo>
                  <a:pt x="76200" y="1035050"/>
                </a:lnTo>
                <a:cubicBezTo>
                  <a:pt x="34116" y="1035050"/>
                  <a:pt x="0" y="1000934"/>
                  <a:pt x="0" y="958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350" y="346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0250" y="3467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7450" y="3467100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Increased Delay from Retransmissions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7450" y="3733800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Multiple retransmissions introduce latency, violating 5G's ultra-low latency requirements for time-sensitive applications.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2775" y="4505326"/>
            <a:ext cx="5178425" cy="1035050"/>
          </a:xfrm>
          <a:custGeom>
            <a:avLst/>
            <a:gdLst/>
            <a:ahLst/>
            <a:cxnLst/>
            <a:rect l="l" t="t" r="r" b="b"/>
            <a:pathLst>
              <a:path w="5178425" h="1035050">
                <a:moveTo>
                  <a:pt x="76200" y="0"/>
                </a:moveTo>
                <a:lnTo>
                  <a:pt x="5102225" y="0"/>
                </a:lnTo>
                <a:cubicBezTo>
                  <a:pt x="5144309" y="0"/>
                  <a:pt x="5178425" y="34116"/>
                  <a:pt x="5178425" y="76200"/>
                </a:cubicBezTo>
                <a:lnTo>
                  <a:pt x="5178425" y="958850"/>
                </a:lnTo>
                <a:cubicBezTo>
                  <a:pt x="5178425" y="1000934"/>
                  <a:pt x="5144309" y="1035050"/>
                  <a:pt x="5102225" y="1035050"/>
                </a:cubicBezTo>
                <a:lnTo>
                  <a:pt x="76200" y="1035050"/>
                </a:lnTo>
                <a:cubicBezTo>
                  <a:pt x="34116" y="1035050"/>
                  <a:pt x="0" y="1000934"/>
                  <a:pt x="0" y="958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350" y="46609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0250" y="4660902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7450" y="4660902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Trade-off: Reliability vs Throughput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7450" y="4927602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Achieving high reliability often requires sacrificing throughput, creating a fundamental optimization challenge.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3475" y="1317625"/>
            <a:ext cx="5597525" cy="2778125"/>
          </a:xfrm>
          <a:custGeom>
            <a:avLst/>
            <a:gdLst/>
            <a:ahLst/>
            <a:cxnLst/>
            <a:rect l="l" t="t" r="r" b="b"/>
            <a:pathLst>
              <a:path w="5597525" h="2778125">
                <a:moveTo>
                  <a:pt x="76204" y="0"/>
                </a:moveTo>
                <a:lnTo>
                  <a:pt x="5521321" y="0"/>
                </a:lnTo>
                <a:cubicBezTo>
                  <a:pt x="5563407" y="0"/>
                  <a:pt x="5597525" y="34118"/>
                  <a:pt x="5597525" y="76204"/>
                </a:cubicBezTo>
                <a:lnTo>
                  <a:pt x="5597525" y="2701921"/>
                </a:lnTo>
                <a:cubicBezTo>
                  <a:pt x="5597525" y="2744007"/>
                  <a:pt x="5563407" y="2778125"/>
                  <a:pt x="5521321" y="2778125"/>
                </a:cubicBezTo>
                <a:lnTo>
                  <a:pt x="76204" y="2778125"/>
                </a:lnTo>
                <a:cubicBezTo>
                  <a:pt x="34118" y="2778125"/>
                  <a:pt x="0" y="2744007"/>
                  <a:pt x="0" y="2701921"/>
                </a:cubicBezTo>
                <a:lnTo>
                  <a:pt x="0" y="76204"/>
                </a:lnTo>
                <a:cubicBezTo>
                  <a:pt x="0" y="34118"/>
                  <a:pt x="34118" y="0"/>
                  <a:pt x="76204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0963" y="15494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45275" y="1511301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Limitations of Conventional ARQ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7150" y="1892301"/>
            <a:ext cx="5286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Traditional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Automatic Repeat Request (ARQ)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schemes are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inefficient in poor channel conditions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discarding valuable received information and retransmitting entire packets repeatedly.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0325" y="2790826"/>
            <a:ext cx="5197475" cy="1111250"/>
          </a:xfrm>
          <a:custGeom>
            <a:avLst/>
            <a:gdLst/>
            <a:ahLst/>
            <a:cxnLst/>
            <a:rect l="l" t="t" r="r" b="b"/>
            <a:pathLst>
              <a:path w="5197475" h="1111250">
                <a:moveTo>
                  <a:pt x="76198" y="0"/>
                </a:moveTo>
                <a:lnTo>
                  <a:pt x="5121277" y="0"/>
                </a:lnTo>
                <a:cubicBezTo>
                  <a:pt x="5163360" y="0"/>
                  <a:pt x="5197475" y="34115"/>
                  <a:pt x="5197475" y="76198"/>
                </a:cubicBezTo>
                <a:lnTo>
                  <a:pt x="5197475" y="1035052"/>
                </a:lnTo>
                <a:cubicBezTo>
                  <a:pt x="5197475" y="1077135"/>
                  <a:pt x="5163360" y="1111250"/>
                  <a:pt x="5121277" y="1111250"/>
                </a:cubicBezTo>
                <a:lnTo>
                  <a:pt x="76198" y="1111250"/>
                </a:lnTo>
                <a:cubicBezTo>
                  <a:pt x="34115" y="1111250"/>
                  <a:pt x="0" y="1077135"/>
                  <a:pt x="0" y="10350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900" y="298450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Conventional ARQ Efficiency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68720" y="2946402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65900" y="3365502"/>
            <a:ext cx="4886325" cy="114300"/>
          </a:xfrm>
          <a:custGeom>
            <a:avLst/>
            <a:gdLst/>
            <a:ahLst/>
            <a:cxnLst/>
            <a:rect l="l" t="t" r="r" b="b"/>
            <a:pathLst>
              <a:path w="4886325" h="114300">
                <a:moveTo>
                  <a:pt x="57150" y="0"/>
                </a:moveTo>
                <a:lnTo>
                  <a:pt x="4829175" y="0"/>
                </a:lnTo>
                <a:cubicBezTo>
                  <a:pt x="4860717" y="0"/>
                  <a:pt x="4886325" y="25608"/>
                  <a:pt x="4886325" y="57150"/>
                </a:cubicBezTo>
                <a:lnTo>
                  <a:pt x="4886325" y="57150"/>
                </a:lnTo>
                <a:cubicBezTo>
                  <a:pt x="4886325" y="88692"/>
                  <a:pt x="4860717" y="114300"/>
                  <a:pt x="48291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65900" y="3365502"/>
            <a:ext cx="1714500" cy="114300"/>
          </a:xfrm>
          <a:custGeom>
            <a:avLst/>
            <a:gdLst/>
            <a:ahLst/>
            <a:cxnLst/>
            <a:rect l="l" t="t" r="r" b="b"/>
            <a:pathLst>
              <a:path w="1714500" h="114300">
                <a:moveTo>
                  <a:pt x="57150" y="0"/>
                </a:moveTo>
                <a:lnTo>
                  <a:pt x="1657350" y="0"/>
                </a:lnTo>
                <a:cubicBezTo>
                  <a:pt x="1688892" y="0"/>
                  <a:pt x="1714500" y="25608"/>
                  <a:pt x="1714500" y="57150"/>
                </a:cubicBezTo>
                <a:lnTo>
                  <a:pt x="1714500" y="57150"/>
                </a:lnTo>
                <a:cubicBezTo>
                  <a:pt x="1714500" y="88692"/>
                  <a:pt x="1688892" y="114300"/>
                  <a:pt x="16573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565900" y="3556002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Poor performance in fading environments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4254501"/>
            <a:ext cx="5600700" cy="2552700"/>
          </a:xfrm>
          <a:custGeom>
            <a:avLst/>
            <a:gdLst/>
            <a:ahLst/>
            <a:cxnLst/>
            <a:rect l="l" t="t" r="r" b="b"/>
            <a:pathLst>
              <a:path w="5600700" h="2552700">
                <a:moveTo>
                  <a:pt x="76198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2476502"/>
                </a:lnTo>
                <a:cubicBezTo>
                  <a:pt x="5600700" y="2518585"/>
                  <a:pt x="5566585" y="2552700"/>
                  <a:pt x="5524502" y="2552700"/>
                </a:cubicBezTo>
                <a:lnTo>
                  <a:pt x="76198" y="2552700"/>
                </a:lnTo>
                <a:cubicBezTo>
                  <a:pt x="34115" y="2552700"/>
                  <a:pt x="0" y="2518585"/>
                  <a:pt x="0" y="24765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424613" y="44831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638925" y="4445001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4826001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There is a critical need for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optimized HARQ schemes specifically designed for 5G requirements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that can: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9850" y="55118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705600" y="5473701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Maximize throughput while maintaining reliability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850" y="58166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705600" y="5778501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Minimize retransmission delays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9850" y="61214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705600" y="6083301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Adapt to varying channel conditions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9850" y="64262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705600" y="6388101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Efficiently utilize spectrum resources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443" y="414510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72090" y="0"/>
                </a:moveTo>
                <a:lnTo>
                  <a:pt x="360442" y="0"/>
                </a:lnTo>
                <a:cubicBezTo>
                  <a:pt x="400256" y="0"/>
                  <a:pt x="432532" y="32276"/>
                  <a:pt x="432532" y="72090"/>
                </a:cubicBezTo>
                <a:lnTo>
                  <a:pt x="432532" y="360442"/>
                </a:lnTo>
                <a:cubicBezTo>
                  <a:pt x="432532" y="400256"/>
                  <a:pt x="400256" y="432532"/>
                  <a:pt x="360442" y="432532"/>
                </a:cubicBezTo>
                <a:lnTo>
                  <a:pt x="72090" y="432532"/>
                </a:lnTo>
                <a:cubicBezTo>
                  <a:pt x="32276" y="432532"/>
                  <a:pt x="0" y="400256"/>
                  <a:pt x="0" y="360442"/>
                </a:cubicBezTo>
                <a:lnTo>
                  <a:pt x="0" y="72090"/>
                </a:lnTo>
                <a:cubicBezTo>
                  <a:pt x="0" y="32303"/>
                  <a:pt x="32303" y="0"/>
                  <a:pt x="7209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31279" y="504621"/>
            <a:ext cx="180222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1109" y="540665"/>
            <a:ext cx="3000692" cy="360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443" y="1045286"/>
            <a:ext cx="11471113" cy="18022"/>
          </a:xfrm>
          <a:custGeom>
            <a:avLst/>
            <a:gdLst/>
            <a:ahLst/>
            <a:cxnLst/>
            <a:rect l="l" t="t" r="r" b="b"/>
            <a:pathLst>
              <a:path w="11471113" h="18022">
                <a:moveTo>
                  <a:pt x="0" y="0"/>
                </a:moveTo>
                <a:lnTo>
                  <a:pt x="11471113" y="0"/>
                </a:lnTo>
                <a:lnTo>
                  <a:pt x="11471113" y="18022"/>
                </a:lnTo>
                <a:lnTo>
                  <a:pt x="0" y="18022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3447" y="1246534"/>
            <a:ext cx="11468109" cy="1024260"/>
          </a:xfrm>
          <a:custGeom>
            <a:avLst/>
            <a:gdLst/>
            <a:ahLst/>
            <a:cxnLst/>
            <a:rect l="l" t="t" r="r" b="b"/>
            <a:pathLst>
              <a:path w="11468109" h="1024260">
                <a:moveTo>
                  <a:pt x="72087" y="0"/>
                </a:moveTo>
                <a:lnTo>
                  <a:pt x="11396022" y="0"/>
                </a:lnTo>
                <a:cubicBezTo>
                  <a:pt x="11435835" y="0"/>
                  <a:pt x="11468109" y="32275"/>
                  <a:pt x="11468109" y="72087"/>
                </a:cubicBezTo>
                <a:lnTo>
                  <a:pt x="11468109" y="952173"/>
                </a:lnTo>
                <a:cubicBezTo>
                  <a:pt x="11468109" y="991986"/>
                  <a:pt x="11435835" y="1024260"/>
                  <a:pt x="11396022" y="1024260"/>
                </a:cubicBezTo>
                <a:lnTo>
                  <a:pt x="72087" y="1024260"/>
                </a:lnTo>
                <a:cubicBezTo>
                  <a:pt x="32301" y="1024260"/>
                  <a:pt x="0" y="991959"/>
                  <a:pt x="0" y="952173"/>
                </a:cubicBezTo>
                <a:lnTo>
                  <a:pt x="0" y="72087"/>
                </a:lnTo>
                <a:cubicBezTo>
                  <a:pt x="0" y="32275"/>
                  <a:pt x="32275" y="0"/>
                  <a:pt x="72087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9200" y="1465804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157694" y="90111"/>
                </a:moveTo>
                <a:cubicBezTo>
                  <a:pt x="157694" y="52811"/>
                  <a:pt x="127411" y="22528"/>
                  <a:pt x="90111" y="22528"/>
                </a:cubicBezTo>
                <a:cubicBezTo>
                  <a:pt x="52811" y="22528"/>
                  <a:pt x="22528" y="52811"/>
                  <a:pt x="22528" y="90111"/>
                </a:cubicBezTo>
                <a:cubicBezTo>
                  <a:pt x="22528" y="127411"/>
                  <a:pt x="52811" y="157694"/>
                  <a:pt x="90111" y="157694"/>
                </a:cubicBezTo>
                <a:cubicBezTo>
                  <a:pt x="127411" y="157694"/>
                  <a:pt x="157694" y="127411"/>
                  <a:pt x="157694" y="90111"/>
                </a:cubicBezTo>
                <a:close/>
                <a:moveTo>
                  <a:pt x="0" y="90111"/>
                </a:moveTo>
                <a:cubicBezTo>
                  <a:pt x="0" y="40377"/>
                  <a:pt x="40377" y="0"/>
                  <a:pt x="90111" y="0"/>
                </a:cubicBezTo>
                <a:cubicBezTo>
                  <a:pt x="139844" y="0"/>
                  <a:pt x="180222" y="40377"/>
                  <a:pt x="180222" y="90111"/>
                </a:cubicBezTo>
                <a:cubicBezTo>
                  <a:pt x="180222" y="139844"/>
                  <a:pt x="139844" y="180222"/>
                  <a:pt x="90111" y="180222"/>
                </a:cubicBezTo>
                <a:cubicBezTo>
                  <a:pt x="40377" y="180222"/>
                  <a:pt x="0" y="139844"/>
                  <a:pt x="0" y="90111"/>
                </a:cubicBezTo>
                <a:close/>
                <a:moveTo>
                  <a:pt x="90111" y="118271"/>
                </a:moveTo>
                <a:cubicBezTo>
                  <a:pt x="105653" y="118271"/>
                  <a:pt x="118271" y="105653"/>
                  <a:pt x="118271" y="90111"/>
                </a:cubicBezTo>
                <a:cubicBezTo>
                  <a:pt x="118271" y="74569"/>
                  <a:pt x="105653" y="61951"/>
                  <a:pt x="90111" y="61951"/>
                </a:cubicBezTo>
                <a:cubicBezTo>
                  <a:pt x="74569" y="61951"/>
                  <a:pt x="61951" y="74569"/>
                  <a:pt x="61951" y="90111"/>
                </a:cubicBezTo>
                <a:cubicBezTo>
                  <a:pt x="61951" y="105653"/>
                  <a:pt x="74569" y="118271"/>
                  <a:pt x="90111" y="118271"/>
                </a:cubicBezTo>
                <a:close/>
                <a:moveTo>
                  <a:pt x="90111" y="39424"/>
                </a:moveTo>
                <a:cubicBezTo>
                  <a:pt x="118086" y="39424"/>
                  <a:pt x="140798" y="62136"/>
                  <a:pt x="140798" y="90111"/>
                </a:cubicBezTo>
                <a:cubicBezTo>
                  <a:pt x="140798" y="118086"/>
                  <a:pt x="118086" y="140798"/>
                  <a:pt x="90111" y="140798"/>
                </a:cubicBezTo>
                <a:cubicBezTo>
                  <a:pt x="62136" y="140798"/>
                  <a:pt x="39424" y="118086"/>
                  <a:pt x="39424" y="90111"/>
                </a:cubicBezTo>
                <a:cubicBezTo>
                  <a:pt x="39424" y="62136"/>
                  <a:pt x="62136" y="39424"/>
                  <a:pt x="90111" y="39424"/>
                </a:cubicBezTo>
                <a:close/>
                <a:moveTo>
                  <a:pt x="78847" y="90111"/>
                </a:moveTo>
                <a:cubicBezTo>
                  <a:pt x="78847" y="83894"/>
                  <a:pt x="83894" y="78847"/>
                  <a:pt x="90111" y="78847"/>
                </a:cubicBezTo>
                <a:cubicBezTo>
                  <a:pt x="96328" y="78847"/>
                  <a:pt x="101375" y="83894"/>
                  <a:pt x="101375" y="90111"/>
                </a:cubicBezTo>
                <a:cubicBezTo>
                  <a:pt x="101375" y="96328"/>
                  <a:pt x="96328" y="101375"/>
                  <a:pt x="90111" y="101375"/>
                </a:cubicBezTo>
                <a:cubicBezTo>
                  <a:pt x="83894" y="101375"/>
                  <a:pt x="78847" y="96328"/>
                  <a:pt x="78847" y="9011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771950" y="1429760"/>
            <a:ext cx="10966492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Primary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6673" y="1826248"/>
            <a:ext cx="11182758" cy="26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 </a:t>
            </a:r>
            <a:r>
              <a:rPr lang="en-US" sz="127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comprehensively analyze and compare the performance</a:t>
            </a:r>
            <a:r>
              <a:rPr lang="en-US" sz="127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of three major HARQ schemes in 5G New Radio (NR) under realistic fading channel conditions.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9455" y="2465285"/>
            <a:ext cx="5604896" cy="3072780"/>
          </a:xfrm>
          <a:custGeom>
            <a:avLst/>
            <a:gdLst/>
            <a:ahLst/>
            <a:cxnLst/>
            <a:rect l="l" t="t" r="r" b="b"/>
            <a:pathLst>
              <a:path w="5604896" h="3072780">
                <a:moveTo>
                  <a:pt x="72087" y="0"/>
                </a:moveTo>
                <a:lnTo>
                  <a:pt x="5532808" y="0"/>
                </a:lnTo>
                <a:cubicBezTo>
                  <a:pt x="5572621" y="0"/>
                  <a:pt x="5604896" y="32275"/>
                  <a:pt x="5604896" y="72087"/>
                </a:cubicBezTo>
                <a:lnTo>
                  <a:pt x="5604896" y="3000693"/>
                </a:lnTo>
                <a:cubicBezTo>
                  <a:pt x="5604896" y="3040506"/>
                  <a:pt x="5572621" y="3072780"/>
                  <a:pt x="5532808" y="3072780"/>
                </a:cubicBezTo>
                <a:lnTo>
                  <a:pt x="72087" y="3072780"/>
                </a:lnTo>
                <a:cubicBezTo>
                  <a:pt x="32275" y="3072780"/>
                  <a:pt x="0" y="3040506"/>
                  <a:pt x="0" y="3000693"/>
                </a:cubicBezTo>
                <a:lnTo>
                  <a:pt x="0" y="72087"/>
                </a:lnTo>
                <a:cubicBezTo>
                  <a:pt x="0" y="32301"/>
                  <a:pt x="32301" y="0"/>
                  <a:pt x="7208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8687" y="2690562"/>
            <a:ext cx="225277" cy="180222"/>
          </a:xfrm>
          <a:custGeom>
            <a:avLst/>
            <a:gdLst/>
            <a:ahLst/>
            <a:cxnLst/>
            <a:rect l="l" t="t" r="r" b="b"/>
            <a:pathLst>
              <a:path w="225277" h="180222">
                <a:moveTo>
                  <a:pt x="146395" y="74095"/>
                </a:moveTo>
                <a:cubicBezTo>
                  <a:pt x="150689" y="72933"/>
                  <a:pt x="155195" y="74975"/>
                  <a:pt x="157131" y="78953"/>
                </a:cubicBezTo>
                <a:lnTo>
                  <a:pt x="163678" y="92188"/>
                </a:lnTo>
                <a:cubicBezTo>
                  <a:pt x="167303" y="92680"/>
                  <a:pt x="170859" y="93666"/>
                  <a:pt x="174203" y="95039"/>
                </a:cubicBezTo>
                <a:lnTo>
                  <a:pt x="186522" y="86837"/>
                </a:lnTo>
                <a:cubicBezTo>
                  <a:pt x="190218" y="84373"/>
                  <a:pt x="195111" y="84866"/>
                  <a:pt x="198244" y="87999"/>
                </a:cubicBezTo>
                <a:lnTo>
                  <a:pt x="205002" y="94757"/>
                </a:lnTo>
                <a:cubicBezTo>
                  <a:pt x="208135" y="97890"/>
                  <a:pt x="208628" y="102818"/>
                  <a:pt x="206164" y="106479"/>
                </a:cubicBezTo>
                <a:lnTo>
                  <a:pt x="197962" y="118763"/>
                </a:lnTo>
                <a:cubicBezTo>
                  <a:pt x="198631" y="120418"/>
                  <a:pt x="199229" y="122142"/>
                  <a:pt x="199722" y="123938"/>
                </a:cubicBezTo>
                <a:cubicBezTo>
                  <a:pt x="200215" y="125733"/>
                  <a:pt x="200532" y="127493"/>
                  <a:pt x="200778" y="129288"/>
                </a:cubicBezTo>
                <a:lnTo>
                  <a:pt x="214049" y="135835"/>
                </a:lnTo>
                <a:cubicBezTo>
                  <a:pt x="218026" y="137806"/>
                  <a:pt x="220068" y="142312"/>
                  <a:pt x="218906" y="146571"/>
                </a:cubicBezTo>
                <a:lnTo>
                  <a:pt x="216442" y="155793"/>
                </a:lnTo>
                <a:cubicBezTo>
                  <a:pt x="215280" y="160052"/>
                  <a:pt x="211303" y="162939"/>
                  <a:pt x="206868" y="162657"/>
                </a:cubicBezTo>
                <a:lnTo>
                  <a:pt x="192084" y="161707"/>
                </a:lnTo>
                <a:cubicBezTo>
                  <a:pt x="189866" y="164558"/>
                  <a:pt x="187297" y="167198"/>
                  <a:pt x="184375" y="169451"/>
                </a:cubicBezTo>
                <a:lnTo>
                  <a:pt x="185326" y="184199"/>
                </a:lnTo>
                <a:cubicBezTo>
                  <a:pt x="185607" y="188634"/>
                  <a:pt x="182721" y="192647"/>
                  <a:pt x="178462" y="193774"/>
                </a:cubicBezTo>
                <a:lnTo>
                  <a:pt x="169239" y="196238"/>
                </a:lnTo>
                <a:cubicBezTo>
                  <a:pt x="164945" y="197399"/>
                  <a:pt x="160475" y="195358"/>
                  <a:pt x="158504" y="191380"/>
                </a:cubicBezTo>
                <a:lnTo>
                  <a:pt x="151956" y="178145"/>
                </a:lnTo>
                <a:cubicBezTo>
                  <a:pt x="148331" y="177652"/>
                  <a:pt x="144776" y="176667"/>
                  <a:pt x="141432" y="175294"/>
                </a:cubicBezTo>
                <a:lnTo>
                  <a:pt x="129112" y="183495"/>
                </a:lnTo>
                <a:cubicBezTo>
                  <a:pt x="125416" y="185959"/>
                  <a:pt x="120523" y="185466"/>
                  <a:pt x="117391" y="182334"/>
                </a:cubicBezTo>
                <a:lnTo>
                  <a:pt x="110632" y="175575"/>
                </a:lnTo>
                <a:cubicBezTo>
                  <a:pt x="107499" y="172443"/>
                  <a:pt x="107007" y="167550"/>
                  <a:pt x="109471" y="163854"/>
                </a:cubicBezTo>
                <a:lnTo>
                  <a:pt x="117672" y="151534"/>
                </a:lnTo>
                <a:cubicBezTo>
                  <a:pt x="117003" y="149880"/>
                  <a:pt x="116405" y="148155"/>
                  <a:pt x="115912" y="146360"/>
                </a:cubicBezTo>
                <a:cubicBezTo>
                  <a:pt x="115419" y="144565"/>
                  <a:pt x="115103" y="142769"/>
                  <a:pt x="114856" y="141009"/>
                </a:cubicBezTo>
                <a:lnTo>
                  <a:pt x="101586" y="134462"/>
                </a:lnTo>
                <a:cubicBezTo>
                  <a:pt x="97608" y="132491"/>
                  <a:pt x="95602" y="127986"/>
                  <a:pt x="96728" y="123726"/>
                </a:cubicBezTo>
                <a:lnTo>
                  <a:pt x="99192" y="114504"/>
                </a:lnTo>
                <a:cubicBezTo>
                  <a:pt x="100354" y="110245"/>
                  <a:pt x="104331" y="107359"/>
                  <a:pt x="108767" y="107640"/>
                </a:cubicBezTo>
                <a:lnTo>
                  <a:pt x="123515" y="108591"/>
                </a:lnTo>
                <a:cubicBezTo>
                  <a:pt x="125733" y="105739"/>
                  <a:pt x="128302" y="103100"/>
                  <a:pt x="131224" y="100847"/>
                </a:cubicBezTo>
                <a:lnTo>
                  <a:pt x="130274" y="86133"/>
                </a:lnTo>
                <a:cubicBezTo>
                  <a:pt x="129992" y="81698"/>
                  <a:pt x="132878" y="77685"/>
                  <a:pt x="137137" y="76559"/>
                </a:cubicBezTo>
                <a:lnTo>
                  <a:pt x="146360" y="74095"/>
                </a:lnTo>
                <a:close/>
                <a:moveTo>
                  <a:pt x="157835" y="119678"/>
                </a:moveTo>
                <a:cubicBezTo>
                  <a:pt x="149287" y="119688"/>
                  <a:pt x="142355" y="126636"/>
                  <a:pt x="142365" y="135184"/>
                </a:cubicBezTo>
                <a:cubicBezTo>
                  <a:pt x="142374" y="143732"/>
                  <a:pt x="149322" y="150664"/>
                  <a:pt x="157870" y="150654"/>
                </a:cubicBezTo>
                <a:cubicBezTo>
                  <a:pt x="166418" y="150644"/>
                  <a:pt x="173350" y="143697"/>
                  <a:pt x="173340" y="135149"/>
                </a:cubicBezTo>
                <a:cubicBezTo>
                  <a:pt x="173331" y="126601"/>
                  <a:pt x="166383" y="119669"/>
                  <a:pt x="157835" y="119678"/>
                </a:cubicBezTo>
                <a:close/>
                <a:moveTo>
                  <a:pt x="79164" y="-16016"/>
                </a:moveTo>
                <a:lnTo>
                  <a:pt x="88386" y="-13552"/>
                </a:lnTo>
                <a:cubicBezTo>
                  <a:pt x="92645" y="-12390"/>
                  <a:pt x="95532" y="-8377"/>
                  <a:pt x="95250" y="-3978"/>
                </a:cubicBezTo>
                <a:lnTo>
                  <a:pt x="94300" y="10736"/>
                </a:lnTo>
                <a:cubicBezTo>
                  <a:pt x="97221" y="12989"/>
                  <a:pt x="99791" y="15593"/>
                  <a:pt x="102008" y="18480"/>
                </a:cubicBezTo>
                <a:lnTo>
                  <a:pt x="116792" y="17529"/>
                </a:lnTo>
                <a:cubicBezTo>
                  <a:pt x="121192" y="17248"/>
                  <a:pt x="125205" y="20134"/>
                  <a:pt x="126366" y="24393"/>
                </a:cubicBezTo>
                <a:lnTo>
                  <a:pt x="128830" y="33616"/>
                </a:lnTo>
                <a:cubicBezTo>
                  <a:pt x="129957" y="37875"/>
                  <a:pt x="127950" y="42380"/>
                  <a:pt x="123973" y="44351"/>
                </a:cubicBezTo>
                <a:lnTo>
                  <a:pt x="110703" y="50899"/>
                </a:lnTo>
                <a:cubicBezTo>
                  <a:pt x="110456" y="52694"/>
                  <a:pt x="110104" y="54489"/>
                  <a:pt x="109647" y="56249"/>
                </a:cubicBezTo>
                <a:cubicBezTo>
                  <a:pt x="109189" y="58009"/>
                  <a:pt x="108555" y="59769"/>
                  <a:pt x="107887" y="61423"/>
                </a:cubicBezTo>
                <a:lnTo>
                  <a:pt x="116088" y="73743"/>
                </a:lnTo>
                <a:cubicBezTo>
                  <a:pt x="118552" y="77439"/>
                  <a:pt x="118059" y="82332"/>
                  <a:pt x="114927" y="85465"/>
                </a:cubicBezTo>
                <a:lnTo>
                  <a:pt x="108168" y="92223"/>
                </a:lnTo>
                <a:cubicBezTo>
                  <a:pt x="105035" y="95356"/>
                  <a:pt x="100143" y="95848"/>
                  <a:pt x="96447" y="93384"/>
                </a:cubicBezTo>
                <a:lnTo>
                  <a:pt x="84127" y="85183"/>
                </a:lnTo>
                <a:cubicBezTo>
                  <a:pt x="80783" y="86556"/>
                  <a:pt x="77228" y="87541"/>
                  <a:pt x="73602" y="88034"/>
                </a:cubicBezTo>
                <a:lnTo>
                  <a:pt x="67055" y="101269"/>
                </a:lnTo>
                <a:cubicBezTo>
                  <a:pt x="65084" y="105247"/>
                  <a:pt x="60578" y="107253"/>
                  <a:pt x="56319" y="106127"/>
                </a:cubicBezTo>
                <a:lnTo>
                  <a:pt x="47097" y="103663"/>
                </a:lnTo>
                <a:cubicBezTo>
                  <a:pt x="42803" y="102501"/>
                  <a:pt x="39951" y="98488"/>
                  <a:pt x="40233" y="94088"/>
                </a:cubicBezTo>
                <a:lnTo>
                  <a:pt x="41183" y="79340"/>
                </a:lnTo>
                <a:cubicBezTo>
                  <a:pt x="38262" y="77087"/>
                  <a:pt x="35692" y="74482"/>
                  <a:pt x="33475" y="71596"/>
                </a:cubicBezTo>
                <a:lnTo>
                  <a:pt x="18691" y="72546"/>
                </a:lnTo>
                <a:cubicBezTo>
                  <a:pt x="14291" y="72828"/>
                  <a:pt x="10278" y="69942"/>
                  <a:pt x="9117" y="65682"/>
                </a:cubicBezTo>
                <a:lnTo>
                  <a:pt x="6653" y="56460"/>
                </a:lnTo>
                <a:cubicBezTo>
                  <a:pt x="5526" y="52201"/>
                  <a:pt x="7533" y="47695"/>
                  <a:pt x="11510" y="45724"/>
                </a:cubicBezTo>
                <a:lnTo>
                  <a:pt x="24780" y="39177"/>
                </a:lnTo>
                <a:cubicBezTo>
                  <a:pt x="25027" y="37382"/>
                  <a:pt x="25379" y="35622"/>
                  <a:pt x="25836" y="33827"/>
                </a:cubicBezTo>
                <a:cubicBezTo>
                  <a:pt x="26329" y="32032"/>
                  <a:pt x="26892" y="30307"/>
                  <a:pt x="27596" y="28652"/>
                </a:cubicBezTo>
                <a:lnTo>
                  <a:pt x="19395" y="16368"/>
                </a:lnTo>
                <a:cubicBezTo>
                  <a:pt x="16931" y="12672"/>
                  <a:pt x="17424" y="7779"/>
                  <a:pt x="20557" y="4646"/>
                </a:cubicBezTo>
                <a:lnTo>
                  <a:pt x="27315" y="-2112"/>
                </a:lnTo>
                <a:cubicBezTo>
                  <a:pt x="30448" y="-5245"/>
                  <a:pt x="35340" y="-5738"/>
                  <a:pt x="39036" y="-3274"/>
                </a:cubicBezTo>
                <a:lnTo>
                  <a:pt x="51356" y="4928"/>
                </a:lnTo>
                <a:cubicBezTo>
                  <a:pt x="54700" y="3555"/>
                  <a:pt x="58255" y="2570"/>
                  <a:pt x="61881" y="2077"/>
                </a:cubicBezTo>
                <a:lnTo>
                  <a:pt x="68428" y="-11158"/>
                </a:lnTo>
                <a:cubicBezTo>
                  <a:pt x="70399" y="-15136"/>
                  <a:pt x="74869" y="-17142"/>
                  <a:pt x="79164" y="-16016"/>
                </a:cubicBezTo>
                <a:close/>
                <a:moveTo>
                  <a:pt x="67724" y="29568"/>
                </a:moveTo>
                <a:cubicBezTo>
                  <a:pt x="59176" y="29568"/>
                  <a:pt x="52236" y="36507"/>
                  <a:pt x="52236" y="45055"/>
                </a:cubicBezTo>
                <a:cubicBezTo>
                  <a:pt x="52236" y="53603"/>
                  <a:pt x="59176" y="60543"/>
                  <a:pt x="67724" y="60543"/>
                </a:cubicBezTo>
                <a:cubicBezTo>
                  <a:pt x="76272" y="60543"/>
                  <a:pt x="83212" y="53603"/>
                  <a:pt x="83212" y="45055"/>
                </a:cubicBezTo>
                <a:cubicBezTo>
                  <a:pt x="83212" y="36507"/>
                  <a:pt x="76272" y="29568"/>
                  <a:pt x="67724" y="2956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83965" y="2654517"/>
            <a:ext cx="5091264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Scheme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691" y="3054009"/>
            <a:ext cx="5223426" cy="618761"/>
          </a:xfrm>
          <a:custGeom>
            <a:avLst/>
            <a:gdLst/>
            <a:ahLst/>
            <a:cxnLst/>
            <a:rect l="l" t="t" r="r" b="b"/>
            <a:pathLst>
              <a:path w="5223426" h="618761">
                <a:moveTo>
                  <a:pt x="72086" y="0"/>
                </a:moveTo>
                <a:lnTo>
                  <a:pt x="5151341" y="0"/>
                </a:lnTo>
                <a:cubicBezTo>
                  <a:pt x="5191153" y="0"/>
                  <a:pt x="5223426" y="32274"/>
                  <a:pt x="5223426" y="72086"/>
                </a:cubicBezTo>
                <a:lnTo>
                  <a:pt x="5223426" y="546676"/>
                </a:lnTo>
                <a:cubicBezTo>
                  <a:pt x="5223426" y="586487"/>
                  <a:pt x="5191153" y="618761"/>
                  <a:pt x="5151341" y="618761"/>
                </a:cubicBezTo>
                <a:lnTo>
                  <a:pt x="72086" y="618761"/>
                </a:lnTo>
                <a:cubicBezTo>
                  <a:pt x="32274" y="618761"/>
                  <a:pt x="0" y="586487"/>
                  <a:pt x="0" y="546676"/>
                </a:cubicBezTo>
                <a:lnTo>
                  <a:pt x="0" y="72086"/>
                </a:lnTo>
                <a:cubicBezTo>
                  <a:pt x="0" y="32274"/>
                  <a:pt x="32274" y="0"/>
                  <a:pt x="72086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828" y="3183166"/>
            <a:ext cx="360443" cy="360443"/>
          </a:xfrm>
          <a:custGeom>
            <a:avLst/>
            <a:gdLst/>
            <a:ahLst/>
            <a:cxnLst/>
            <a:rect l="l" t="t" r="r" b="b"/>
            <a:pathLst>
              <a:path w="360443" h="360443">
                <a:moveTo>
                  <a:pt x="180222" y="0"/>
                </a:moveTo>
                <a:lnTo>
                  <a:pt x="180222" y="0"/>
                </a:lnTo>
                <a:cubicBezTo>
                  <a:pt x="279689" y="0"/>
                  <a:pt x="360443" y="80755"/>
                  <a:pt x="360443" y="180222"/>
                </a:cubicBezTo>
                <a:lnTo>
                  <a:pt x="360443" y="180222"/>
                </a:lnTo>
                <a:cubicBezTo>
                  <a:pt x="360443" y="279689"/>
                  <a:pt x="279689" y="360443"/>
                  <a:pt x="180222" y="360443"/>
                </a:cubicBezTo>
                <a:lnTo>
                  <a:pt x="180222" y="360443"/>
                </a:lnTo>
                <a:cubicBezTo>
                  <a:pt x="80755" y="360443"/>
                  <a:pt x="0" y="279689"/>
                  <a:pt x="0" y="180222"/>
                </a:cubicBezTo>
                <a:lnTo>
                  <a:pt x="0" y="180222"/>
                </a:lnTo>
                <a:cubicBezTo>
                  <a:pt x="0" y="80755"/>
                  <a:pt x="80755" y="0"/>
                  <a:pt x="18022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8457" y="3255255"/>
            <a:ext cx="11714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1404" y="3165144"/>
            <a:ext cx="224376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 HARQ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1404" y="3381410"/>
            <a:ext cx="2234749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Basic retransmission without combining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691" y="3786910"/>
            <a:ext cx="5223426" cy="618761"/>
          </a:xfrm>
          <a:custGeom>
            <a:avLst/>
            <a:gdLst/>
            <a:ahLst/>
            <a:cxnLst/>
            <a:rect l="l" t="t" r="r" b="b"/>
            <a:pathLst>
              <a:path w="5223426" h="618761">
                <a:moveTo>
                  <a:pt x="72086" y="0"/>
                </a:moveTo>
                <a:lnTo>
                  <a:pt x="5151341" y="0"/>
                </a:lnTo>
                <a:cubicBezTo>
                  <a:pt x="5191153" y="0"/>
                  <a:pt x="5223426" y="32274"/>
                  <a:pt x="5223426" y="72086"/>
                </a:cubicBezTo>
                <a:lnTo>
                  <a:pt x="5223426" y="546676"/>
                </a:lnTo>
                <a:cubicBezTo>
                  <a:pt x="5223426" y="586487"/>
                  <a:pt x="5191153" y="618761"/>
                  <a:pt x="5151341" y="618761"/>
                </a:cubicBezTo>
                <a:lnTo>
                  <a:pt x="72086" y="618761"/>
                </a:lnTo>
                <a:cubicBezTo>
                  <a:pt x="32274" y="618761"/>
                  <a:pt x="0" y="586487"/>
                  <a:pt x="0" y="546676"/>
                </a:cubicBezTo>
                <a:lnTo>
                  <a:pt x="0" y="72086"/>
                </a:lnTo>
                <a:cubicBezTo>
                  <a:pt x="0" y="32274"/>
                  <a:pt x="32274" y="0"/>
                  <a:pt x="72086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828" y="3916069"/>
            <a:ext cx="360443" cy="360443"/>
          </a:xfrm>
          <a:custGeom>
            <a:avLst/>
            <a:gdLst/>
            <a:ahLst/>
            <a:cxnLst/>
            <a:rect l="l" t="t" r="r" b="b"/>
            <a:pathLst>
              <a:path w="360443" h="360443">
                <a:moveTo>
                  <a:pt x="180222" y="0"/>
                </a:moveTo>
                <a:lnTo>
                  <a:pt x="180222" y="0"/>
                </a:lnTo>
                <a:cubicBezTo>
                  <a:pt x="279689" y="0"/>
                  <a:pt x="360443" y="80755"/>
                  <a:pt x="360443" y="180222"/>
                </a:cubicBezTo>
                <a:lnTo>
                  <a:pt x="360443" y="180222"/>
                </a:lnTo>
                <a:cubicBezTo>
                  <a:pt x="360443" y="279689"/>
                  <a:pt x="279689" y="360443"/>
                  <a:pt x="180222" y="360443"/>
                </a:cubicBezTo>
                <a:lnTo>
                  <a:pt x="180222" y="360443"/>
                </a:lnTo>
                <a:cubicBezTo>
                  <a:pt x="80755" y="360443"/>
                  <a:pt x="0" y="279689"/>
                  <a:pt x="0" y="180222"/>
                </a:cubicBezTo>
                <a:lnTo>
                  <a:pt x="0" y="180222"/>
                </a:lnTo>
                <a:cubicBezTo>
                  <a:pt x="0" y="80755"/>
                  <a:pt x="80755" y="0"/>
                  <a:pt x="18022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19258" y="3988158"/>
            <a:ext cx="135166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1404" y="3898047"/>
            <a:ext cx="1847273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Chase Combining (CC)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1404" y="4114313"/>
            <a:ext cx="1838262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Signal-level combining approach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1691" y="4519811"/>
            <a:ext cx="5223426" cy="618761"/>
          </a:xfrm>
          <a:custGeom>
            <a:avLst/>
            <a:gdLst/>
            <a:ahLst/>
            <a:cxnLst/>
            <a:rect l="l" t="t" r="r" b="b"/>
            <a:pathLst>
              <a:path w="5223426" h="618761">
                <a:moveTo>
                  <a:pt x="72086" y="0"/>
                </a:moveTo>
                <a:lnTo>
                  <a:pt x="5151341" y="0"/>
                </a:lnTo>
                <a:cubicBezTo>
                  <a:pt x="5191153" y="0"/>
                  <a:pt x="5223426" y="32274"/>
                  <a:pt x="5223426" y="72086"/>
                </a:cubicBezTo>
                <a:lnTo>
                  <a:pt x="5223426" y="546676"/>
                </a:lnTo>
                <a:cubicBezTo>
                  <a:pt x="5223426" y="586487"/>
                  <a:pt x="5191153" y="618761"/>
                  <a:pt x="5151341" y="618761"/>
                </a:cubicBezTo>
                <a:lnTo>
                  <a:pt x="72086" y="618761"/>
                </a:lnTo>
                <a:cubicBezTo>
                  <a:pt x="32274" y="618761"/>
                  <a:pt x="0" y="586487"/>
                  <a:pt x="0" y="546676"/>
                </a:cubicBezTo>
                <a:lnTo>
                  <a:pt x="0" y="72086"/>
                </a:lnTo>
                <a:cubicBezTo>
                  <a:pt x="0" y="32274"/>
                  <a:pt x="32274" y="0"/>
                  <a:pt x="72086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828" y="4648970"/>
            <a:ext cx="360443" cy="360443"/>
          </a:xfrm>
          <a:custGeom>
            <a:avLst/>
            <a:gdLst/>
            <a:ahLst/>
            <a:cxnLst/>
            <a:rect l="l" t="t" r="r" b="b"/>
            <a:pathLst>
              <a:path w="360443" h="360443">
                <a:moveTo>
                  <a:pt x="180222" y="0"/>
                </a:moveTo>
                <a:lnTo>
                  <a:pt x="180222" y="0"/>
                </a:lnTo>
                <a:cubicBezTo>
                  <a:pt x="279689" y="0"/>
                  <a:pt x="360443" y="80755"/>
                  <a:pt x="360443" y="180222"/>
                </a:cubicBezTo>
                <a:lnTo>
                  <a:pt x="360443" y="180222"/>
                </a:lnTo>
                <a:cubicBezTo>
                  <a:pt x="360443" y="279689"/>
                  <a:pt x="279689" y="360443"/>
                  <a:pt x="180222" y="360443"/>
                </a:cubicBezTo>
                <a:lnTo>
                  <a:pt x="180222" y="360443"/>
                </a:lnTo>
                <a:cubicBezTo>
                  <a:pt x="80755" y="360443"/>
                  <a:pt x="0" y="279689"/>
                  <a:pt x="0" y="180222"/>
                </a:cubicBezTo>
                <a:lnTo>
                  <a:pt x="0" y="180222"/>
                </a:lnTo>
                <a:cubicBezTo>
                  <a:pt x="0" y="80755"/>
                  <a:pt x="80755" y="0"/>
                  <a:pt x="18022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3857" y="4721059"/>
            <a:ext cx="12615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1404" y="4630948"/>
            <a:ext cx="191936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Incremental Redundancy (IR)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1404" y="4847214"/>
            <a:ext cx="191035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Code-level combining approach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2581" y="2465285"/>
            <a:ext cx="5604896" cy="3072780"/>
          </a:xfrm>
          <a:custGeom>
            <a:avLst/>
            <a:gdLst/>
            <a:ahLst/>
            <a:cxnLst/>
            <a:rect l="l" t="t" r="r" b="b"/>
            <a:pathLst>
              <a:path w="5604896" h="3072780">
                <a:moveTo>
                  <a:pt x="72087" y="0"/>
                </a:moveTo>
                <a:lnTo>
                  <a:pt x="5532808" y="0"/>
                </a:lnTo>
                <a:cubicBezTo>
                  <a:pt x="5572621" y="0"/>
                  <a:pt x="5604896" y="32275"/>
                  <a:pt x="5604896" y="72087"/>
                </a:cubicBezTo>
                <a:lnTo>
                  <a:pt x="5604896" y="3000693"/>
                </a:lnTo>
                <a:cubicBezTo>
                  <a:pt x="5604896" y="3040506"/>
                  <a:pt x="5572621" y="3072780"/>
                  <a:pt x="5532808" y="3072780"/>
                </a:cubicBezTo>
                <a:lnTo>
                  <a:pt x="72087" y="3072780"/>
                </a:lnTo>
                <a:cubicBezTo>
                  <a:pt x="32275" y="3072780"/>
                  <a:pt x="0" y="3040506"/>
                  <a:pt x="0" y="3000693"/>
                </a:cubicBezTo>
                <a:lnTo>
                  <a:pt x="0" y="72087"/>
                </a:lnTo>
                <a:cubicBezTo>
                  <a:pt x="0" y="32301"/>
                  <a:pt x="32301" y="0"/>
                  <a:pt x="7208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4341" y="2690562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11264" y="11264"/>
                </a:moveTo>
                <a:cubicBezTo>
                  <a:pt x="17494" y="11264"/>
                  <a:pt x="22528" y="16297"/>
                  <a:pt x="22528" y="22528"/>
                </a:cubicBezTo>
                <a:lnTo>
                  <a:pt x="22528" y="140798"/>
                </a:lnTo>
                <a:cubicBezTo>
                  <a:pt x="22528" y="143896"/>
                  <a:pt x="25062" y="146430"/>
                  <a:pt x="28160" y="146430"/>
                </a:cubicBezTo>
                <a:lnTo>
                  <a:pt x="168958" y="146430"/>
                </a:lnTo>
                <a:cubicBezTo>
                  <a:pt x="175188" y="146430"/>
                  <a:pt x="180222" y="151464"/>
                  <a:pt x="180222" y="157694"/>
                </a:cubicBezTo>
                <a:cubicBezTo>
                  <a:pt x="180222" y="163924"/>
                  <a:pt x="175188" y="168958"/>
                  <a:pt x="168958" y="168958"/>
                </a:cubicBezTo>
                <a:lnTo>
                  <a:pt x="28160" y="168958"/>
                </a:lnTo>
                <a:cubicBezTo>
                  <a:pt x="12601" y="168958"/>
                  <a:pt x="0" y="156356"/>
                  <a:pt x="0" y="140798"/>
                </a:cubicBezTo>
                <a:lnTo>
                  <a:pt x="0" y="22528"/>
                </a:lnTo>
                <a:cubicBezTo>
                  <a:pt x="0" y="16297"/>
                  <a:pt x="5034" y="11264"/>
                  <a:pt x="11264" y="11264"/>
                </a:cubicBezTo>
                <a:close/>
                <a:moveTo>
                  <a:pt x="45055" y="33792"/>
                </a:moveTo>
                <a:cubicBezTo>
                  <a:pt x="45055" y="27561"/>
                  <a:pt x="50089" y="22528"/>
                  <a:pt x="56319" y="22528"/>
                </a:cubicBezTo>
                <a:lnTo>
                  <a:pt x="123902" y="22528"/>
                </a:lnTo>
                <a:cubicBezTo>
                  <a:pt x="130133" y="22528"/>
                  <a:pt x="135166" y="27561"/>
                  <a:pt x="135166" y="33792"/>
                </a:cubicBezTo>
                <a:cubicBezTo>
                  <a:pt x="135166" y="40022"/>
                  <a:pt x="130133" y="45055"/>
                  <a:pt x="123902" y="45055"/>
                </a:cubicBezTo>
                <a:lnTo>
                  <a:pt x="56319" y="45055"/>
                </a:lnTo>
                <a:cubicBezTo>
                  <a:pt x="50089" y="45055"/>
                  <a:pt x="45055" y="40022"/>
                  <a:pt x="45055" y="33792"/>
                </a:cubicBezTo>
                <a:close/>
                <a:moveTo>
                  <a:pt x="56319" y="61951"/>
                </a:moveTo>
                <a:lnTo>
                  <a:pt x="101375" y="61951"/>
                </a:lnTo>
                <a:cubicBezTo>
                  <a:pt x="107605" y="61951"/>
                  <a:pt x="112639" y="66985"/>
                  <a:pt x="112639" y="73215"/>
                </a:cubicBezTo>
                <a:cubicBezTo>
                  <a:pt x="112639" y="79445"/>
                  <a:pt x="107605" y="84479"/>
                  <a:pt x="101375" y="84479"/>
                </a:cubicBezTo>
                <a:lnTo>
                  <a:pt x="56319" y="84479"/>
                </a:lnTo>
                <a:cubicBezTo>
                  <a:pt x="50089" y="84479"/>
                  <a:pt x="45055" y="79445"/>
                  <a:pt x="45055" y="73215"/>
                </a:cubicBezTo>
                <a:cubicBezTo>
                  <a:pt x="45055" y="66985"/>
                  <a:pt x="50089" y="61951"/>
                  <a:pt x="56319" y="61951"/>
                </a:cubicBezTo>
                <a:close/>
                <a:moveTo>
                  <a:pt x="56319" y="101375"/>
                </a:moveTo>
                <a:lnTo>
                  <a:pt x="146430" y="101375"/>
                </a:lnTo>
                <a:cubicBezTo>
                  <a:pt x="152660" y="101375"/>
                  <a:pt x="157694" y="106408"/>
                  <a:pt x="157694" y="112639"/>
                </a:cubicBezTo>
                <a:cubicBezTo>
                  <a:pt x="157694" y="118869"/>
                  <a:pt x="152660" y="123902"/>
                  <a:pt x="146430" y="123902"/>
                </a:cubicBezTo>
                <a:lnTo>
                  <a:pt x="56319" y="123902"/>
                </a:lnTo>
                <a:cubicBezTo>
                  <a:pt x="50089" y="123902"/>
                  <a:pt x="45055" y="118869"/>
                  <a:pt x="45055" y="112639"/>
                </a:cubicBezTo>
                <a:cubicBezTo>
                  <a:pt x="45055" y="106408"/>
                  <a:pt x="50089" y="101375"/>
                  <a:pt x="56319" y="1013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7091" y="2654517"/>
            <a:ext cx="5091264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4817" y="3054009"/>
            <a:ext cx="5223426" cy="1087338"/>
          </a:xfrm>
          <a:custGeom>
            <a:avLst/>
            <a:gdLst/>
            <a:ahLst/>
            <a:cxnLst/>
            <a:rect l="l" t="t" r="r" b="b"/>
            <a:pathLst>
              <a:path w="5223426" h="1087338">
                <a:moveTo>
                  <a:pt x="72090" y="0"/>
                </a:moveTo>
                <a:lnTo>
                  <a:pt x="5151336" y="0"/>
                </a:lnTo>
                <a:cubicBezTo>
                  <a:pt x="5191150" y="0"/>
                  <a:pt x="5223426" y="32276"/>
                  <a:pt x="5223426" y="72090"/>
                </a:cubicBezTo>
                <a:lnTo>
                  <a:pt x="5223426" y="1015247"/>
                </a:lnTo>
                <a:cubicBezTo>
                  <a:pt x="5223426" y="1055062"/>
                  <a:pt x="5191150" y="1087338"/>
                  <a:pt x="5151336" y="1087338"/>
                </a:cubicBezTo>
                <a:lnTo>
                  <a:pt x="72090" y="1087338"/>
                </a:lnTo>
                <a:cubicBezTo>
                  <a:pt x="32276" y="1087338"/>
                  <a:pt x="0" y="1055062"/>
                  <a:pt x="0" y="1015247"/>
                </a:cubicBezTo>
                <a:lnTo>
                  <a:pt x="0" y="72090"/>
                </a:lnTo>
                <a:cubicBezTo>
                  <a:pt x="0" y="32303"/>
                  <a:pt x="32303" y="0"/>
                  <a:pt x="7209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74526" y="3237233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22528" y="33792"/>
                </a:moveTo>
                <a:cubicBezTo>
                  <a:pt x="22528" y="27561"/>
                  <a:pt x="27561" y="22528"/>
                  <a:pt x="33792" y="22528"/>
                </a:cubicBezTo>
                <a:lnTo>
                  <a:pt x="90111" y="22528"/>
                </a:lnTo>
                <a:cubicBezTo>
                  <a:pt x="96341" y="22528"/>
                  <a:pt x="101375" y="27561"/>
                  <a:pt x="101375" y="33792"/>
                </a:cubicBezTo>
                <a:lnTo>
                  <a:pt x="101375" y="135166"/>
                </a:lnTo>
                <a:lnTo>
                  <a:pt x="135166" y="135166"/>
                </a:lnTo>
                <a:lnTo>
                  <a:pt x="135166" y="90111"/>
                </a:lnTo>
                <a:cubicBezTo>
                  <a:pt x="135166" y="83881"/>
                  <a:pt x="140200" y="78847"/>
                  <a:pt x="146430" y="78847"/>
                </a:cubicBezTo>
                <a:lnTo>
                  <a:pt x="168958" y="78847"/>
                </a:lnTo>
                <a:cubicBezTo>
                  <a:pt x="175188" y="78847"/>
                  <a:pt x="180222" y="83881"/>
                  <a:pt x="180222" y="90111"/>
                </a:cubicBezTo>
                <a:cubicBezTo>
                  <a:pt x="180222" y="96341"/>
                  <a:pt x="175188" y="101375"/>
                  <a:pt x="168958" y="101375"/>
                </a:cubicBezTo>
                <a:lnTo>
                  <a:pt x="157694" y="101375"/>
                </a:lnTo>
                <a:lnTo>
                  <a:pt x="157694" y="146430"/>
                </a:lnTo>
                <a:cubicBezTo>
                  <a:pt x="157694" y="152660"/>
                  <a:pt x="152660" y="157694"/>
                  <a:pt x="146430" y="157694"/>
                </a:cubicBezTo>
                <a:lnTo>
                  <a:pt x="90111" y="157694"/>
                </a:lnTo>
                <a:cubicBezTo>
                  <a:pt x="83881" y="157694"/>
                  <a:pt x="78847" y="152660"/>
                  <a:pt x="78847" y="146430"/>
                </a:cubicBezTo>
                <a:lnTo>
                  <a:pt x="78847" y="45055"/>
                </a:lnTo>
                <a:lnTo>
                  <a:pt x="45055" y="45055"/>
                </a:lnTo>
                <a:lnTo>
                  <a:pt x="45055" y="90111"/>
                </a:lnTo>
                <a:cubicBezTo>
                  <a:pt x="45055" y="96341"/>
                  <a:pt x="40022" y="101375"/>
                  <a:pt x="33792" y="101375"/>
                </a:cubicBezTo>
                <a:lnTo>
                  <a:pt x="11264" y="101375"/>
                </a:lnTo>
                <a:cubicBezTo>
                  <a:pt x="5034" y="101375"/>
                  <a:pt x="0" y="96341"/>
                  <a:pt x="0" y="90111"/>
                </a:cubicBezTo>
                <a:cubicBezTo>
                  <a:pt x="0" y="83881"/>
                  <a:pt x="5034" y="78847"/>
                  <a:pt x="11264" y="78847"/>
                </a:cubicBezTo>
                <a:lnTo>
                  <a:pt x="22528" y="78847"/>
                </a:lnTo>
                <a:lnTo>
                  <a:pt x="22528" y="3379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885409" y="3201188"/>
            <a:ext cx="1504851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Bit Error Rate (BER)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1999" y="3525588"/>
            <a:ext cx="5001153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Measure of data integrity and reliability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5790" y="3831965"/>
            <a:ext cx="94616" cy="126155"/>
          </a:xfrm>
          <a:custGeom>
            <a:avLst/>
            <a:gdLst/>
            <a:ahLst/>
            <a:cxnLst/>
            <a:rect l="l" t="t" r="r" b="b"/>
            <a:pathLst>
              <a:path w="94616" h="126155">
                <a:moveTo>
                  <a:pt x="41740" y="123839"/>
                </a:moveTo>
                <a:cubicBezTo>
                  <a:pt x="44820" y="126919"/>
                  <a:pt x="49821" y="126919"/>
                  <a:pt x="52901" y="123839"/>
                </a:cubicBezTo>
                <a:lnTo>
                  <a:pt x="92325" y="84416"/>
                </a:lnTo>
                <a:cubicBezTo>
                  <a:pt x="95405" y="81336"/>
                  <a:pt x="95405" y="76334"/>
                  <a:pt x="92325" y="73254"/>
                </a:cubicBezTo>
                <a:cubicBezTo>
                  <a:pt x="89245" y="70174"/>
                  <a:pt x="84243" y="70174"/>
                  <a:pt x="81163" y="73254"/>
                </a:cubicBezTo>
                <a:lnTo>
                  <a:pt x="55193" y="99224"/>
                </a:lnTo>
                <a:lnTo>
                  <a:pt x="55193" y="7885"/>
                </a:lnTo>
                <a:cubicBezTo>
                  <a:pt x="55193" y="3523"/>
                  <a:pt x="51669" y="0"/>
                  <a:pt x="47308" y="0"/>
                </a:cubicBezTo>
                <a:cubicBezTo>
                  <a:pt x="42947" y="0"/>
                  <a:pt x="39424" y="3523"/>
                  <a:pt x="39424" y="7885"/>
                </a:cubicBezTo>
                <a:lnTo>
                  <a:pt x="39424" y="99224"/>
                </a:lnTo>
                <a:lnTo>
                  <a:pt x="13453" y="73254"/>
                </a:lnTo>
                <a:cubicBezTo>
                  <a:pt x="10373" y="70174"/>
                  <a:pt x="5371" y="70174"/>
                  <a:pt x="2291" y="73254"/>
                </a:cubicBezTo>
                <a:cubicBezTo>
                  <a:pt x="-788" y="76334"/>
                  <a:pt x="-788" y="81336"/>
                  <a:pt x="2291" y="84416"/>
                </a:cubicBezTo>
                <a:lnTo>
                  <a:pt x="41715" y="12383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714198" y="3813942"/>
            <a:ext cx="4829942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Lower is better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4817" y="4255486"/>
            <a:ext cx="5223426" cy="1087338"/>
          </a:xfrm>
          <a:custGeom>
            <a:avLst/>
            <a:gdLst/>
            <a:ahLst/>
            <a:cxnLst/>
            <a:rect l="l" t="t" r="r" b="b"/>
            <a:pathLst>
              <a:path w="5223426" h="1087338">
                <a:moveTo>
                  <a:pt x="72090" y="0"/>
                </a:moveTo>
                <a:lnTo>
                  <a:pt x="5151336" y="0"/>
                </a:lnTo>
                <a:cubicBezTo>
                  <a:pt x="5191150" y="0"/>
                  <a:pt x="5223426" y="32276"/>
                  <a:pt x="5223426" y="72090"/>
                </a:cubicBezTo>
                <a:lnTo>
                  <a:pt x="5223426" y="1015247"/>
                </a:lnTo>
                <a:cubicBezTo>
                  <a:pt x="5223426" y="1055062"/>
                  <a:pt x="5191150" y="1087338"/>
                  <a:pt x="5151336" y="1087338"/>
                </a:cubicBezTo>
                <a:lnTo>
                  <a:pt x="72090" y="1087338"/>
                </a:lnTo>
                <a:cubicBezTo>
                  <a:pt x="32276" y="1087338"/>
                  <a:pt x="0" y="1055062"/>
                  <a:pt x="0" y="1015247"/>
                </a:cubicBezTo>
                <a:lnTo>
                  <a:pt x="0" y="72090"/>
                </a:lnTo>
                <a:cubicBezTo>
                  <a:pt x="0" y="32303"/>
                  <a:pt x="32303" y="0"/>
                  <a:pt x="7209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4526" y="4438712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0" y="90111"/>
                </a:moveTo>
                <a:cubicBezTo>
                  <a:pt x="0" y="40377"/>
                  <a:pt x="40377" y="0"/>
                  <a:pt x="90111" y="0"/>
                </a:cubicBezTo>
                <a:cubicBezTo>
                  <a:pt x="139844" y="0"/>
                  <a:pt x="180222" y="40377"/>
                  <a:pt x="180222" y="90111"/>
                </a:cubicBezTo>
                <a:cubicBezTo>
                  <a:pt x="180222" y="139844"/>
                  <a:pt x="139844" y="180222"/>
                  <a:pt x="90111" y="180222"/>
                </a:cubicBezTo>
                <a:cubicBezTo>
                  <a:pt x="40377" y="180222"/>
                  <a:pt x="0" y="139844"/>
                  <a:pt x="0" y="90111"/>
                </a:cubicBezTo>
                <a:close/>
                <a:moveTo>
                  <a:pt x="101375" y="33792"/>
                </a:moveTo>
                <a:cubicBezTo>
                  <a:pt x="101375" y="27575"/>
                  <a:pt x="96328" y="22528"/>
                  <a:pt x="90111" y="22528"/>
                </a:cubicBezTo>
                <a:cubicBezTo>
                  <a:pt x="83894" y="22528"/>
                  <a:pt x="78847" y="27575"/>
                  <a:pt x="78847" y="33792"/>
                </a:cubicBezTo>
                <a:cubicBezTo>
                  <a:pt x="78847" y="40008"/>
                  <a:pt x="83894" y="45055"/>
                  <a:pt x="90111" y="45055"/>
                </a:cubicBezTo>
                <a:cubicBezTo>
                  <a:pt x="96328" y="45055"/>
                  <a:pt x="101375" y="40008"/>
                  <a:pt x="101375" y="33792"/>
                </a:cubicBezTo>
                <a:close/>
                <a:moveTo>
                  <a:pt x="90111" y="146430"/>
                </a:moveTo>
                <a:cubicBezTo>
                  <a:pt x="102536" y="146430"/>
                  <a:pt x="112639" y="136328"/>
                  <a:pt x="112639" y="123902"/>
                </a:cubicBezTo>
                <a:cubicBezTo>
                  <a:pt x="112639" y="118200"/>
                  <a:pt x="110527" y="112955"/>
                  <a:pt x="107007" y="109013"/>
                </a:cubicBezTo>
                <a:lnTo>
                  <a:pt x="131470" y="60121"/>
                </a:lnTo>
                <a:cubicBezTo>
                  <a:pt x="133547" y="55932"/>
                  <a:pt x="131858" y="50863"/>
                  <a:pt x="127704" y="48787"/>
                </a:cubicBezTo>
                <a:cubicBezTo>
                  <a:pt x="123550" y="46710"/>
                  <a:pt x="118447" y="48399"/>
                  <a:pt x="116370" y="52553"/>
                </a:cubicBezTo>
                <a:lnTo>
                  <a:pt x="91906" y="101445"/>
                </a:lnTo>
                <a:cubicBezTo>
                  <a:pt x="91308" y="101410"/>
                  <a:pt x="90709" y="101375"/>
                  <a:pt x="90111" y="101375"/>
                </a:cubicBezTo>
                <a:cubicBezTo>
                  <a:pt x="77685" y="101375"/>
                  <a:pt x="67583" y="111477"/>
                  <a:pt x="67583" y="123902"/>
                </a:cubicBezTo>
                <a:cubicBezTo>
                  <a:pt x="67583" y="136328"/>
                  <a:pt x="77685" y="146430"/>
                  <a:pt x="90111" y="146430"/>
                </a:cubicBezTo>
                <a:close/>
                <a:moveTo>
                  <a:pt x="61951" y="50687"/>
                </a:moveTo>
                <a:cubicBezTo>
                  <a:pt x="61951" y="44471"/>
                  <a:pt x="56904" y="39424"/>
                  <a:pt x="50687" y="39424"/>
                </a:cubicBezTo>
                <a:cubicBezTo>
                  <a:pt x="44471" y="39424"/>
                  <a:pt x="39424" y="44471"/>
                  <a:pt x="39424" y="50687"/>
                </a:cubicBezTo>
                <a:cubicBezTo>
                  <a:pt x="39424" y="56904"/>
                  <a:pt x="44471" y="61951"/>
                  <a:pt x="50687" y="61951"/>
                </a:cubicBezTo>
                <a:cubicBezTo>
                  <a:pt x="56904" y="61951"/>
                  <a:pt x="61951" y="56904"/>
                  <a:pt x="61951" y="50687"/>
                </a:cubicBezTo>
                <a:close/>
                <a:moveTo>
                  <a:pt x="33792" y="101375"/>
                </a:moveTo>
                <a:cubicBezTo>
                  <a:pt x="40008" y="101375"/>
                  <a:pt x="45055" y="96328"/>
                  <a:pt x="45055" y="90111"/>
                </a:cubicBezTo>
                <a:cubicBezTo>
                  <a:pt x="45055" y="83894"/>
                  <a:pt x="40008" y="78847"/>
                  <a:pt x="33792" y="78847"/>
                </a:cubicBezTo>
                <a:cubicBezTo>
                  <a:pt x="27575" y="78847"/>
                  <a:pt x="22528" y="83894"/>
                  <a:pt x="22528" y="90111"/>
                </a:cubicBezTo>
                <a:cubicBezTo>
                  <a:pt x="22528" y="96328"/>
                  <a:pt x="27575" y="101375"/>
                  <a:pt x="33792" y="101375"/>
                </a:cubicBezTo>
                <a:close/>
                <a:moveTo>
                  <a:pt x="157694" y="90111"/>
                </a:moveTo>
                <a:cubicBezTo>
                  <a:pt x="157694" y="83894"/>
                  <a:pt x="152647" y="78847"/>
                  <a:pt x="146430" y="78847"/>
                </a:cubicBezTo>
                <a:cubicBezTo>
                  <a:pt x="140213" y="78847"/>
                  <a:pt x="135166" y="83894"/>
                  <a:pt x="135166" y="90111"/>
                </a:cubicBezTo>
                <a:cubicBezTo>
                  <a:pt x="135166" y="96328"/>
                  <a:pt x="140213" y="101375"/>
                  <a:pt x="146430" y="101375"/>
                </a:cubicBezTo>
                <a:cubicBezTo>
                  <a:pt x="152647" y="101375"/>
                  <a:pt x="157694" y="96328"/>
                  <a:pt x="157694" y="9011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885409" y="4402668"/>
            <a:ext cx="946164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51999" y="4727067"/>
            <a:ext cx="5001153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rate efficiency and spectrum utilization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85790" y="5033444"/>
            <a:ext cx="94616" cy="126155"/>
          </a:xfrm>
          <a:custGeom>
            <a:avLst/>
            <a:gdLst/>
            <a:ahLst/>
            <a:cxnLst/>
            <a:rect l="l" t="t" r="r" b="b"/>
            <a:pathLst>
              <a:path w="94616" h="126155">
                <a:moveTo>
                  <a:pt x="52877" y="4287"/>
                </a:moveTo>
                <a:cubicBezTo>
                  <a:pt x="49797" y="1207"/>
                  <a:pt x="44795" y="1207"/>
                  <a:pt x="41715" y="4287"/>
                </a:cubicBezTo>
                <a:lnTo>
                  <a:pt x="2291" y="43711"/>
                </a:lnTo>
                <a:cubicBezTo>
                  <a:pt x="-788" y="46791"/>
                  <a:pt x="-788" y="51793"/>
                  <a:pt x="2291" y="54873"/>
                </a:cubicBezTo>
                <a:cubicBezTo>
                  <a:pt x="5371" y="57953"/>
                  <a:pt x="10373" y="57953"/>
                  <a:pt x="13453" y="54873"/>
                </a:cubicBezTo>
                <a:lnTo>
                  <a:pt x="39424" y="28902"/>
                </a:lnTo>
                <a:lnTo>
                  <a:pt x="39424" y="120242"/>
                </a:lnTo>
                <a:cubicBezTo>
                  <a:pt x="39424" y="124603"/>
                  <a:pt x="42947" y="128126"/>
                  <a:pt x="47308" y="128126"/>
                </a:cubicBezTo>
                <a:cubicBezTo>
                  <a:pt x="51669" y="128126"/>
                  <a:pt x="55193" y="124603"/>
                  <a:pt x="55193" y="120242"/>
                </a:cubicBezTo>
                <a:lnTo>
                  <a:pt x="55193" y="28902"/>
                </a:lnTo>
                <a:lnTo>
                  <a:pt x="81163" y="54873"/>
                </a:lnTo>
                <a:cubicBezTo>
                  <a:pt x="84243" y="57953"/>
                  <a:pt x="89245" y="57953"/>
                  <a:pt x="92325" y="54873"/>
                </a:cubicBezTo>
                <a:cubicBezTo>
                  <a:pt x="95405" y="51793"/>
                  <a:pt x="95405" y="46791"/>
                  <a:pt x="92325" y="43711"/>
                </a:cubicBezTo>
                <a:lnTo>
                  <a:pt x="52901" y="428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714198" y="5015422"/>
            <a:ext cx="4829942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is better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0443" y="5724293"/>
            <a:ext cx="11471113" cy="865064"/>
          </a:xfrm>
          <a:custGeom>
            <a:avLst/>
            <a:gdLst/>
            <a:ahLst/>
            <a:cxnLst/>
            <a:rect l="l" t="t" r="r" b="b"/>
            <a:pathLst>
              <a:path w="11471113" h="865064">
                <a:moveTo>
                  <a:pt x="72086" y="0"/>
                </a:moveTo>
                <a:lnTo>
                  <a:pt x="11399027" y="0"/>
                </a:lnTo>
                <a:cubicBezTo>
                  <a:pt x="11438839" y="0"/>
                  <a:pt x="11471113" y="32274"/>
                  <a:pt x="11471113" y="72086"/>
                </a:cubicBezTo>
                <a:lnTo>
                  <a:pt x="11471113" y="792978"/>
                </a:lnTo>
                <a:cubicBezTo>
                  <a:pt x="11471113" y="832790"/>
                  <a:pt x="11438839" y="865064"/>
                  <a:pt x="11399027" y="865064"/>
                </a:cubicBezTo>
                <a:lnTo>
                  <a:pt x="72086" y="865064"/>
                </a:lnTo>
                <a:cubicBezTo>
                  <a:pt x="32301" y="865064"/>
                  <a:pt x="0" y="832764"/>
                  <a:pt x="0" y="792978"/>
                </a:cubicBezTo>
                <a:lnTo>
                  <a:pt x="0" y="72086"/>
                </a:lnTo>
                <a:cubicBezTo>
                  <a:pt x="0" y="32301"/>
                  <a:pt x="32301" y="0"/>
                  <a:pt x="7208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593605" y="6021659"/>
            <a:ext cx="236541" cy="270333"/>
          </a:xfrm>
          <a:custGeom>
            <a:avLst/>
            <a:gdLst/>
            <a:ahLst/>
            <a:cxnLst/>
            <a:rect l="l" t="t" r="r" b="b"/>
            <a:pathLst>
              <a:path w="236541" h="270333">
                <a:moveTo>
                  <a:pt x="152062" y="0"/>
                </a:moveTo>
                <a:lnTo>
                  <a:pt x="67583" y="0"/>
                </a:lnTo>
                <a:cubicBezTo>
                  <a:pt x="58238" y="0"/>
                  <a:pt x="50687" y="7550"/>
                  <a:pt x="50687" y="16896"/>
                </a:cubicBezTo>
                <a:cubicBezTo>
                  <a:pt x="50687" y="26241"/>
                  <a:pt x="58238" y="33792"/>
                  <a:pt x="67583" y="33792"/>
                </a:cubicBezTo>
                <a:lnTo>
                  <a:pt x="67583" y="113783"/>
                </a:lnTo>
                <a:lnTo>
                  <a:pt x="3960" y="225084"/>
                </a:lnTo>
                <a:cubicBezTo>
                  <a:pt x="1373" y="229677"/>
                  <a:pt x="0" y="234799"/>
                  <a:pt x="0" y="240079"/>
                </a:cubicBezTo>
                <a:cubicBezTo>
                  <a:pt x="0" y="256816"/>
                  <a:pt x="13517" y="270333"/>
                  <a:pt x="30254" y="270333"/>
                </a:cubicBezTo>
                <a:lnTo>
                  <a:pt x="206287" y="270333"/>
                </a:lnTo>
                <a:cubicBezTo>
                  <a:pt x="222972" y="270333"/>
                  <a:pt x="236541" y="256816"/>
                  <a:pt x="236541" y="240079"/>
                </a:cubicBezTo>
                <a:cubicBezTo>
                  <a:pt x="236541" y="234799"/>
                  <a:pt x="235168" y="229624"/>
                  <a:pt x="232581" y="225084"/>
                </a:cubicBezTo>
                <a:lnTo>
                  <a:pt x="168958" y="113783"/>
                </a:lnTo>
                <a:lnTo>
                  <a:pt x="168958" y="33792"/>
                </a:lnTo>
                <a:cubicBezTo>
                  <a:pt x="178303" y="33792"/>
                  <a:pt x="185854" y="26241"/>
                  <a:pt x="185854" y="16896"/>
                </a:cubicBezTo>
                <a:cubicBezTo>
                  <a:pt x="185854" y="7550"/>
                  <a:pt x="178303" y="0"/>
                  <a:pt x="168958" y="0"/>
                </a:cubicBezTo>
                <a:lnTo>
                  <a:pt x="152062" y="0"/>
                </a:lnTo>
                <a:close/>
                <a:moveTo>
                  <a:pt x="101375" y="113783"/>
                </a:moveTo>
                <a:lnTo>
                  <a:pt x="101375" y="33792"/>
                </a:lnTo>
                <a:lnTo>
                  <a:pt x="135166" y="33792"/>
                </a:lnTo>
                <a:lnTo>
                  <a:pt x="135166" y="113783"/>
                </a:lnTo>
                <a:cubicBezTo>
                  <a:pt x="135166" y="119643"/>
                  <a:pt x="136697" y="125451"/>
                  <a:pt x="139601" y="130573"/>
                </a:cubicBezTo>
                <a:lnTo>
                  <a:pt x="161566" y="168958"/>
                </a:lnTo>
                <a:lnTo>
                  <a:pt x="74975" y="168958"/>
                </a:lnTo>
                <a:lnTo>
                  <a:pt x="96940" y="130573"/>
                </a:lnTo>
                <a:cubicBezTo>
                  <a:pt x="99844" y="125451"/>
                  <a:pt x="101375" y="119696"/>
                  <a:pt x="101375" y="1137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22758" y="5904514"/>
            <a:ext cx="10705171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Channel Conditions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22758" y="6192869"/>
            <a:ext cx="1069616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Study behavior under </a:t>
            </a:r>
            <a:r>
              <a:rPr lang="en-US" sz="113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Rayleigh</a:t>
            </a:r>
            <a:r>
              <a:rPr lang="en-US" sz="113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r>
              <a:rPr lang="en-US" sz="113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Rician fading channels</a:t>
            </a:r>
            <a:r>
              <a:rPr lang="en-US" sz="113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 evaluate real-world performance across diverse wireless environments.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229" y="42231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73447" y="0"/>
                </a:moveTo>
                <a:lnTo>
                  <a:pt x="367227" y="0"/>
                </a:lnTo>
                <a:cubicBezTo>
                  <a:pt x="407764" y="0"/>
                  <a:pt x="440675" y="32911"/>
                  <a:pt x="440675" y="73447"/>
                </a:cubicBezTo>
                <a:lnTo>
                  <a:pt x="440675" y="367227"/>
                </a:lnTo>
                <a:cubicBezTo>
                  <a:pt x="440675" y="407791"/>
                  <a:pt x="407791" y="440675"/>
                  <a:pt x="367227" y="440675"/>
                </a:cubicBezTo>
                <a:lnTo>
                  <a:pt x="73447" y="440675"/>
                </a:lnTo>
                <a:cubicBezTo>
                  <a:pt x="32911" y="440675"/>
                  <a:pt x="0" y="407764"/>
                  <a:pt x="0" y="367227"/>
                </a:cubicBezTo>
                <a:lnTo>
                  <a:pt x="0" y="73447"/>
                </a:lnTo>
                <a:cubicBezTo>
                  <a:pt x="0" y="32883"/>
                  <a:pt x="32883" y="0"/>
                  <a:pt x="7344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56103" y="514120"/>
            <a:ext cx="156072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8072" y="550843"/>
            <a:ext cx="3093904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229" y="1064964"/>
            <a:ext cx="11457542" cy="18361"/>
          </a:xfrm>
          <a:custGeom>
            <a:avLst/>
            <a:gdLst/>
            <a:ahLst/>
            <a:cxnLst/>
            <a:rect l="l" t="t" r="r" b="b"/>
            <a:pathLst>
              <a:path w="11457542" h="18361">
                <a:moveTo>
                  <a:pt x="0" y="0"/>
                </a:moveTo>
                <a:lnTo>
                  <a:pt x="11457542" y="0"/>
                </a:lnTo>
                <a:lnTo>
                  <a:pt x="11457542" y="18361"/>
                </a:lnTo>
                <a:lnTo>
                  <a:pt x="0" y="18361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7229" y="1266940"/>
            <a:ext cx="11540169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1:</a:t>
            </a:r>
            <a:r>
              <a:rPr lang="en-US" sz="130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Complete transmission system model for HARQ performance evaluation in 5G NR.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6410" y="1753518"/>
            <a:ext cx="11439181" cy="3653928"/>
          </a:xfrm>
          <a:custGeom>
            <a:avLst/>
            <a:gdLst/>
            <a:ahLst/>
            <a:cxnLst/>
            <a:rect l="l" t="t" r="r" b="b"/>
            <a:pathLst>
              <a:path w="11439181" h="3653928">
                <a:moveTo>
                  <a:pt x="73444" y="0"/>
                </a:moveTo>
                <a:lnTo>
                  <a:pt x="11365737" y="0"/>
                </a:lnTo>
                <a:cubicBezTo>
                  <a:pt x="11406299" y="0"/>
                  <a:pt x="11439181" y="32882"/>
                  <a:pt x="11439181" y="73444"/>
                </a:cubicBezTo>
                <a:lnTo>
                  <a:pt x="11439181" y="3580484"/>
                </a:lnTo>
                <a:cubicBezTo>
                  <a:pt x="11439181" y="3621046"/>
                  <a:pt x="11406299" y="3653928"/>
                  <a:pt x="11365737" y="3653928"/>
                </a:cubicBezTo>
                <a:lnTo>
                  <a:pt x="73444" y="3653928"/>
                </a:lnTo>
                <a:cubicBezTo>
                  <a:pt x="32882" y="3653928"/>
                  <a:pt x="0" y="3621046"/>
                  <a:pt x="0" y="3580484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5108" y="2065663"/>
            <a:ext cx="2341084" cy="1101687"/>
          </a:xfrm>
          <a:custGeom>
            <a:avLst/>
            <a:gdLst/>
            <a:ahLst/>
            <a:cxnLst/>
            <a:rect l="l" t="t" r="r" b="b"/>
            <a:pathLst>
              <a:path w="2341084" h="1101687">
                <a:moveTo>
                  <a:pt x="73449" y="0"/>
                </a:moveTo>
                <a:lnTo>
                  <a:pt x="2267635" y="0"/>
                </a:lnTo>
                <a:cubicBezTo>
                  <a:pt x="2308200" y="0"/>
                  <a:pt x="2341084" y="32884"/>
                  <a:pt x="2341084" y="73449"/>
                </a:cubicBezTo>
                <a:lnTo>
                  <a:pt x="2341084" y="1028237"/>
                </a:lnTo>
                <a:cubicBezTo>
                  <a:pt x="2341084" y="1068802"/>
                  <a:pt x="2308200" y="1101687"/>
                  <a:pt x="2267635" y="1101687"/>
                </a:cubicBezTo>
                <a:lnTo>
                  <a:pt x="73449" y="1101687"/>
                </a:lnTo>
                <a:cubicBezTo>
                  <a:pt x="32884" y="1101687"/>
                  <a:pt x="0" y="1068802"/>
                  <a:pt x="0" y="1028237"/>
                </a:cubicBezTo>
                <a:lnTo>
                  <a:pt x="0" y="73449"/>
                </a:lnTo>
                <a:cubicBezTo>
                  <a:pt x="0" y="32912"/>
                  <a:pt x="32912" y="0"/>
                  <a:pt x="7344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7449" y="2221735"/>
            <a:ext cx="240994" cy="275422"/>
          </a:xfrm>
          <a:custGeom>
            <a:avLst/>
            <a:gdLst/>
            <a:ahLst/>
            <a:cxnLst/>
            <a:rect l="l" t="t" r="r" b="b"/>
            <a:pathLst>
              <a:path w="240994" h="275422">
                <a:moveTo>
                  <a:pt x="240994" y="110707"/>
                </a:moveTo>
                <a:cubicBezTo>
                  <a:pt x="233033" y="115978"/>
                  <a:pt x="223888" y="120228"/>
                  <a:pt x="214366" y="123617"/>
                </a:cubicBezTo>
                <a:cubicBezTo>
                  <a:pt x="189083" y="132654"/>
                  <a:pt x="155893" y="137711"/>
                  <a:pt x="120497" y="137711"/>
                </a:cubicBezTo>
                <a:cubicBezTo>
                  <a:pt x="85101" y="137711"/>
                  <a:pt x="51857" y="132600"/>
                  <a:pt x="26628" y="123617"/>
                </a:cubicBezTo>
                <a:cubicBezTo>
                  <a:pt x="17160" y="120228"/>
                  <a:pt x="7961" y="115978"/>
                  <a:pt x="0" y="110707"/>
                </a:cubicBezTo>
                <a:lnTo>
                  <a:pt x="0" y="154925"/>
                </a:lnTo>
                <a:cubicBezTo>
                  <a:pt x="0" y="178701"/>
                  <a:pt x="53955" y="197959"/>
                  <a:pt x="120497" y="197959"/>
                </a:cubicBezTo>
                <a:cubicBezTo>
                  <a:pt x="187039" y="197959"/>
                  <a:pt x="240994" y="178701"/>
                  <a:pt x="240994" y="154925"/>
                </a:cubicBezTo>
                <a:lnTo>
                  <a:pt x="240994" y="110707"/>
                </a:lnTo>
                <a:close/>
                <a:moveTo>
                  <a:pt x="240994" y="68855"/>
                </a:moveTo>
                <a:lnTo>
                  <a:pt x="240994" y="43035"/>
                </a:lnTo>
                <a:cubicBezTo>
                  <a:pt x="240994" y="19258"/>
                  <a:pt x="187039" y="0"/>
                  <a:pt x="120497" y="0"/>
                </a:cubicBezTo>
                <a:cubicBezTo>
                  <a:pt x="53955" y="0"/>
                  <a:pt x="0" y="19258"/>
                  <a:pt x="0" y="43035"/>
                </a:cubicBezTo>
                <a:lnTo>
                  <a:pt x="0" y="68855"/>
                </a:lnTo>
                <a:cubicBezTo>
                  <a:pt x="0" y="92632"/>
                  <a:pt x="53955" y="111890"/>
                  <a:pt x="120497" y="111890"/>
                </a:cubicBezTo>
                <a:cubicBezTo>
                  <a:pt x="187039" y="111890"/>
                  <a:pt x="240994" y="92632"/>
                  <a:pt x="240994" y="68855"/>
                </a:cubicBezTo>
                <a:close/>
                <a:moveTo>
                  <a:pt x="214366" y="209686"/>
                </a:moveTo>
                <a:cubicBezTo>
                  <a:pt x="189137" y="218670"/>
                  <a:pt x="155947" y="223780"/>
                  <a:pt x="120497" y="223780"/>
                </a:cubicBezTo>
                <a:cubicBezTo>
                  <a:pt x="85047" y="223780"/>
                  <a:pt x="51857" y="218670"/>
                  <a:pt x="26628" y="209686"/>
                </a:cubicBezTo>
                <a:cubicBezTo>
                  <a:pt x="17160" y="206297"/>
                  <a:pt x="7961" y="202048"/>
                  <a:pt x="0" y="196776"/>
                </a:cubicBezTo>
                <a:lnTo>
                  <a:pt x="0" y="232387"/>
                </a:lnTo>
                <a:cubicBezTo>
                  <a:pt x="0" y="256164"/>
                  <a:pt x="53955" y="275422"/>
                  <a:pt x="120497" y="275422"/>
                </a:cubicBezTo>
                <a:cubicBezTo>
                  <a:pt x="187039" y="275422"/>
                  <a:pt x="240994" y="256164"/>
                  <a:pt x="240994" y="232387"/>
                </a:cubicBezTo>
                <a:lnTo>
                  <a:pt x="240994" y="196776"/>
                </a:lnTo>
                <a:cubicBezTo>
                  <a:pt x="233033" y="202048"/>
                  <a:pt x="223888" y="206297"/>
                  <a:pt x="214366" y="20968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34458" y="2570602"/>
            <a:ext cx="2102386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12265" y="2469614"/>
            <a:ext cx="330506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88675" y="2065663"/>
            <a:ext cx="2341084" cy="1101687"/>
          </a:xfrm>
          <a:custGeom>
            <a:avLst/>
            <a:gdLst/>
            <a:ahLst/>
            <a:cxnLst/>
            <a:rect l="l" t="t" r="r" b="b"/>
            <a:pathLst>
              <a:path w="2341084" h="1101687">
                <a:moveTo>
                  <a:pt x="73449" y="0"/>
                </a:moveTo>
                <a:lnTo>
                  <a:pt x="2267635" y="0"/>
                </a:lnTo>
                <a:cubicBezTo>
                  <a:pt x="2308200" y="0"/>
                  <a:pt x="2341084" y="32884"/>
                  <a:pt x="2341084" y="73449"/>
                </a:cubicBezTo>
                <a:lnTo>
                  <a:pt x="2341084" y="1028237"/>
                </a:lnTo>
                <a:cubicBezTo>
                  <a:pt x="2341084" y="1068802"/>
                  <a:pt x="2308200" y="1101687"/>
                  <a:pt x="2267635" y="1101687"/>
                </a:cubicBezTo>
                <a:lnTo>
                  <a:pt x="73449" y="1101687"/>
                </a:lnTo>
                <a:cubicBezTo>
                  <a:pt x="32884" y="1101687"/>
                  <a:pt x="0" y="1068802"/>
                  <a:pt x="0" y="1028237"/>
                </a:cubicBezTo>
                <a:lnTo>
                  <a:pt x="0" y="73449"/>
                </a:lnTo>
                <a:cubicBezTo>
                  <a:pt x="0" y="32912"/>
                  <a:pt x="32912" y="0"/>
                  <a:pt x="7344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6587" y="2221735"/>
            <a:ext cx="309849" cy="275422"/>
          </a:xfrm>
          <a:custGeom>
            <a:avLst/>
            <a:gdLst/>
            <a:ahLst/>
            <a:cxnLst/>
            <a:rect l="l" t="t" r="r" b="b"/>
            <a:pathLst>
              <a:path w="309849" h="275422">
                <a:moveTo>
                  <a:pt x="194086" y="646"/>
                </a:moveTo>
                <a:cubicBezTo>
                  <a:pt x="184941" y="-1990"/>
                  <a:pt x="175420" y="3335"/>
                  <a:pt x="172784" y="12480"/>
                </a:cubicBezTo>
                <a:lnTo>
                  <a:pt x="103929" y="253474"/>
                </a:lnTo>
                <a:cubicBezTo>
                  <a:pt x="101293" y="262619"/>
                  <a:pt x="106618" y="272140"/>
                  <a:pt x="115763" y="274776"/>
                </a:cubicBezTo>
                <a:cubicBezTo>
                  <a:pt x="124908" y="277412"/>
                  <a:pt x="134429" y="272087"/>
                  <a:pt x="137065" y="262942"/>
                </a:cubicBezTo>
                <a:lnTo>
                  <a:pt x="205921" y="21948"/>
                </a:lnTo>
                <a:cubicBezTo>
                  <a:pt x="208557" y="12803"/>
                  <a:pt x="203231" y="3281"/>
                  <a:pt x="194086" y="646"/>
                </a:cubicBezTo>
                <a:close/>
                <a:moveTo>
                  <a:pt x="228837" y="73858"/>
                </a:moveTo>
                <a:cubicBezTo>
                  <a:pt x="222113" y="80582"/>
                  <a:pt x="222113" y="91502"/>
                  <a:pt x="228837" y="98227"/>
                </a:cubicBezTo>
                <a:lnTo>
                  <a:pt x="268321" y="137711"/>
                </a:lnTo>
                <a:lnTo>
                  <a:pt x="228837" y="177195"/>
                </a:lnTo>
                <a:cubicBezTo>
                  <a:pt x="222113" y="183919"/>
                  <a:pt x="222113" y="194839"/>
                  <a:pt x="228837" y="201563"/>
                </a:cubicBezTo>
                <a:cubicBezTo>
                  <a:pt x="235561" y="208288"/>
                  <a:pt x="246481" y="208288"/>
                  <a:pt x="253205" y="201563"/>
                </a:cubicBezTo>
                <a:lnTo>
                  <a:pt x="304847" y="149922"/>
                </a:lnTo>
                <a:cubicBezTo>
                  <a:pt x="311571" y="143198"/>
                  <a:pt x="311571" y="132278"/>
                  <a:pt x="304847" y="125554"/>
                </a:cubicBezTo>
                <a:lnTo>
                  <a:pt x="253205" y="73912"/>
                </a:lnTo>
                <a:cubicBezTo>
                  <a:pt x="246481" y="67188"/>
                  <a:pt x="235561" y="67188"/>
                  <a:pt x="228837" y="73912"/>
                </a:cubicBezTo>
                <a:close/>
                <a:moveTo>
                  <a:pt x="81067" y="73858"/>
                </a:moveTo>
                <a:cubicBezTo>
                  <a:pt x="74342" y="67134"/>
                  <a:pt x="63422" y="67134"/>
                  <a:pt x="56698" y="73858"/>
                </a:cubicBezTo>
                <a:lnTo>
                  <a:pt x="5057" y="125500"/>
                </a:lnTo>
                <a:cubicBezTo>
                  <a:pt x="-1668" y="132224"/>
                  <a:pt x="-1668" y="143144"/>
                  <a:pt x="5057" y="149868"/>
                </a:cubicBezTo>
                <a:lnTo>
                  <a:pt x="56698" y="201510"/>
                </a:lnTo>
                <a:cubicBezTo>
                  <a:pt x="63422" y="208234"/>
                  <a:pt x="74342" y="208234"/>
                  <a:pt x="81067" y="201510"/>
                </a:cubicBezTo>
                <a:cubicBezTo>
                  <a:pt x="87791" y="194786"/>
                  <a:pt x="87791" y="183865"/>
                  <a:pt x="81067" y="177141"/>
                </a:cubicBezTo>
                <a:lnTo>
                  <a:pt x="41582" y="137711"/>
                </a:lnTo>
                <a:lnTo>
                  <a:pt x="81013" y="98227"/>
                </a:lnTo>
                <a:cubicBezTo>
                  <a:pt x="87737" y="91502"/>
                  <a:pt x="87737" y="80582"/>
                  <a:pt x="81013" y="7385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08024" y="2570602"/>
            <a:ext cx="2102386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Channel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Encoding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5831" y="2469614"/>
            <a:ext cx="330506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2241" y="2065663"/>
            <a:ext cx="2341084" cy="1101687"/>
          </a:xfrm>
          <a:custGeom>
            <a:avLst/>
            <a:gdLst/>
            <a:ahLst/>
            <a:cxnLst/>
            <a:rect l="l" t="t" r="r" b="b"/>
            <a:pathLst>
              <a:path w="2341084" h="1101687">
                <a:moveTo>
                  <a:pt x="73449" y="0"/>
                </a:moveTo>
                <a:lnTo>
                  <a:pt x="2267635" y="0"/>
                </a:lnTo>
                <a:cubicBezTo>
                  <a:pt x="2308200" y="0"/>
                  <a:pt x="2341084" y="32884"/>
                  <a:pt x="2341084" y="73449"/>
                </a:cubicBezTo>
                <a:lnTo>
                  <a:pt x="2341084" y="1028237"/>
                </a:lnTo>
                <a:cubicBezTo>
                  <a:pt x="2341084" y="1068802"/>
                  <a:pt x="2308200" y="1101687"/>
                  <a:pt x="2267635" y="1101687"/>
                </a:cubicBezTo>
                <a:lnTo>
                  <a:pt x="73449" y="1101687"/>
                </a:lnTo>
                <a:cubicBezTo>
                  <a:pt x="32884" y="1101687"/>
                  <a:pt x="0" y="1068802"/>
                  <a:pt x="0" y="1028237"/>
                </a:cubicBezTo>
                <a:lnTo>
                  <a:pt x="0" y="73449"/>
                </a:lnTo>
                <a:cubicBezTo>
                  <a:pt x="0" y="32912"/>
                  <a:pt x="32912" y="0"/>
                  <a:pt x="7344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97367" y="2221735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262511" y="30124"/>
                </a:moveTo>
                <a:cubicBezTo>
                  <a:pt x="262511" y="22970"/>
                  <a:pt x="256755" y="17214"/>
                  <a:pt x="249601" y="17214"/>
                </a:cubicBezTo>
                <a:cubicBezTo>
                  <a:pt x="242446" y="17214"/>
                  <a:pt x="236691" y="22970"/>
                  <a:pt x="236691" y="30124"/>
                </a:cubicBezTo>
                <a:lnTo>
                  <a:pt x="236691" y="245297"/>
                </a:lnTo>
                <a:cubicBezTo>
                  <a:pt x="236691" y="252452"/>
                  <a:pt x="242446" y="258208"/>
                  <a:pt x="249601" y="258208"/>
                </a:cubicBezTo>
                <a:cubicBezTo>
                  <a:pt x="256755" y="258208"/>
                  <a:pt x="262511" y="252452"/>
                  <a:pt x="262511" y="245297"/>
                </a:cubicBezTo>
                <a:lnTo>
                  <a:pt x="262511" y="30124"/>
                </a:lnTo>
                <a:close/>
                <a:moveTo>
                  <a:pt x="193656" y="68855"/>
                </a:moveTo>
                <a:cubicBezTo>
                  <a:pt x="186501" y="68855"/>
                  <a:pt x="180745" y="74611"/>
                  <a:pt x="180745" y="81766"/>
                </a:cubicBezTo>
                <a:lnTo>
                  <a:pt x="180745" y="245297"/>
                </a:lnTo>
                <a:cubicBezTo>
                  <a:pt x="180745" y="252452"/>
                  <a:pt x="186501" y="258208"/>
                  <a:pt x="193656" y="258208"/>
                </a:cubicBezTo>
                <a:cubicBezTo>
                  <a:pt x="200810" y="258208"/>
                  <a:pt x="206566" y="252452"/>
                  <a:pt x="206566" y="245297"/>
                </a:cubicBezTo>
                <a:lnTo>
                  <a:pt x="206566" y="81766"/>
                </a:lnTo>
                <a:cubicBezTo>
                  <a:pt x="206566" y="74611"/>
                  <a:pt x="200810" y="68855"/>
                  <a:pt x="193656" y="68855"/>
                </a:cubicBezTo>
                <a:close/>
                <a:moveTo>
                  <a:pt x="150621" y="133407"/>
                </a:moveTo>
                <a:cubicBezTo>
                  <a:pt x="150621" y="126253"/>
                  <a:pt x="144865" y="120497"/>
                  <a:pt x="137711" y="120497"/>
                </a:cubicBezTo>
                <a:cubicBezTo>
                  <a:pt x="130556" y="120497"/>
                  <a:pt x="124800" y="126253"/>
                  <a:pt x="124800" y="133407"/>
                </a:cubicBezTo>
                <a:lnTo>
                  <a:pt x="124800" y="245297"/>
                </a:lnTo>
                <a:cubicBezTo>
                  <a:pt x="124800" y="252452"/>
                  <a:pt x="130556" y="258208"/>
                  <a:pt x="137711" y="258208"/>
                </a:cubicBezTo>
                <a:cubicBezTo>
                  <a:pt x="144865" y="258208"/>
                  <a:pt x="150621" y="252452"/>
                  <a:pt x="150621" y="245297"/>
                </a:cubicBezTo>
                <a:lnTo>
                  <a:pt x="150621" y="133407"/>
                </a:lnTo>
                <a:close/>
                <a:moveTo>
                  <a:pt x="81766" y="172139"/>
                </a:moveTo>
                <a:cubicBezTo>
                  <a:pt x="74611" y="172139"/>
                  <a:pt x="68855" y="177894"/>
                  <a:pt x="68855" y="185049"/>
                </a:cubicBezTo>
                <a:lnTo>
                  <a:pt x="68855" y="245297"/>
                </a:lnTo>
                <a:cubicBezTo>
                  <a:pt x="68855" y="252452"/>
                  <a:pt x="74611" y="258208"/>
                  <a:pt x="81766" y="258208"/>
                </a:cubicBezTo>
                <a:cubicBezTo>
                  <a:pt x="88920" y="258208"/>
                  <a:pt x="94676" y="252452"/>
                  <a:pt x="94676" y="245297"/>
                </a:cubicBezTo>
                <a:lnTo>
                  <a:pt x="94676" y="185049"/>
                </a:lnTo>
                <a:cubicBezTo>
                  <a:pt x="94676" y="177894"/>
                  <a:pt x="88920" y="172139"/>
                  <a:pt x="81766" y="172139"/>
                </a:cubicBezTo>
                <a:close/>
                <a:moveTo>
                  <a:pt x="25821" y="206566"/>
                </a:moveTo>
                <a:cubicBezTo>
                  <a:pt x="18666" y="206566"/>
                  <a:pt x="12910" y="212322"/>
                  <a:pt x="12910" y="219477"/>
                </a:cubicBezTo>
                <a:lnTo>
                  <a:pt x="12910" y="245297"/>
                </a:lnTo>
                <a:cubicBezTo>
                  <a:pt x="12910" y="252452"/>
                  <a:pt x="18666" y="258208"/>
                  <a:pt x="25821" y="258208"/>
                </a:cubicBezTo>
                <a:cubicBezTo>
                  <a:pt x="32975" y="258208"/>
                  <a:pt x="38731" y="252452"/>
                  <a:pt x="38731" y="245297"/>
                </a:cubicBezTo>
                <a:lnTo>
                  <a:pt x="38731" y="219477"/>
                </a:lnTo>
                <a:cubicBezTo>
                  <a:pt x="38731" y="212322"/>
                  <a:pt x="32975" y="206566"/>
                  <a:pt x="25821" y="20656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81590" y="2570602"/>
            <a:ext cx="2102386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Modulation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(QAM)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59398" y="2469614"/>
            <a:ext cx="330506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26627" y="1983036"/>
            <a:ext cx="2359446" cy="1266940"/>
          </a:xfrm>
          <a:custGeom>
            <a:avLst/>
            <a:gdLst/>
            <a:ahLst/>
            <a:cxnLst/>
            <a:rect l="l" t="t" r="r" b="b"/>
            <a:pathLst>
              <a:path w="2359446" h="1266940">
                <a:moveTo>
                  <a:pt x="73444" y="0"/>
                </a:moveTo>
                <a:lnTo>
                  <a:pt x="2286001" y="0"/>
                </a:lnTo>
                <a:cubicBezTo>
                  <a:pt x="2326564" y="0"/>
                  <a:pt x="2359446" y="32882"/>
                  <a:pt x="2359446" y="73444"/>
                </a:cubicBezTo>
                <a:lnTo>
                  <a:pt x="2359446" y="1193495"/>
                </a:lnTo>
                <a:cubicBezTo>
                  <a:pt x="2359446" y="1234058"/>
                  <a:pt x="2326564" y="1266940"/>
                  <a:pt x="2286001" y="1266940"/>
                </a:cubicBezTo>
                <a:lnTo>
                  <a:pt x="73444" y="1266940"/>
                </a:lnTo>
                <a:cubicBezTo>
                  <a:pt x="32882" y="1266940"/>
                  <a:pt x="0" y="1234058"/>
                  <a:pt x="0" y="1193495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8B0000"/>
          </a:solidFill>
          <a:ln/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53720" y="2129928"/>
            <a:ext cx="309849" cy="275422"/>
          </a:xfrm>
          <a:custGeom>
            <a:avLst/>
            <a:gdLst/>
            <a:ahLst/>
            <a:cxnLst/>
            <a:rect l="l" t="t" r="r" b="b"/>
            <a:pathLst>
              <a:path w="309849" h="275422">
                <a:moveTo>
                  <a:pt x="47284" y="6186"/>
                </a:moveTo>
                <a:cubicBezTo>
                  <a:pt x="41206" y="2474"/>
                  <a:pt x="33244" y="4465"/>
                  <a:pt x="29533" y="10543"/>
                </a:cubicBezTo>
                <a:cubicBezTo>
                  <a:pt x="16192" y="32599"/>
                  <a:pt x="8553" y="58473"/>
                  <a:pt x="8553" y="86069"/>
                </a:cubicBezTo>
                <a:cubicBezTo>
                  <a:pt x="8553" y="113665"/>
                  <a:pt x="16192" y="139540"/>
                  <a:pt x="29533" y="161595"/>
                </a:cubicBezTo>
                <a:cubicBezTo>
                  <a:pt x="33244" y="167674"/>
                  <a:pt x="41152" y="169664"/>
                  <a:pt x="47284" y="165952"/>
                </a:cubicBezTo>
                <a:cubicBezTo>
                  <a:pt x="53417" y="162241"/>
                  <a:pt x="55353" y="154333"/>
                  <a:pt x="51642" y="148201"/>
                </a:cubicBezTo>
                <a:cubicBezTo>
                  <a:pt x="40722" y="130126"/>
                  <a:pt x="34428" y="108824"/>
                  <a:pt x="34428" y="86069"/>
                </a:cubicBezTo>
                <a:cubicBezTo>
                  <a:pt x="34428" y="63315"/>
                  <a:pt x="40722" y="42013"/>
                  <a:pt x="51695" y="23884"/>
                </a:cubicBezTo>
                <a:cubicBezTo>
                  <a:pt x="55407" y="17806"/>
                  <a:pt x="53417" y="9844"/>
                  <a:pt x="47338" y="6132"/>
                </a:cubicBezTo>
                <a:close/>
                <a:moveTo>
                  <a:pt x="262511" y="6186"/>
                </a:moveTo>
                <a:cubicBezTo>
                  <a:pt x="256433" y="9898"/>
                  <a:pt x="254442" y="17806"/>
                  <a:pt x="258154" y="23938"/>
                </a:cubicBezTo>
                <a:cubicBezTo>
                  <a:pt x="269128" y="42066"/>
                  <a:pt x="275422" y="63369"/>
                  <a:pt x="275422" y="86123"/>
                </a:cubicBezTo>
                <a:cubicBezTo>
                  <a:pt x="275422" y="108878"/>
                  <a:pt x="269128" y="130180"/>
                  <a:pt x="258154" y="148308"/>
                </a:cubicBezTo>
                <a:cubicBezTo>
                  <a:pt x="254442" y="154387"/>
                  <a:pt x="256433" y="162348"/>
                  <a:pt x="262511" y="166060"/>
                </a:cubicBezTo>
                <a:cubicBezTo>
                  <a:pt x="268590" y="169772"/>
                  <a:pt x="276551" y="167781"/>
                  <a:pt x="280263" y="161703"/>
                </a:cubicBezTo>
                <a:cubicBezTo>
                  <a:pt x="293604" y="139647"/>
                  <a:pt x="301242" y="113773"/>
                  <a:pt x="301242" y="86177"/>
                </a:cubicBezTo>
                <a:cubicBezTo>
                  <a:pt x="301242" y="58581"/>
                  <a:pt x="293604" y="32599"/>
                  <a:pt x="280263" y="10543"/>
                </a:cubicBezTo>
                <a:cubicBezTo>
                  <a:pt x="276551" y="4465"/>
                  <a:pt x="268644" y="2474"/>
                  <a:pt x="262511" y="6186"/>
                </a:cubicBezTo>
                <a:close/>
                <a:moveTo>
                  <a:pt x="172139" y="115871"/>
                </a:moveTo>
                <a:cubicBezTo>
                  <a:pt x="182413" y="109900"/>
                  <a:pt x="189352" y="98818"/>
                  <a:pt x="189352" y="86069"/>
                </a:cubicBezTo>
                <a:cubicBezTo>
                  <a:pt x="189352" y="67080"/>
                  <a:pt x="173914" y="51642"/>
                  <a:pt x="154925" y="51642"/>
                </a:cubicBezTo>
                <a:cubicBezTo>
                  <a:pt x="135936" y="51642"/>
                  <a:pt x="120497" y="67080"/>
                  <a:pt x="120497" y="86069"/>
                </a:cubicBezTo>
                <a:cubicBezTo>
                  <a:pt x="120497" y="98818"/>
                  <a:pt x="127436" y="109954"/>
                  <a:pt x="137711" y="115871"/>
                </a:cubicBezTo>
                <a:lnTo>
                  <a:pt x="137711" y="258208"/>
                </a:lnTo>
                <a:cubicBezTo>
                  <a:pt x="137711" y="267729"/>
                  <a:pt x="145403" y="275422"/>
                  <a:pt x="154925" y="275422"/>
                </a:cubicBezTo>
                <a:cubicBezTo>
                  <a:pt x="164446" y="275422"/>
                  <a:pt x="172139" y="267729"/>
                  <a:pt x="172139" y="258208"/>
                </a:cubicBezTo>
                <a:lnTo>
                  <a:pt x="172139" y="115871"/>
                </a:lnTo>
                <a:close/>
                <a:moveTo>
                  <a:pt x="96936" y="48952"/>
                </a:moveTo>
                <a:cubicBezTo>
                  <a:pt x="100809" y="42927"/>
                  <a:pt x="99033" y="34966"/>
                  <a:pt x="93062" y="31093"/>
                </a:cubicBezTo>
                <a:cubicBezTo>
                  <a:pt x="87091" y="27219"/>
                  <a:pt x="79076" y="28995"/>
                  <a:pt x="75203" y="34966"/>
                </a:cubicBezTo>
                <a:cubicBezTo>
                  <a:pt x="65735" y="49705"/>
                  <a:pt x="60248" y="67242"/>
                  <a:pt x="60248" y="86069"/>
                </a:cubicBezTo>
                <a:cubicBezTo>
                  <a:pt x="60248" y="104897"/>
                  <a:pt x="65735" y="122434"/>
                  <a:pt x="75203" y="137173"/>
                </a:cubicBezTo>
                <a:cubicBezTo>
                  <a:pt x="79076" y="143198"/>
                  <a:pt x="87038" y="144919"/>
                  <a:pt x="93062" y="141046"/>
                </a:cubicBezTo>
                <a:cubicBezTo>
                  <a:pt x="99087" y="137173"/>
                  <a:pt x="100809" y="129212"/>
                  <a:pt x="96936" y="123187"/>
                </a:cubicBezTo>
                <a:cubicBezTo>
                  <a:pt x="90050" y="112482"/>
                  <a:pt x="86069" y="99733"/>
                  <a:pt x="86069" y="86069"/>
                </a:cubicBezTo>
                <a:cubicBezTo>
                  <a:pt x="86069" y="72406"/>
                  <a:pt x="90050" y="59657"/>
                  <a:pt x="96936" y="48952"/>
                </a:cubicBezTo>
                <a:close/>
                <a:moveTo>
                  <a:pt x="234646" y="34966"/>
                </a:moveTo>
                <a:cubicBezTo>
                  <a:pt x="230773" y="28941"/>
                  <a:pt x="222812" y="27219"/>
                  <a:pt x="216787" y="31093"/>
                </a:cubicBezTo>
                <a:cubicBezTo>
                  <a:pt x="210762" y="34966"/>
                  <a:pt x="209041" y="42927"/>
                  <a:pt x="212914" y="48952"/>
                </a:cubicBezTo>
                <a:cubicBezTo>
                  <a:pt x="219799" y="59657"/>
                  <a:pt x="223780" y="72406"/>
                  <a:pt x="223780" y="86069"/>
                </a:cubicBezTo>
                <a:cubicBezTo>
                  <a:pt x="223780" y="99733"/>
                  <a:pt x="219799" y="112482"/>
                  <a:pt x="212914" y="123187"/>
                </a:cubicBezTo>
                <a:cubicBezTo>
                  <a:pt x="209041" y="129212"/>
                  <a:pt x="210816" y="137173"/>
                  <a:pt x="216787" y="141046"/>
                </a:cubicBezTo>
                <a:cubicBezTo>
                  <a:pt x="222758" y="144919"/>
                  <a:pt x="230773" y="143144"/>
                  <a:pt x="234646" y="137173"/>
                </a:cubicBezTo>
                <a:cubicBezTo>
                  <a:pt x="244114" y="122434"/>
                  <a:pt x="249601" y="104897"/>
                  <a:pt x="249601" y="86069"/>
                </a:cubicBezTo>
                <a:cubicBezTo>
                  <a:pt x="249601" y="67242"/>
                  <a:pt x="244114" y="49705"/>
                  <a:pt x="234646" y="349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336795" y="2478795"/>
            <a:ext cx="2139108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Fading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45976" y="2956193"/>
            <a:ext cx="2120747" cy="1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Rayleigh / Rician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58289" y="3396867"/>
            <a:ext cx="41313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5928" y="3892627"/>
            <a:ext cx="3314241" cy="1266940"/>
          </a:xfrm>
          <a:custGeom>
            <a:avLst/>
            <a:gdLst/>
            <a:ahLst/>
            <a:cxnLst/>
            <a:rect l="l" t="t" r="r" b="b"/>
            <a:pathLst>
              <a:path w="3314241" h="1266940">
                <a:moveTo>
                  <a:pt x="73444" y="0"/>
                </a:moveTo>
                <a:lnTo>
                  <a:pt x="3240796" y="0"/>
                </a:lnTo>
                <a:cubicBezTo>
                  <a:pt x="3281359" y="0"/>
                  <a:pt x="3314241" y="32882"/>
                  <a:pt x="3314241" y="73444"/>
                </a:cubicBezTo>
                <a:lnTo>
                  <a:pt x="3314241" y="1193495"/>
                </a:lnTo>
                <a:cubicBezTo>
                  <a:pt x="3314241" y="1234058"/>
                  <a:pt x="3281359" y="1266940"/>
                  <a:pt x="3240796" y="1266940"/>
                </a:cubicBezTo>
                <a:lnTo>
                  <a:pt x="73444" y="1266940"/>
                </a:lnTo>
                <a:cubicBezTo>
                  <a:pt x="32882" y="1266940"/>
                  <a:pt x="0" y="1234058"/>
                  <a:pt x="0" y="1193495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8B0000"/>
          </a:solidFill>
          <a:ln/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29163" y="4039518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258262" y="103283"/>
                </a:moveTo>
                <a:lnTo>
                  <a:pt x="262511" y="103283"/>
                </a:lnTo>
                <a:cubicBezTo>
                  <a:pt x="269666" y="103283"/>
                  <a:pt x="275422" y="97527"/>
                  <a:pt x="275422" y="90373"/>
                </a:cubicBezTo>
                <a:lnTo>
                  <a:pt x="275422" y="12910"/>
                </a:lnTo>
                <a:cubicBezTo>
                  <a:pt x="275422" y="7692"/>
                  <a:pt x="272302" y="2959"/>
                  <a:pt x="267460" y="968"/>
                </a:cubicBezTo>
                <a:cubicBezTo>
                  <a:pt x="262619" y="-1022"/>
                  <a:pt x="257078" y="108"/>
                  <a:pt x="253366" y="3766"/>
                </a:cubicBezTo>
                <a:lnTo>
                  <a:pt x="225555" y="31630"/>
                </a:lnTo>
                <a:cubicBezTo>
                  <a:pt x="201725" y="11888"/>
                  <a:pt x="171063" y="0"/>
                  <a:pt x="137711" y="0"/>
                </a:cubicBezTo>
                <a:cubicBezTo>
                  <a:pt x="68317" y="0"/>
                  <a:pt x="10920" y="51319"/>
                  <a:pt x="1399" y="118076"/>
                </a:cubicBezTo>
                <a:cubicBezTo>
                  <a:pt x="54" y="127490"/>
                  <a:pt x="6563" y="136205"/>
                  <a:pt x="15977" y="137549"/>
                </a:cubicBezTo>
                <a:cubicBezTo>
                  <a:pt x="25390" y="138894"/>
                  <a:pt x="34105" y="132332"/>
                  <a:pt x="35450" y="122971"/>
                </a:cubicBezTo>
                <a:cubicBezTo>
                  <a:pt x="42604" y="72890"/>
                  <a:pt x="85693" y="34428"/>
                  <a:pt x="137711" y="34428"/>
                </a:cubicBezTo>
                <a:cubicBezTo>
                  <a:pt x="161595" y="34428"/>
                  <a:pt x="183543" y="42497"/>
                  <a:pt x="201026" y="56106"/>
                </a:cubicBezTo>
                <a:lnTo>
                  <a:pt x="175904" y="81228"/>
                </a:lnTo>
                <a:cubicBezTo>
                  <a:pt x="172192" y="84940"/>
                  <a:pt x="171116" y="90480"/>
                  <a:pt x="173107" y="95322"/>
                </a:cubicBezTo>
                <a:cubicBezTo>
                  <a:pt x="175097" y="100163"/>
                  <a:pt x="179831" y="103283"/>
                  <a:pt x="185049" y="103283"/>
                </a:cubicBezTo>
                <a:lnTo>
                  <a:pt x="258262" y="103283"/>
                </a:lnTo>
                <a:close/>
                <a:moveTo>
                  <a:pt x="274077" y="157345"/>
                </a:moveTo>
                <a:cubicBezTo>
                  <a:pt x="275422" y="147932"/>
                  <a:pt x="268859" y="139217"/>
                  <a:pt x="259499" y="137872"/>
                </a:cubicBezTo>
                <a:cubicBezTo>
                  <a:pt x="250139" y="136527"/>
                  <a:pt x="241371" y="143090"/>
                  <a:pt x="240026" y="152450"/>
                </a:cubicBezTo>
                <a:cubicBezTo>
                  <a:pt x="232871" y="202478"/>
                  <a:pt x="189783" y="240940"/>
                  <a:pt x="137765" y="240940"/>
                </a:cubicBezTo>
                <a:cubicBezTo>
                  <a:pt x="113880" y="240940"/>
                  <a:pt x="91933" y="232871"/>
                  <a:pt x="74450" y="219261"/>
                </a:cubicBezTo>
                <a:lnTo>
                  <a:pt x="99518" y="194194"/>
                </a:lnTo>
                <a:cubicBezTo>
                  <a:pt x="103229" y="190482"/>
                  <a:pt x="104305" y="184941"/>
                  <a:pt x="102315" y="180100"/>
                </a:cubicBezTo>
                <a:cubicBezTo>
                  <a:pt x="100325" y="175259"/>
                  <a:pt x="95591" y="172139"/>
                  <a:pt x="90373" y="172139"/>
                </a:cubicBezTo>
                <a:lnTo>
                  <a:pt x="12910" y="172139"/>
                </a:lnTo>
                <a:cubicBezTo>
                  <a:pt x="5756" y="172139"/>
                  <a:pt x="0" y="177894"/>
                  <a:pt x="0" y="185049"/>
                </a:cubicBezTo>
                <a:lnTo>
                  <a:pt x="0" y="262511"/>
                </a:lnTo>
                <a:cubicBezTo>
                  <a:pt x="0" y="267729"/>
                  <a:pt x="3120" y="272463"/>
                  <a:pt x="7961" y="274453"/>
                </a:cubicBezTo>
                <a:cubicBezTo>
                  <a:pt x="12803" y="276444"/>
                  <a:pt x="18344" y="275314"/>
                  <a:pt x="22055" y="271656"/>
                </a:cubicBezTo>
                <a:lnTo>
                  <a:pt x="49920" y="243791"/>
                </a:lnTo>
                <a:cubicBezTo>
                  <a:pt x="73697" y="263533"/>
                  <a:pt x="104359" y="275422"/>
                  <a:pt x="137711" y="275422"/>
                </a:cubicBezTo>
                <a:cubicBezTo>
                  <a:pt x="207104" y="275422"/>
                  <a:pt x="264502" y="224103"/>
                  <a:pt x="274023" y="1573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6096" y="4388386"/>
            <a:ext cx="3093904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Process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5277" y="4865783"/>
            <a:ext cx="3075542" cy="1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 / CC / IR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70121" y="4379205"/>
            <a:ext cx="330506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46530" y="3975253"/>
            <a:ext cx="3295880" cy="1101687"/>
          </a:xfrm>
          <a:custGeom>
            <a:avLst/>
            <a:gdLst/>
            <a:ahLst/>
            <a:cxnLst/>
            <a:rect l="l" t="t" r="r" b="b"/>
            <a:pathLst>
              <a:path w="3295880" h="1101687">
                <a:moveTo>
                  <a:pt x="73449" y="0"/>
                </a:moveTo>
                <a:lnTo>
                  <a:pt x="3222430" y="0"/>
                </a:lnTo>
                <a:cubicBezTo>
                  <a:pt x="3262995" y="0"/>
                  <a:pt x="3295880" y="32884"/>
                  <a:pt x="3295880" y="73449"/>
                </a:cubicBezTo>
                <a:lnTo>
                  <a:pt x="3295880" y="1028237"/>
                </a:lnTo>
                <a:cubicBezTo>
                  <a:pt x="3295880" y="1068802"/>
                  <a:pt x="3262995" y="1101687"/>
                  <a:pt x="3222430" y="1101687"/>
                </a:cubicBezTo>
                <a:lnTo>
                  <a:pt x="73449" y="1101687"/>
                </a:lnTo>
                <a:cubicBezTo>
                  <a:pt x="32884" y="1101687"/>
                  <a:pt x="0" y="1068802"/>
                  <a:pt x="0" y="1028237"/>
                </a:cubicBezTo>
                <a:lnTo>
                  <a:pt x="0" y="73449"/>
                </a:lnTo>
                <a:cubicBezTo>
                  <a:pt x="0" y="32912"/>
                  <a:pt x="32912" y="0"/>
                  <a:pt x="7344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60584" y="4131325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94676" y="12910"/>
                </a:moveTo>
                <a:cubicBezTo>
                  <a:pt x="94676" y="5756"/>
                  <a:pt x="88920" y="0"/>
                  <a:pt x="81766" y="0"/>
                </a:cubicBezTo>
                <a:cubicBezTo>
                  <a:pt x="74611" y="0"/>
                  <a:pt x="68855" y="5756"/>
                  <a:pt x="68855" y="12910"/>
                </a:cubicBezTo>
                <a:lnTo>
                  <a:pt x="68855" y="34428"/>
                </a:lnTo>
                <a:cubicBezTo>
                  <a:pt x="49866" y="34428"/>
                  <a:pt x="34428" y="49866"/>
                  <a:pt x="34428" y="68855"/>
                </a:cubicBezTo>
                <a:lnTo>
                  <a:pt x="12910" y="68855"/>
                </a:lnTo>
                <a:cubicBezTo>
                  <a:pt x="5756" y="68855"/>
                  <a:pt x="0" y="74611"/>
                  <a:pt x="0" y="81766"/>
                </a:cubicBezTo>
                <a:cubicBezTo>
                  <a:pt x="0" y="88920"/>
                  <a:pt x="5756" y="94676"/>
                  <a:pt x="12910" y="94676"/>
                </a:cubicBezTo>
                <a:lnTo>
                  <a:pt x="34428" y="94676"/>
                </a:lnTo>
                <a:lnTo>
                  <a:pt x="34428" y="124800"/>
                </a:lnTo>
                <a:lnTo>
                  <a:pt x="12910" y="124800"/>
                </a:lnTo>
                <a:cubicBezTo>
                  <a:pt x="5756" y="124800"/>
                  <a:pt x="0" y="130556"/>
                  <a:pt x="0" y="137711"/>
                </a:cubicBezTo>
                <a:cubicBezTo>
                  <a:pt x="0" y="144865"/>
                  <a:pt x="5756" y="150621"/>
                  <a:pt x="12910" y="150621"/>
                </a:cubicBezTo>
                <a:lnTo>
                  <a:pt x="34428" y="150621"/>
                </a:lnTo>
                <a:lnTo>
                  <a:pt x="34428" y="180745"/>
                </a:lnTo>
                <a:lnTo>
                  <a:pt x="12910" y="180745"/>
                </a:lnTo>
                <a:cubicBezTo>
                  <a:pt x="5756" y="180745"/>
                  <a:pt x="0" y="186501"/>
                  <a:pt x="0" y="193656"/>
                </a:cubicBezTo>
                <a:cubicBezTo>
                  <a:pt x="0" y="200810"/>
                  <a:pt x="5756" y="206566"/>
                  <a:pt x="12910" y="206566"/>
                </a:cubicBezTo>
                <a:lnTo>
                  <a:pt x="34428" y="206566"/>
                </a:lnTo>
                <a:cubicBezTo>
                  <a:pt x="34428" y="225555"/>
                  <a:pt x="49866" y="240994"/>
                  <a:pt x="68855" y="240994"/>
                </a:cubicBezTo>
                <a:lnTo>
                  <a:pt x="68855" y="262511"/>
                </a:lnTo>
                <a:cubicBezTo>
                  <a:pt x="68855" y="269666"/>
                  <a:pt x="74611" y="275422"/>
                  <a:pt x="81766" y="275422"/>
                </a:cubicBezTo>
                <a:cubicBezTo>
                  <a:pt x="88920" y="275422"/>
                  <a:pt x="94676" y="269666"/>
                  <a:pt x="94676" y="262511"/>
                </a:cubicBezTo>
                <a:lnTo>
                  <a:pt x="94676" y="240994"/>
                </a:lnTo>
                <a:lnTo>
                  <a:pt x="124800" y="240994"/>
                </a:lnTo>
                <a:lnTo>
                  <a:pt x="124800" y="262511"/>
                </a:lnTo>
                <a:cubicBezTo>
                  <a:pt x="124800" y="269666"/>
                  <a:pt x="130556" y="275422"/>
                  <a:pt x="137711" y="275422"/>
                </a:cubicBezTo>
                <a:cubicBezTo>
                  <a:pt x="144865" y="275422"/>
                  <a:pt x="150621" y="269666"/>
                  <a:pt x="150621" y="262511"/>
                </a:cubicBezTo>
                <a:lnTo>
                  <a:pt x="150621" y="240994"/>
                </a:lnTo>
                <a:lnTo>
                  <a:pt x="180745" y="240994"/>
                </a:lnTo>
                <a:lnTo>
                  <a:pt x="180745" y="262511"/>
                </a:lnTo>
                <a:cubicBezTo>
                  <a:pt x="180745" y="269666"/>
                  <a:pt x="186501" y="275422"/>
                  <a:pt x="193656" y="275422"/>
                </a:cubicBezTo>
                <a:cubicBezTo>
                  <a:pt x="200810" y="275422"/>
                  <a:pt x="206566" y="269666"/>
                  <a:pt x="206566" y="262511"/>
                </a:cubicBezTo>
                <a:lnTo>
                  <a:pt x="206566" y="240994"/>
                </a:lnTo>
                <a:cubicBezTo>
                  <a:pt x="225555" y="240994"/>
                  <a:pt x="240994" y="225555"/>
                  <a:pt x="240994" y="206566"/>
                </a:cubicBezTo>
                <a:lnTo>
                  <a:pt x="262511" y="206566"/>
                </a:lnTo>
                <a:cubicBezTo>
                  <a:pt x="269666" y="206566"/>
                  <a:pt x="275422" y="200810"/>
                  <a:pt x="275422" y="193656"/>
                </a:cubicBezTo>
                <a:cubicBezTo>
                  <a:pt x="275422" y="186501"/>
                  <a:pt x="269666" y="180745"/>
                  <a:pt x="262511" y="180745"/>
                </a:cubicBezTo>
                <a:lnTo>
                  <a:pt x="240994" y="180745"/>
                </a:lnTo>
                <a:lnTo>
                  <a:pt x="240994" y="150621"/>
                </a:lnTo>
                <a:lnTo>
                  <a:pt x="262511" y="150621"/>
                </a:lnTo>
                <a:cubicBezTo>
                  <a:pt x="269666" y="150621"/>
                  <a:pt x="275422" y="144865"/>
                  <a:pt x="275422" y="137711"/>
                </a:cubicBezTo>
                <a:cubicBezTo>
                  <a:pt x="275422" y="130556"/>
                  <a:pt x="269666" y="124800"/>
                  <a:pt x="262511" y="124800"/>
                </a:cubicBezTo>
                <a:lnTo>
                  <a:pt x="240994" y="124800"/>
                </a:lnTo>
                <a:lnTo>
                  <a:pt x="240994" y="94676"/>
                </a:lnTo>
                <a:lnTo>
                  <a:pt x="262511" y="94676"/>
                </a:lnTo>
                <a:cubicBezTo>
                  <a:pt x="269666" y="94676"/>
                  <a:pt x="275422" y="88920"/>
                  <a:pt x="275422" y="81766"/>
                </a:cubicBezTo>
                <a:cubicBezTo>
                  <a:pt x="275422" y="74611"/>
                  <a:pt x="269666" y="68855"/>
                  <a:pt x="262511" y="68855"/>
                </a:cubicBezTo>
                <a:lnTo>
                  <a:pt x="240994" y="68855"/>
                </a:lnTo>
                <a:cubicBezTo>
                  <a:pt x="240994" y="49866"/>
                  <a:pt x="225555" y="34428"/>
                  <a:pt x="206566" y="34428"/>
                </a:cubicBezTo>
                <a:lnTo>
                  <a:pt x="206566" y="12910"/>
                </a:lnTo>
                <a:cubicBezTo>
                  <a:pt x="206566" y="5756"/>
                  <a:pt x="200810" y="0"/>
                  <a:pt x="193656" y="0"/>
                </a:cubicBezTo>
                <a:cubicBezTo>
                  <a:pt x="186501" y="0"/>
                  <a:pt x="180745" y="5756"/>
                  <a:pt x="180745" y="12910"/>
                </a:cubicBezTo>
                <a:lnTo>
                  <a:pt x="180745" y="34428"/>
                </a:lnTo>
                <a:lnTo>
                  <a:pt x="150621" y="34428"/>
                </a:lnTo>
                <a:lnTo>
                  <a:pt x="150621" y="12910"/>
                </a:lnTo>
                <a:cubicBezTo>
                  <a:pt x="150621" y="5756"/>
                  <a:pt x="144865" y="0"/>
                  <a:pt x="137711" y="0"/>
                </a:cubicBezTo>
                <a:cubicBezTo>
                  <a:pt x="130556" y="0"/>
                  <a:pt x="124800" y="5756"/>
                  <a:pt x="124800" y="12910"/>
                </a:cubicBezTo>
                <a:lnTo>
                  <a:pt x="124800" y="34428"/>
                </a:lnTo>
                <a:lnTo>
                  <a:pt x="94676" y="34428"/>
                </a:lnTo>
                <a:lnTo>
                  <a:pt x="94676" y="12910"/>
                </a:lnTo>
                <a:close/>
                <a:moveTo>
                  <a:pt x="86069" y="68855"/>
                </a:moveTo>
                <a:lnTo>
                  <a:pt x="189352" y="68855"/>
                </a:lnTo>
                <a:cubicBezTo>
                  <a:pt x="198874" y="68855"/>
                  <a:pt x="206566" y="76548"/>
                  <a:pt x="206566" y="86069"/>
                </a:cubicBezTo>
                <a:lnTo>
                  <a:pt x="206566" y="189352"/>
                </a:lnTo>
                <a:cubicBezTo>
                  <a:pt x="206566" y="198874"/>
                  <a:pt x="198874" y="206566"/>
                  <a:pt x="189352" y="206566"/>
                </a:cubicBezTo>
                <a:lnTo>
                  <a:pt x="86069" y="206566"/>
                </a:lnTo>
                <a:cubicBezTo>
                  <a:pt x="76548" y="206566"/>
                  <a:pt x="68855" y="198874"/>
                  <a:pt x="68855" y="189352"/>
                </a:cubicBezTo>
                <a:lnTo>
                  <a:pt x="68855" y="86069"/>
                </a:lnTo>
                <a:cubicBezTo>
                  <a:pt x="68855" y="76548"/>
                  <a:pt x="76548" y="68855"/>
                  <a:pt x="86069" y="68855"/>
                </a:cubicBezTo>
                <a:close/>
                <a:moveTo>
                  <a:pt x="94676" y="94676"/>
                </a:moveTo>
                <a:lnTo>
                  <a:pt x="94676" y="180745"/>
                </a:lnTo>
                <a:lnTo>
                  <a:pt x="180745" y="180745"/>
                </a:lnTo>
                <a:lnTo>
                  <a:pt x="180745" y="94676"/>
                </a:lnTo>
                <a:lnTo>
                  <a:pt x="94676" y="9467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565880" y="4480193"/>
            <a:ext cx="3057181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Decoder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(FEC)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01542" y="4379205"/>
            <a:ext cx="330506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7952" y="3883446"/>
            <a:ext cx="3295880" cy="1285301"/>
          </a:xfrm>
          <a:custGeom>
            <a:avLst/>
            <a:gdLst/>
            <a:ahLst/>
            <a:cxnLst/>
            <a:rect l="l" t="t" r="r" b="b"/>
            <a:pathLst>
              <a:path w="3295880" h="1285301">
                <a:moveTo>
                  <a:pt x="73442" y="0"/>
                </a:moveTo>
                <a:lnTo>
                  <a:pt x="3222437" y="0"/>
                </a:lnTo>
                <a:cubicBezTo>
                  <a:pt x="3262998" y="0"/>
                  <a:pt x="3295880" y="32881"/>
                  <a:pt x="3295880" y="73442"/>
                </a:cubicBezTo>
                <a:lnTo>
                  <a:pt x="3295880" y="1211859"/>
                </a:lnTo>
                <a:cubicBezTo>
                  <a:pt x="3295880" y="1252420"/>
                  <a:pt x="3262998" y="1285301"/>
                  <a:pt x="3222437" y="1285301"/>
                </a:cubicBezTo>
                <a:lnTo>
                  <a:pt x="73442" y="1285301"/>
                </a:lnTo>
                <a:cubicBezTo>
                  <a:pt x="32908" y="1285301"/>
                  <a:pt x="0" y="1252393"/>
                  <a:pt x="0" y="1211859"/>
                </a:cubicBezTo>
                <a:lnTo>
                  <a:pt x="0" y="73442"/>
                </a:lnTo>
                <a:cubicBezTo>
                  <a:pt x="0" y="32908"/>
                  <a:pt x="32908" y="0"/>
                  <a:pt x="73442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792006" y="4039518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34428" y="34428"/>
                </a:moveTo>
                <a:cubicBezTo>
                  <a:pt x="34428" y="24906"/>
                  <a:pt x="26735" y="17214"/>
                  <a:pt x="17214" y="17214"/>
                </a:cubicBezTo>
                <a:cubicBezTo>
                  <a:pt x="7692" y="17214"/>
                  <a:pt x="0" y="24906"/>
                  <a:pt x="0" y="34428"/>
                </a:cubicBezTo>
                <a:lnTo>
                  <a:pt x="0" y="215173"/>
                </a:lnTo>
                <a:cubicBezTo>
                  <a:pt x="0" y="238950"/>
                  <a:pt x="19258" y="258208"/>
                  <a:pt x="43035" y="258208"/>
                </a:cubicBezTo>
                <a:lnTo>
                  <a:pt x="258208" y="258208"/>
                </a:lnTo>
                <a:cubicBezTo>
                  <a:pt x="267729" y="258208"/>
                  <a:pt x="275422" y="250515"/>
                  <a:pt x="275422" y="240994"/>
                </a:cubicBezTo>
                <a:cubicBezTo>
                  <a:pt x="275422" y="231473"/>
                  <a:pt x="267729" y="223780"/>
                  <a:pt x="258208" y="223780"/>
                </a:cubicBezTo>
                <a:lnTo>
                  <a:pt x="43035" y="223780"/>
                </a:lnTo>
                <a:cubicBezTo>
                  <a:pt x="38301" y="223780"/>
                  <a:pt x="34428" y="219907"/>
                  <a:pt x="34428" y="215173"/>
                </a:cubicBezTo>
                <a:lnTo>
                  <a:pt x="34428" y="34428"/>
                </a:lnTo>
                <a:close/>
                <a:moveTo>
                  <a:pt x="253151" y="81013"/>
                </a:moveTo>
                <a:cubicBezTo>
                  <a:pt x="259875" y="74289"/>
                  <a:pt x="259875" y="63369"/>
                  <a:pt x="253151" y="56644"/>
                </a:cubicBezTo>
                <a:cubicBezTo>
                  <a:pt x="246427" y="49920"/>
                  <a:pt x="235507" y="49920"/>
                  <a:pt x="228783" y="56644"/>
                </a:cubicBezTo>
                <a:lnTo>
                  <a:pt x="172139" y="113342"/>
                </a:lnTo>
                <a:lnTo>
                  <a:pt x="141261" y="82519"/>
                </a:lnTo>
                <a:cubicBezTo>
                  <a:pt x="134537" y="75795"/>
                  <a:pt x="123617" y="75795"/>
                  <a:pt x="116893" y="82519"/>
                </a:cubicBezTo>
                <a:lnTo>
                  <a:pt x="65251" y="134160"/>
                </a:lnTo>
                <a:cubicBezTo>
                  <a:pt x="58527" y="140885"/>
                  <a:pt x="58527" y="151805"/>
                  <a:pt x="65251" y="158529"/>
                </a:cubicBezTo>
                <a:cubicBezTo>
                  <a:pt x="71975" y="165253"/>
                  <a:pt x="82895" y="165253"/>
                  <a:pt x="89620" y="158529"/>
                </a:cubicBezTo>
                <a:lnTo>
                  <a:pt x="129104" y="119045"/>
                </a:lnTo>
                <a:lnTo>
                  <a:pt x="159981" y="149922"/>
                </a:lnTo>
                <a:cubicBezTo>
                  <a:pt x="166705" y="156646"/>
                  <a:pt x="177625" y="156646"/>
                  <a:pt x="184350" y="149922"/>
                </a:cubicBezTo>
                <a:lnTo>
                  <a:pt x="253205" y="8106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8397301" y="4388386"/>
            <a:ext cx="3057181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Metrics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06482" y="4865783"/>
            <a:ext cx="3038819" cy="1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 / Throughput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0289" y="5640024"/>
            <a:ext cx="3715133" cy="1217976"/>
          </a:xfrm>
          <a:custGeom>
            <a:avLst/>
            <a:gdLst/>
            <a:ahLst/>
            <a:cxnLst/>
            <a:rect l="l" t="t" r="r" b="b"/>
            <a:pathLst>
              <a:path w="3715133" h="1217976">
                <a:moveTo>
                  <a:pt x="73444" y="0"/>
                </a:moveTo>
                <a:lnTo>
                  <a:pt x="3641689" y="0"/>
                </a:lnTo>
                <a:cubicBezTo>
                  <a:pt x="3682251" y="0"/>
                  <a:pt x="3715133" y="32882"/>
                  <a:pt x="3715133" y="73444"/>
                </a:cubicBezTo>
                <a:lnTo>
                  <a:pt x="3715133" y="1144532"/>
                </a:lnTo>
                <a:cubicBezTo>
                  <a:pt x="3715133" y="1185094"/>
                  <a:pt x="3682251" y="1217976"/>
                  <a:pt x="3641689" y="1217976"/>
                </a:cubicBezTo>
                <a:lnTo>
                  <a:pt x="73444" y="1217976"/>
                </a:lnTo>
                <a:cubicBezTo>
                  <a:pt x="32882" y="1217976"/>
                  <a:pt x="0" y="1185094"/>
                  <a:pt x="0" y="1144532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F9FAFB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8602" y="5826702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15849" y="9869"/>
                </a:moveTo>
                <a:cubicBezTo>
                  <a:pt x="119292" y="8435"/>
                  <a:pt x="123223" y="9238"/>
                  <a:pt x="125862" y="11849"/>
                </a:cubicBezTo>
                <a:lnTo>
                  <a:pt x="144223" y="30210"/>
                </a:lnTo>
                <a:cubicBezTo>
                  <a:pt x="145945" y="31932"/>
                  <a:pt x="146920" y="34256"/>
                  <a:pt x="146920" y="36694"/>
                </a:cubicBezTo>
                <a:cubicBezTo>
                  <a:pt x="146920" y="39133"/>
                  <a:pt x="145945" y="41457"/>
                  <a:pt x="144223" y="43178"/>
                </a:cubicBezTo>
                <a:lnTo>
                  <a:pt x="125862" y="61540"/>
                </a:lnTo>
                <a:cubicBezTo>
                  <a:pt x="123223" y="64179"/>
                  <a:pt x="119292" y="64954"/>
                  <a:pt x="115849" y="63519"/>
                </a:cubicBezTo>
                <a:cubicBezTo>
                  <a:pt x="112406" y="62085"/>
                  <a:pt x="110169" y="58785"/>
                  <a:pt x="110169" y="55084"/>
                </a:cubicBezTo>
                <a:lnTo>
                  <a:pt x="110169" y="45904"/>
                </a:lnTo>
                <a:lnTo>
                  <a:pt x="100988" y="45904"/>
                </a:lnTo>
                <a:cubicBezTo>
                  <a:pt x="98090" y="45904"/>
                  <a:pt x="95365" y="47252"/>
                  <a:pt x="93643" y="49576"/>
                </a:cubicBezTo>
                <a:lnTo>
                  <a:pt x="84348" y="61970"/>
                </a:lnTo>
                <a:lnTo>
                  <a:pt x="72872" y="46678"/>
                </a:lnTo>
                <a:lnTo>
                  <a:pt x="78954" y="38559"/>
                </a:lnTo>
                <a:cubicBezTo>
                  <a:pt x="84147" y="31616"/>
                  <a:pt x="92324" y="27542"/>
                  <a:pt x="100988" y="27542"/>
                </a:cubicBezTo>
                <a:lnTo>
                  <a:pt x="110169" y="27542"/>
                </a:lnTo>
                <a:lnTo>
                  <a:pt x="110169" y="18361"/>
                </a:lnTo>
                <a:cubicBezTo>
                  <a:pt x="110169" y="14660"/>
                  <a:pt x="112406" y="11304"/>
                  <a:pt x="115849" y="9869"/>
                </a:cubicBezTo>
                <a:close/>
                <a:moveTo>
                  <a:pt x="44182" y="84922"/>
                </a:moveTo>
                <a:lnTo>
                  <a:pt x="55658" y="100213"/>
                </a:lnTo>
                <a:lnTo>
                  <a:pt x="49576" y="108333"/>
                </a:lnTo>
                <a:cubicBezTo>
                  <a:pt x="44383" y="115275"/>
                  <a:pt x="36206" y="119349"/>
                  <a:pt x="27542" y="119349"/>
                </a:cubicBezTo>
                <a:lnTo>
                  <a:pt x="9181" y="119349"/>
                </a:lnTo>
                <a:cubicBezTo>
                  <a:pt x="4103" y="119349"/>
                  <a:pt x="0" y="115247"/>
                  <a:pt x="0" y="110169"/>
                </a:cubicBezTo>
                <a:cubicBezTo>
                  <a:pt x="0" y="105091"/>
                  <a:pt x="4103" y="100988"/>
                  <a:pt x="9181" y="100988"/>
                </a:cubicBezTo>
                <a:lnTo>
                  <a:pt x="27542" y="100988"/>
                </a:lnTo>
                <a:cubicBezTo>
                  <a:pt x="30440" y="100988"/>
                  <a:pt x="33165" y="99640"/>
                  <a:pt x="34887" y="97316"/>
                </a:cubicBezTo>
                <a:lnTo>
                  <a:pt x="44182" y="84922"/>
                </a:lnTo>
                <a:close/>
                <a:moveTo>
                  <a:pt x="125833" y="135014"/>
                </a:moveTo>
                <a:cubicBezTo>
                  <a:pt x="123194" y="137653"/>
                  <a:pt x="119263" y="138428"/>
                  <a:pt x="115821" y="136994"/>
                </a:cubicBezTo>
                <a:cubicBezTo>
                  <a:pt x="112378" y="135559"/>
                  <a:pt x="110169" y="132231"/>
                  <a:pt x="110169" y="128530"/>
                </a:cubicBezTo>
                <a:lnTo>
                  <a:pt x="110169" y="119349"/>
                </a:lnTo>
                <a:lnTo>
                  <a:pt x="100988" y="119349"/>
                </a:lnTo>
                <a:cubicBezTo>
                  <a:pt x="92324" y="119349"/>
                  <a:pt x="84147" y="115275"/>
                  <a:pt x="78954" y="108333"/>
                </a:cubicBezTo>
                <a:lnTo>
                  <a:pt x="34887" y="49576"/>
                </a:lnTo>
                <a:cubicBezTo>
                  <a:pt x="33165" y="47252"/>
                  <a:pt x="30440" y="45904"/>
                  <a:pt x="27542" y="45904"/>
                </a:cubicBezTo>
                <a:lnTo>
                  <a:pt x="9181" y="45904"/>
                </a:lnTo>
                <a:cubicBezTo>
                  <a:pt x="4103" y="45904"/>
                  <a:pt x="0" y="41801"/>
                  <a:pt x="0" y="36723"/>
                </a:cubicBezTo>
                <a:cubicBezTo>
                  <a:pt x="0" y="31645"/>
                  <a:pt x="4103" y="27542"/>
                  <a:pt x="9181" y="27542"/>
                </a:cubicBezTo>
                <a:lnTo>
                  <a:pt x="27542" y="27542"/>
                </a:lnTo>
                <a:cubicBezTo>
                  <a:pt x="36206" y="27542"/>
                  <a:pt x="44383" y="31616"/>
                  <a:pt x="49576" y="38559"/>
                </a:cubicBezTo>
                <a:lnTo>
                  <a:pt x="93643" y="97316"/>
                </a:lnTo>
                <a:cubicBezTo>
                  <a:pt x="95365" y="99640"/>
                  <a:pt x="98090" y="100988"/>
                  <a:pt x="100988" y="100988"/>
                </a:cubicBezTo>
                <a:lnTo>
                  <a:pt x="110169" y="100988"/>
                </a:lnTo>
                <a:lnTo>
                  <a:pt x="110169" y="91807"/>
                </a:lnTo>
                <a:cubicBezTo>
                  <a:pt x="110169" y="88106"/>
                  <a:pt x="112406" y="84750"/>
                  <a:pt x="115849" y="83315"/>
                </a:cubicBezTo>
                <a:cubicBezTo>
                  <a:pt x="119292" y="81881"/>
                  <a:pt x="123223" y="82684"/>
                  <a:pt x="125862" y="85295"/>
                </a:cubicBezTo>
                <a:lnTo>
                  <a:pt x="144223" y="103656"/>
                </a:lnTo>
                <a:cubicBezTo>
                  <a:pt x="145945" y="105377"/>
                  <a:pt x="146920" y="107701"/>
                  <a:pt x="146920" y="110140"/>
                </a:cubicBezTo>
                <a:cubicBezTo>
                  <a:pt x="146920" y="112579"/>
                  <a:pt x="145945" y="114902"/>
                  <a:pt x="144223" y="116624"/>
                </a:cubicBezTo>
                <a:lnTo>
                  <a:pt x="125862" y="13498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703855" y="5789979"/>
            <a:ext cx="3305060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Fading Models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0241" y="6083762"/>
            <a:ext cx="347949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Rayleigh:</a:t>
            </a:r>
            <a:r>
              <a:rPr lang="en-US" sz="101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No line-of-sight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0241" y="6304099"/>
            <a:ext cx="347949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Rician:</a:t>
            </a:r>
            <a:r>
              <a:rPr lang="en-US" sz="101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line-of-sight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38434" y="5640024"/>
            <a:ext cx="3715133" cy="1217976"/>
          </a:xfrm>
          <a:custGeom>
            <a:avLst/>
            <a:gdLst/>
            <a:ahLst/>
            <a:cxnLst/>
            <a:rect l="l" t="t" r="r" b="b"/>
            <a:pathLst>
              <a:path w="3715133" h="1217976">
                <a:moveTo>
                  <a:pt x="73444" y="0"/>
                </a:moveTo>
                <a:lnTo>
                  <a:pt x="3641689" y="0"/>
                </a:lnTo>
                <a:cubicBezTo>
                  <a:pt x="3682251" y="0"/>
                  <a:pt x="3715133" y="32882"/>
                  <a:pt x="3715133" y="73444"/>
                </a:cubicBezTo>
                <a:lnTo>
                  <a:pt x="3715133" y="1144532"/>
                </a:lnTo>
                <a:cubicBezTo>
                  <a:pt x="3715133" y="1185094"/>
                  <a:pt x="3682251" y="1217976"/>
                  <a:pt x="3641689" y="1217976"/>
                </a:cubicBezTo>
                <a:lnTo>
                  <a:pt x="73444" y="1217976"/>
                </a:lnTo>
                <a:cubicBezTo>
                  <a:pt x="32882" y="1217976"/>
                  <a:pt x="0" y="1185094"/>
                  <a:pt x="0" y="1144532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F9FAFB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06747" y="5826702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25288" y="21431"/>
                </a:moveTo>
                <a:lnTo>
                  <a:pt x="128530" y="24501"/>
                </a:lnTo>
                <a:lnTo>
                  <a:pt x="128530" y="9181"/>
                </a:lnTo>
                <a:cubicBezTo>
                  <a:pt x="128530" y="4103"/>
                  <a:pt x="132633" y="0"/>
                  <a:pt x="137711" y="0"/>
                </a:cubicBezTo>
                <a:cubicBezTo>
                  <a:pt x="142789" y="0"/>
                  <a:pt x="146892" y="4103"/>
                  <a:pt x="146892" y="9181"/>
                </a:cubicBezTo>
                <a:lnTo>
                  <a:pt x="146892" y="45904"/>
                </a:lnTo>
                <a:cubicBezTo>
                  <a:pt x="146892" y="50982"/>
                  <a:pt x="142789" y="55084"/>
                  <a:pt x="137711" y="55084"/>
                </a:cubicBezTo>
                <a:lnTo>
                  <a:pt x="100988" y="55084"/>
                </a:lnTo>
                <a:cubicBezTo>
                  <a:pt x="95910" y="55084"/>
                  <a:pt x="91807" y="50982"/>
                  <a:pt x="91807" y="45904"/>
                </a:cubicBezTo>
                <a:cubicBezTo>
                  <a:pt x="91807" y="40826"/>
                  <a:pt x="95910" y="36723"/>
                  <a:pt x="100988" y="36723"/>
                </a:cubicBezTo>
                <a:lnTo>
                  <a:pt x="114730" y="36723"/>
                </a:lnTo>
                <a:lnTo>
                  <a:pt x="112550" y="34657"/>
                </a:lnTo>
                <a:cubicBezTo>
                  <a:pt x="112493" y="34600"/>
                  <a:pt x="112435" y="34542"/>
                  <a:pt x="112378" y="34485"/>
                </a:cubicBezTo>
                <a:cubicBezTo>
                  <a:pt x="90860" y="12968"/>
                  <a:pt x="56002" y="12968"/>
                  <a:pt x="34485" y="34485"/>
                </a:cubicBezTo>
                <a:cubicBezTo>
                  <a:pt x="12968" y="56002"/>
                  <a:pt x="12968" y="90860"/>
                  <a:pt x="34485" y="112378"/>
                </a:cubicBezTo>
                <a:cubicBezTo>
                  <a:pt x="56002" y="133895"/>
                  <a:pt x="90860" y="133895"/>
                  <a:pt x="112378" y="112378"/>
                </a:cubicBezTo>
                <a:cubicBezTo>
                  <a:pt x="114730" y="110025"/>
                  <a:pt x="116825" y="107529"/>
                  <a:pt x="118661" y="104890"/>
                </a:cubicBezTo>
                <a:cubicBezTo>
                  <a:pt x="121559" y="100730"/>
                  <a:pt x="127296" y="99726"/>
                  <a:pt x="131456" y="102623"/>
                </a:cubicBezTo>
                <a:cubicBezTo>
                  <a:pt x="135616" y="105521"/>
                  <a:pt x="136621" y="111259"/>
                  <a:pt x="133723" y="115419"/>
                </a:cubicBezTo>
                <a:cubicBezTo>
                  <a:pt x="131284" y="118919"/>
                  <a:pt x="128501" y="122247"/>
                  <a:pt x="125374" y="125374"/>
                </a:cubicBezTo>
                <a:cubicBezTo>
                  <a:pt x="96684" y="154064"/>
                  <a:pt x="50178" y="154064"/>
                  <a:pt x="21517" y="125374"/>
                </a:cubicBezTo>
                <a:cubicBezTo>
                  <a:pt x="-7144" y="96684"/>
                  <a:pt x="-7172" y="50207"/>
                  <a:pt x="21517" y="21517"/>
                </a:cubicBezTo>
                <a:cubicBezTo>
                  <a:pt x="50178" y="-7144"/>
                  <a:pt x="96598" y="-7172"/>
                  <a:pt x="125288" y="214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0" y="5789979"/>
            <a:ext cx="3305060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 Mechanisms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88386" y="6083762"/>
            <a:ext cx="347949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I:</a:t>
            </a:r>
            <a:r>
              <a:rPr lang="en-US" sz="101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Simple ARQ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88386" y="6304099"/>
            <a:ext cx="347949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CC:</a:t>
            </a:r>
            <a:r>
              <a:rPr lang="en-US" sz="101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Signal combining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88386" y="6524437"/>
            <a:ext cx="347949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IR:</a:t>
            </a:r>
            <a:r>
              <a:rPr lang="en-US" sz="101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Code combining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6579" y="5640024"/>
            <a:ext cx="3715133" cy="1217976"/>
          </a:xfrm>
          <a:custGeom>
            <a:avLst/>
            <a:gdLst/>
            <a:ahLst/>
            <a:cxnLst/>
            <a:rect l="l" t="t" r="r" b="b"/>
            <a:pathLst>
              <a:path w="3715133" h="1217976">
                <a:moveTo>
                  <a:pt x="73444" y="0"/>
                </a:moveTo>
                <a:lnTo>
                  <a:pt x="3641689" y="0"/>
                </a:lnTo>
                <a:cubicBezTo>
                  <a:pt x="3682251" y="0"/>
                  <a:pt x="3715133" y="32882"/>
                  <a:pt x="3715133" y="73444"/>
                </a:cubicBezTo>
                <a:lnTo>
                  <a:pt x="3715133" y="1144532"/>
                </a:lnTo>
                <a:cubicBezTo>
                  <a:pt x="3715133" y="1185094"/>
                  <a:pt x="3682251" y="1217976"/>
                  <a:pt x="3641689" y="1217976"/>
                </a:cubicBezTo>
                <a:lnTo>
                  <a:pt x="73444" y="1217976"/>
                </a:lnTo>
                <a:cubicBezTo>
                  <a:pt x="32882" y="1217976"/>
                  <a:pt x="0" y="1185094"/>
                  <a:pt x="0" y="1144532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F9FAFB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93253" y="5826702"/>
            <a:ext cx="110169" cy="146892"/>
          </a:xfrm>
          <a:custGeom>
            <a:avLst/>
            <a:gdLst/>
            <a:ahLst/>
            <a:cxnLst/>
            <a:rect l="l" t="t" r="r" b="b"/>
            <a:pathLst>
              <a:path w="110169" h="146892">
                <a:moveTo>
                  <a:pt x="18361" y="0"/>
                </a:moveTo>
                <a:cubicBezTo>
                  <a:pt x="8234" y="0"/>
                  <a:pt x="0" y="8234"/>
                  <a:pt x="0" y="18361"/>
                </a:cubicBezTo>
                <a:lnTo>
                  <a:pt x="0" y="128530"/>
                </a:lnTo>
                <a:cubicBezTo>
                  <a:pt x="0" y="138658"/>
                  <a:pt x="8234" y="146892"/>
                  <a:pt x="18361" y="146892"/>
                </a:cubicBezTo>
                <a:lnTo>
                  <a:pt x="91807" y="146892"/>
                </a:lnTo>
                <a:cubicBezTo>
                  <a:pt x="101935" y="146892"/>
                  <a:pt x="110169" y="138658"/>
                  <a:pt x="110169" y="128530"/>
                </a:cubicBezTo>
                <a:lnTo>
                  <a:pt x="110169" y="18361"/>
                </a:lnTo>
                <a:cubicBezTo>
                  <a:pt x="110169" y="8234"/>
                  <a:pt x="101935" y="0"/>
                  <a:pt x="91807" y="0"/>
                </a:cubicBezTo>
                <a:lnTo>
                  <a:pt x="18361" y="0"/>
                </a:lnTo>
                <a:close/>
                <a:moveTo>
                  <a:pt x="27542" y="18361"/>
                </a:moveTo>
                <a:lnTo>
                  <a:pt x="82627" y="18361"/>
                </a:lnTo>
                <a:cubicBezTo>
                  <a:pt x="87705" y="18361"/>
                  <a:pt x="91807" y="22464"/>
                  <a:pt x="91807" y="27542"/>
                </a:cubicBezTo>
                <a:lnTo>
                  <a:pt x="91807" y="36723"/>
                </a:lnTo>
                <a:cubicBezTo>
                  <a:pt x="91807" y="41801"/>
                  <a:pt x="87705" y="45904"/>
                  <a:pt x="82627" y="45904"/>
                </a:cubicBezTo>
                <a:lnTo>
                  <a:pt x="27542" y="45904"/>
                </a:lnTo>
                <a:cubicBezTo>
                  <a:pt x="22464" y="45904"/>
                  <a:pt x="18361" y="41801"/>
                  <a:pt x="18361" y="36723"/>
                </a:cubicBezTo>
                <a:lnTo>
                  <a:pt x="18361" y="27542"/>
                </a:lnTo>
                <a:cubicBezTo>
                  <a:pt x="18361" y="22464"/>
                  <a:pt x="22464" y="18361"/>
                  <a:pt x="27542" y="18361"/>
                </a:cubicBezTo>
                <a:close/>
                <a:moveTo>
                  <a:pt x="32133" y="66560"/>
                </a:moveTo>
                <a:cubicBezTo>
                  <a:pt x="32133" y="70360"/>
                  <a:pt x="29047" y="73446"/>
                  <a:pt x="25247" y="73446"/>
                </a:cubicBezTo>
                <a:cubicBezTo>
                  <a:pt x="21447" y="73446"/>
                  <a:pt x="18361" y="70360"/>
                  <a:pt x="18361" y="66560"/>
                </a:cubicBezTo>
                <a:cubicBezTo>
                  <a:pt x="18361" y="62760"/>
                  <a:pt x="21447" y="59675"/>
                  <a:pt x="25247" y="59675"/>
                </a:cubicBezTo>
                <a:cubicBezTo>
                  <a:pt x="29047" y="59675"/>
                  <a:pt x="32133" y="62760"/>
                  <a:pt x="32133" y="66560"/>
                </a:cubicBezTo>
                <a:close/>
                <a:moveTo>
                  <a:pt x="55084" y="73446"/>
                </a:moveTo>
                <a:cubicBezTo>
                  <a:pt x="51284" y="73446"/>
                  <a:pt x="48199" y="70360"/>
                  <a:pt x="48199" y="66560"/>
                </a:cubicBezTo>
                <a:cubicBezTo>
                  <a:pt x="48199" y="62760"/>
                  <a:pt x="51284" y="59675"/>
                  <a:pt x="55084" y="59675"/>
                </a:cubicBezTo>
                <a:cubicBezTo>
                  <a:pt x="58885" y="59675"/>
                  <a:pt x="61970" y="62760"/>
                  <a:pt x="61970" y="66560"/>
                </a:cubicBezTo>
                <a:cubicBezTo>
                  <a:pt x="61970" y="70360"/>
                  <a:pt x="58885" y="73446"/>
                  <a:pt x="55084" y="73446"/>
                </a:cubicBezTo>
                <a:close/>
                <a:moveTo>
                  <a:pt x="91807" y="66560"/>
                </a:moveTo>
                <a:cubicBezTo>
                  <a:pt x="91807" y="70360"/>
                  <a:pt x="88722" y="73446"/>
                  <a:pt x="84922" y="73446"/>
                </a:cubicBezTo>
                <a:cubicBezTo>
                  <a:pt x="81121" y="73446"/>
                  <a:pt x="78036" y="70360"/>
                  <a:pt x="78036" y="66560"/>
                </a:cubicBezTo>
                <a:cubicBezTo>
                  <a:pt x="78036" y="62760"/>
                  <a:pt x="81121" y="59675"/>
                  <a:pt x="84922" y="59675"/>
                </a:cubicBezTo>
                <a:cubicBezTo>
                  <a:pt x="88722" y="59675"/>
                  <a:pt x="91807" y="62760"/>
                  <a:pt x="91807" y="66560"/>
                </a:cubicBezTo>
                <a:close/>
                <a:moveTo>
                  <a:pt x="25247" y="100988"/>
                </a:moveTo>
                <a:cubicBezTo>
                  <a:pt x="21447" y="100988"/>
                  <a:pt x="18361" y="97903"/>
                  <a:pt x="18361" y="94102"/>
                </a:cubicBezTo>
                <a:cubicBezTo>
                  <a:pt x="18361" y="90302"/>
                  <a:pt x="21447" y="87217"/>
                  <a:pt x="25247" y="87217"/>
                </a:cubicBezTo>
                <a:cubicBezTo>
                  <a:pt x="29047" y="87217"/>
                  <a:pt x="32133" y="90302"/>
                  <a:pt x="32133" y="94102"/>
                </a:cubicBezTo>
                <a:cubicBezTo>
                  <a:pt x="32133" y="97903"/>
                  <a:pt x="29047" y="100988"/>
                  <a:pt x="25247" y="100988"/>
                </a:cubicBezTo>
                <a:close/>
                <a:moveTo>
                  <a:pt x="61970" y="94102"/>
                </a:moveTo>
                <a:cubicBezTo>
                  <a:pt x="61970" y="97903"/>
                  <a:pt x="58885" y="100988"/>
                  <a:pt x="55084" y="100988"/>
                </a:cubicBezTo>
                <a:cubicBezTo>
                  <a:pt x="51284" y="100988"/>
                  <a:pt x="48199" y="97903"/>
                  <a:pt x="48199" y="94102"/>
                </a:cubicBezTo>
                <a:cubicBezTo>
                  <a:pt x="48199" y="90302"/>
                  <a:pt x="51284" y="87217"/>
                  <a:pt x="55084" y="87217"/>
                </a:cubicBezTo>
                <a:cubicBezTo>
                  <a:pt x="58885" y="87217"/>
                  <a:pt x="61970" y="90302"/>
                  <a:pt x="61970" y="94102"/>
                </a:cubicBezTo>
                <a:close/>
                <a:moveTo>
                  <a:pt x="84922" y="100988"/>
                </a:moveTo>
                <a:cubicBezTo>
                  <a:pt x="81121" y="100988"/>
                  <a:pt x="78036" y="97903"/>
                  <a:pt x="78036" y="94102"/>
                </a:cubicBezTo>
                <a:cubicBezTo>
                  <a:pt x="78036" y="90302"/>
                  <a:pt x="81121" y="87217"/>
                  <a:pt x="84922" y="87217"/>
                </a:cubicBezTo>
                <a:cubicBezTo>
                  <a:pt x="88722" y="87217"/>
                  <a:pt x="91807" y="90302"/>
                  <a:pt x="91807" y="94102"/>
                </a:cubicBezTo>
                <a:cubicBezTo>
                  <a:pt x="91807" y="97903"/>
                  <a:pt x="88722" y="100988"/>
                  <a:pt x="84922" y="100988"/>
                </a:cubicBezTo>
                <a:close/>
                <a:moveTo>
                  <a:pt x="18361" y="121645"/>
                </a:moveTo>
                <a:cubicBezTo>
                  <a:pt x="18361" y="117829"/>
                  <a:pt x="21431" y="114759"/>
                  <a:pt x="25247" y="114759"/>
                </a:cubicBezTo>
                <a:lnTo>
                  <a:pt x="57380" y="114759"/>
                </a:lnTo>
                <a:cubicBezTo>
                  <a:pt x="61195" y="114759"/>
                  <a:pt x="64265" y="117829"/>
                  <a:pt x="64265" y="121645"/>
                </a:cubicBezTo>
                <a:cubicBezTo>
                  <a:pt x="64265" y="125460"/>
                  <a:pt x="61195" y="128530"/>
                  <a:pt x="57380" y="128530"/>
                </a:cubicBezTo>
                <a:lnTo>
                  <a:pt x="25247" y="128530"/>
                </a:lnTo>
                <a:cubicBezTo>
                  <a:pt x="21431" y="128530"/>
                  <a:pt x="18361" y="125460"/>
                  <a:pt x="18361" y="121645"/>
                </a:cubicBezTo>
                <a:close/>
                <a:moveTo>
                  <a:pt x="84922" y="114759"/>
                </a:moveTo>
                <a:cubicBezTo>
                  <a:pt x="88737" y="114759"/>
                  <a:pt x="91807" y="117829"/>
                  <a:pt x="91807" y="121645"/>
                </a:cubicBezTo>
                <a:cubicBezTo>
                  <a:pt x="91807" y="125460"/>
                  <a:pt x="88737" y="128530"/>
                  <a:pt x="84922" y="128530"/>
                </a:cubicBezTo>
                <a:cubicBezTo>
                  <a:pt x="81106" y="128530"/>
                  <a:pt x="78036" y="125460"/>
                  <a:pt x="78036" y="121645"/>
                </a:cubicBezTo>
                <a:cubicBezTo>
                  <a:pt x="78036" y="117829"/>
                  <a:pt x="81106" y="114759"/>
                  <a:pt x="84922" y="11475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8440145" y="5789979"/>
            <a:ext cx="3305060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Measurements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56530" y="6083762"/>
            <a:ext cx="347949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BER:</a:t>
            </a:r>
            <a:r>
              <a:rPr lang="en-US" sz="101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Error probability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56530" y="6304099"/>
            <a:ext cx="347949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Throughput:</a:t>
            </a:r>
            <a:r>
              <a:rPr lang="en-US" sz="101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Data rate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62173" y="53340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3686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Methodology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4175" y="1317625"/>
            <a:ext cx="11426825" cy="663575"/>
          </a:xfrm>
          <a:custGeom>
            <a:avLst/>
            <a:gdLst/>
            <a:ahLst/>
            <a:cxnLst/>
            <a:rect l="l" t="t" r="r" b="b"/>
            <a:pathLst>
              <a:path w="11426825" h="663575">
                <a:moveTo>
                  <a:pt x="76198" y="0"/>
                </a:moveTo>
                <a:lnTo>
                  <a:pt x="11350627" y="0"/>
                </a:lnTo>
                <a:cubicBezTo>
                  <a:pt x="11392710" y="0"/>
                  <a:pt x="11426825" y="34115"/>
                  <a:pt x="11426825" y="76198"/>
                </a:cubicBezTo>
                <a:lnTo>
                  <a:pt x="11426825" y="587377"/>
                </a:lnTo>
                <a:cubicBezTo>
                  <a:pt x="11426825" y="629460"/>
                  <a:pt x="11392710" y="663575"/>
                  <a:pt x="11350627" y="663575"/>
                </a:cubicBezTo>
                <a:lnTo>
                  <a:pt x="76198" y="663575"/>
                </a:lnTo>
                <a:cubicBezTo>
                  <a:pt x="34143" y="663575"/>
                  <a:pt x="0" y="629432"/>
                  <a:pt x="0" y="5873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850" y="1511303"/>
            <a:ext cx="111252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comprehensive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MATLAB-based simulation framework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was developed to evaluate HARQ performance under controlled channel conditions.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0525" y="2186783"/>
            <a:ext cx="5581650" cy="3486150"/>
          </a:xfrm>
          <a:custGeom>
            <a:avLst/>
            <a:gdLst/>
            <a:ahLst/>
            <a:cxnLst/>
            <a:rect l="l" t="t" r="r" b="b"/>
            <a:pathLst>
              <a:path w="5581650" h="3486150">
                <a:moveTo>
                  <a:pt x="76207" y="0"/>
                </a:moveTo>
                <a:lnTo>
                  <a:pt x="5505443" y="0"/>
                </a:lnTo>
                <a:cubicBezTo>
                  <a:pt x="5547531" y="0"/>
                  <a:pt x="5581650" y="34119"/>
                  <a:pt x="5581650" y="76207"/>
                </a:cubicBezTo>
                <a:lnTo>
                  <a:pt x="5581650" y="3409943"/>
                </a:lnTo>
                <a:cubicBezTo>
                  <a:pt x="5581650" y="3452031"/>
                  <a:pt x="5547531" y="3486150"/>
                  <a:pt x="5505443" y="3486150"/>
                </a:cubicBezTo>
                <a:lnTo>
                  <a:pt x="76207" y="3486150"/>
                </a:lnTo>
                <a:cubicBezTo>
                  <a:pt x="34119" y="3486150"/>
                  <a:pt x="0" y="3452031"/>
                  <a:pt x="0" y="340994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550" y="242490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8675" y="2386808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Simulation Components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3725" y="2809083"/>
            <a:ext cx="5178425" cy="654050"/>
          </a:xfrm>
          <a:custGeom>
            <a:avLst/>
            <a:gdLst/>
            <a:ahLst/>
            <a:cxnLst/>
            <a:rect l="l" t="t" r="r" b="b"/>
            <a:pathLst>
              <a:path w="5178425" h="654050">
                <a:moveTo>
                  <a:pt x="76197" y="0"/>
                </a:moveTo>
                <a:lnTo>
                  <a:pt x="5102228" y="0"/>
                </a:lnTo>
                <a:cubicBezTo>
                  <a:pt x="5144311" y="0"/>
                  <a:pt x="5178425" y="34114"/>
                  <a:pt x="5178425" y="76197"/>
                </a:cubicBezTo>
                <a:lnTo>
                  <a:pt x="5178425" y="577853"/>
                </a:lnTo>
                <a:cubicBezTo>
                  <a:pt x="5178425" y="619936"/>
                  <a:pt x="5144311" y="654050"/>
                  <a:pt x="5102228" y="654050"/>
                </a:cubicBezTo>
                <a:lnTo>
                  <a:pt x="76197" y="654050"/>
                </a:lnTo>
                <a:cubicBezTo>
                  <a:pt x="34114" y="654050"/>
                  <a:pt x="0" y="619936"/>
                  <a:pt x="0" y="5778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200" y="29265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73100" y="292655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0300" y="2926556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Transmission System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0300" y="3155156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 end-to-end communication chain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3725" y="3583784"/>
            <a:ext cx="5178425" cy="654050"/>
          </a:xfrm>
          <a:custGeom>
            <a:avLst/>
            <a:gdLst/>
            <a:ahLst/>
            <a:cxnLst/>
            <a:rect l="l" t="t" r="r" b="b"/>
            <a:pathLst>
              <a:path w="5178425" h="654050">
                <a:moveTo>
                  <a:pt x="76197" y="0"/>
                </a:moveTo>
                <a:lnTo>
                  <a:pt x="5102228" y="0"/>
                </a:lnTo>
                <a:cubicBezTo>
                  <a:pt x="5144311" y="0"/>
                  <a:pt x="5178425" y="34114"/>
                  <a:pt x="5178425" y="76197"/>
                </a:cubicBezTo>
                <a:lnTo>
                  <a:pt x="5178425" y="577853"/>
                </a:lnTo>
                <a:cubicBezTo>
                  <a:pt x="5178425" y="619936"/>
                  <a:pt x="5144311" y="654050"/>
                  <a:pt x="5102228" y="654050"/>
                </a:cubicBezTo>
                <a:lnTo>
                  <a:pt x="76197" y="654050"/>
                </a:lnTo>
                <a:cubicBezTo>
                  <a:pt x="34114" y="654050"/>
                  <a:pt x="0" y="619936"/>
                  <a:pt x="0" y="5778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200" y="37012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73100" y="370125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0300" y="3701258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Fading Channel Models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0300" y="3929858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Rayleigh and Rician distributions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3725" y="4358481"/>
            <a:ext cx="5178425" cy="654050"/>
          </a:xfrm>
          <a:custGeom>
            <a:avLst/>
            <a:gdLst/>
            <a:ahLst/>
            <a:cxnLst/>
            <a:rect l="l" t="t" r="r" b="b"/>
            <a:pathLst>
              <a:path w="5178425" h="654050">
                <a:moveTo>
                  <a:pt x="76197" y="0"/>
                </a:moveTo>
                <a:lnTo>
                  <a:pt x="5102228" y="0"/>
                </a:lnTo>
                <a:cubicBezTo>
                  <a:pt x="5144311" y="0"/>
                  <a:pt x="5178425" y="34114"/>
                  <a:pt x="5178425" y="76197"/>
                </a:cubicBezTo>
                <a:lnTo>
                  <a:pt x="5178425" y="577853"/>
                </a:lnTo>
                <a:cubicBezTo>
                  <a:pt x="5178425" y="619936"/>
                  <a:pt x="5144311" y="654050"/>
                  <a:pt x="5102228" y="654050"/>
                </a:cubicBezTo>
                <a:lnTo>
                  <a:pt x="76197" y="654050"/>
                </a:lnTo>
                <a:cubicBezTo>
                  <a:pt x="34114" y="654050"/>
                  <a:pt x="0" y="619936"/>
                  <a:pt x="0" y="5778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200" y="44759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73100" y="4475959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0300" y="4475959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 Implementations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0300" y="4704559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I, CC, and IR schemes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9825" y="2186783"/>
            <a:ext cx="5581650" cy="3486150"/>
          </a:xfrm>
          <a:custGeom>
            <a:avLst/>
            <a:gdLst/>
            <a:ahLst/>
            <a:cxnLst/>
            <a:rect l="l" t="t" r="r" b="b"/>
            <a:pathLst>
              <a:path w="5581650" h="3486150">
                <a:moveTo>
                  <a:pt x="76207" y="0"/>
                </a:moveTo>
                <a:lnTo>
                  <a:pt x="5505443" y="0"/>
                </a:lnTo>
                <a:cubicBezTo>
                  <a:pt x="5547531" y="0"/>
                  <a:pt x="5581650" y="34119"/>
                  <a:pt x="5581650" y="76207"/>
                </a:cubicBezTo>
                <a:lnTo>
                  <a:pt x="5581650" y="3409943"/>
                </a:lnTo>
                <a:cubicBezTo>
                  <a:pt x="5581650" y="3452031"/>
                  <a:pt x="5547531" y="3486150"/>
                  <a:pt x="5505443" y="3486150"/>
                </a:cubicBezTo>
                <a:lnTo>
                  <a:pt x="76207" y="3486150"/>
                </a:lnTo>
                <a:cubicBezTo>
                  <a:pt x="34119" y="3486150"/>
                  <a:pt x="0" y="3452031"/>
                  <a:pt x="0" y="340994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3663" y="242490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657975" y="2386808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3025" y="2809083"/>
            <a:ext cx="5178425" cy="806450"/>
          </a:xfrm>
          <a:custGeom>
            <a:avLst/>
            <a:gdLst/>
            <a:ahLst/>
            <a:cxnLst/>
            <a:rect l="l" t="t" r="r" b="b"/>
            <a:pathLst>
              <a:path w="5178425" h="806450">
                <a:moveTo>
                  <a:pt x="76201" y="0"/>
                </a:moveTo>
                <a:lnTo>
                  <a:pt x="5102224" y="0"/>
                </a:lnTo>
                <a:cubicBezTo>
                  <a:pt x="5144308" y="0"/>
                  <a:pt x="5178425" y="34117"/>
                  <a:pt x="5178425" y="76201"/>
                </a:cubicBezTo>
                <a:lnTo>
                  <a:pt x="5178425" y="730249"/>
                </a:lnTo>
                <a:cubicBezTo>
                  <a:pt x="5178425" y="772333"/>
                  <a:pt x="5144308" y="806450"/>
                  <a:pt x="510222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2413" y="29932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32147"/>
                </a:moveTo>
                <a:cubicBezTo>
                  <a:pt x="21431" y="26220"/>
                  <a:pt x="26220" y="21431"/>
                  <a:pt x="32147" y="21431"/>
                </a:cubicBezTo>
                <a:lnTo>
                  <a:pt x="85725" y="21431"/>
                </a:lnTo>
                <a:cubicBezTo>
                  <a:pt x="91652" y="21431"/>
                  <a:pt x="96441" y="26220"/>
                  <a:pt x="96441" y="32147"/>
                </a:cubicBezTo>
                <a:lnTo>
                  <a:pt x="96441" y="128588"/>
                </a:lnTo>
                <a:lnTo>
                  <a:pt x="128588" y="128588"/>
                </a:lnTo>
                <a:lnTo>
                  <a:pt x="128588" y="85725"/>
                </a:lnTo>
                <a:cubicBezTo>
                  <a:pt x="128588" y="79798"/>
                  <a:pt x="133376" y="75009"/>
                  <a:pt x="139303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150019" y="96441"/>
                </a:lnTo>
                <a:lnTo>
                  <a:pt x="150019" y="139303"/>
                </a:lnTo>
                <a:cubicBezTo>
                  <a:pt x="150019" y="145230"/>
                  <a:pt x="145230" y="150019"/>
                  <a:pt x="139303" y="150019"/>
                </a:cubicBezTo>
                <a:lnTo>
                  <a:pt x="85725" y="150019"/>
                </a:lnTo>
                <a:cubicBezTo>
                  <a:pt x="79798" y="150019"/>
                  <a:pt x="75009" y="145230"/>
                  <a:pt x="75009" y="139303"/>
                </a:cubicBezTo>
                <a:lnTo>
                  <a:pt x="75009" y="42863"/>
                </a:lnTo>
                <a:lnTo>
                  <a:pt x="42863" y="42863"/>
                </a:lnTo>
                <a:lnTo>
                  <a:pt x="42863" y="85725"/>
                </a:lnTo>
                <a:cubicBezTo>
                  <a:pt x="42863" y="91652"/>
                  <a:pt x="38074" y="96441"/>
                  <a:pt x="32147" y="96441"/>
                </a:cubicBezTo>
                <a:lnTo>
                  <a:pt x="10716" y="96441"/>
                </a:lnTo>
                <a:cubicBezTo>
                  <a:pt x="4789" y="96441"/>
                  <a:pt x="0" y="91652"/>
                  <a:pt x="0" y="85725"/>
                </a:cubicBezTo>
                <a:cubicBezTo>
                  <a:pt x="0" y="79798"/>
                  <a:pt x="4789" y="75009"/>
                  <a:pt x="10716" y="75009"/>
                </a:cubicBezTo>
                <a:lnTo>
                  <a:pt x="21431" y="75009"/>
                </a:lnTo>
                <a:lnTo>
                  <a:pt x="21431" y="3214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907213" y="2964656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 vs SNR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78600" y="3269456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Measure bit error rate across different signal-to-noise ratios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3025" y="3736184"/>
            <a:ext cx="5178425" cy="806450"/>
          </a:xfrm>
          <a:custGeom>
            <a:avLst/>
            <a:gdLst/>
            <a:ahLst/>
            <a:cxnLst/>
            <a:rect l="l" t="t" r="r" b="b"/>
            <a:pathLst>
              <a:path w="5178425" h="806450">
                <a:moveTo>
                  <a:pt x="76201" y="0"/>
                </a:moveTo>
                <a:lnTo>
                  <a:pt x="5102224" y="0"/>
                </a:lnTo>
                <a:cubicBezTo>
                  <a:pt x="5144308" y="0"/>
                  <a:pt x="5178425" y="34117"/>
                  <a:pt x="5178425" y="76201"/>
                </a:cubicBezTo>
                <a:lnTo>
                  <a:pt x="5178425" y="730249"/>
                </a:lnTo>
                <a:cubicBezTo>
                  <a:pt x="5178425" y="772333"/>
                  <a:pt x="5144308" y="806450"/>
                  <a:pt x="510222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2413" y="392033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907213" y="3891758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Measurement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78600" y="4196558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Calculate effective data rate under various conditions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3025" y="4663281"/>
            <a:ext cx="5178425" cy="806450"/>
          </a:xfrm>
          <a:custGeom>
            <a:avLst/>
            <a:gdLst/>
            <a:ahLst/>
            <a:cxnLst/>
            <a:rect l="l" t="t" r="r" b="b"/>
            <a:pathLst>
              <a:path w="5178425" h="806450">
                <a:moveTo>
                  <a:pt x="76201" y="0"/>
                </a:moveTo>
                <a:lnTo>
                  <a:pt x="5102224" y="0"/>
                </a:lnTo>
                <a:cubicBezTo>
                  <a:pt x="5144308" y="0"/>
                  <a:pt x="5178425" y="34117"/>
                  <a:pt x="5178425" y="76201"/>
                </a:cubicBezTo>
                <a:lnTo>
                  <a:pt x="5178425" y="730249"/>
                </a:lnTo>
                <a:cubicBezTo>
                  <a:pt x="5178425" y="772333"/>
                  <a:pt x="5144308" y="806450"/>
                  <a:pt x="510222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0981" y="4847434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907213" y="4818859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78600" y="5123659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 comparison of all three HARQ schemes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5872958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838203"/>
                </a:lnTo>
                <a:cubicBezTo>
                  <a:pt x="11430000" y="880285"/>
                  <a:pt x="11395885" y="914400"/>
                  <a:pt x="11353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7459" y="618728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60734" y="0"/>
                </a:moveTo>
                <a:lnTo>
                  <a:pt x="71438" y="0"/>
                </a:lnTo>
                <a:cubicBezTo>
                  <a:pt x="61559" y="0"/>
                  <a:pt x="53578" y="7981"/>
                  <a:pt x="53578" y="17859"/>
                </a:cubicBezTo>
                <a:cubicBezTo>
                  <a:pt x="53578" y="27738"/>
                  <a:pt x="61559" y="35719"/>
                  <a:pt x="71438" y="35719"/>
                </a:cubicBezTo>
                <a:lnTo>
                  <a:pt x="71438" y="120272"/>
                </a:lnTo>
                <a:lnTo>
                  <a:pt x="4186" y="237920"/>
                </a:lnTo>
                <a:cubicBezTo>
                  <a:pt x="1451" y="242776"/>
                  <a:pt x="0" y="248190"/>
                  <a:pt x="0" y="253771"/>
                </a:cubicBezTo>
                <a:cubicBezTo>
                  <a:pt x="0" y="271463"/>
                  <a:pt x="14288" y="285750"/>
                  <a:pt x="31979" y="285750"/>
                </a:cubicBezTo>
                <a:lnTo>
                  <a:pt x="218052" y="285750"/>
                </a:lnTo>
                <a:cubicBezTo>
                  <a:pt x="235688" y="285750"/>
                  <a:pt x="250031" y="271463"/>
                  <a:pt x="250031" y="253771"/>
                </a:cubicBezTo>
                <a:cubicBezTo>
                  <a:pt x="250031" y="248190"/>
                  <a:pt x="248580" y="242720"/>
                  <a:pt x="245845" y="237920"/>
                </a:cubicBezTo>
                <a:lnTo>
                  <a:pt x="178594" y="120272"/>
                </a:lnTo>
                <a:lnTo>
                  <a:pt x="178594" y="35719"/>
                </a:lnTo>
                <a:cubicBezTo>
                  <a:pt x="188472" y="35719"/>
                  <a:pt x="196453" y="27738"/>
                  <a:pt x="196453" y="17859"/>
                </a:cubicBezTo>
                <a:cubicBezTo>
                  <a:pt x="196453" y="7981"/>
                  <a:pt x="188472" y="0"/>
                  <a:pt x="178594" y="0"/>
                </a:cubicBezTo>
                <a:lnTo>
                  <a:pt x="160734" y="0"/>
                </a:lnTo>
                <a:close/>
                <a:moveTo>
                  <a:pt x="107156" y="120272"/>
                </a:moveTo>
                <a:lnTo>
                  <a:pt x="107156" y="35719"/>
                </a:lnTo>
                <a:lnTo>
                  <a:pt x="142875" y="35719"/>
                </a:lnTo>
                <a:lnTo>
                  <a:pt x="142875" y="120272"/>
                </a:lnTo>
                <a:cubicBezTo>
                  <a:pt x="142875" y="126467"/>
                  <a:pt x="144494" y="132606"/>
                  <a:pt x="147563" y="138019"/>
                </a:cubicBezTo>
                <a:lnTo>
                  <a:pt x="170780" y="178594"/>
                </a:lnTo>
                <a:lnTo>
                  <a:pt x="79251" y="178594"/>
                </a:lnTo>
                <a:lnTo>
                  <a:pt x="102468" y="138019"/>
                </a:lnTo>
                <a:cubicBezTo>
                  <a:pt x="105538" y="132606"/>
                  <a:pt x="107156" y="126523"/>
                  <a:pt x="107156" y="1202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081088" y="6063458"/>
            <a:ext cx="1062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Simulation Parameters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81088" y="6368258"/>
            <a:ext cx="1062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Channel coding: Turbo/LDPC | Modulation: 16-QAM, 64-QAM | SNR range: 0-20 dB | Maximum retransmissions: 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18" y="436445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59690" y="531325"/>
            <a:ext cx="189759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8794" y="569276"/>
            <a:ext cx="4098789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Approach 1: Type I HARQ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518" y="1100601"/>
            <a:ext cx="11432965" cy="18976"/>
          </a:xfrm>
          <a:custGeom>
            <a:avLst/>
            <a:gdLst/>
            <a:ahLst/>
            <a:cxnLst/>
            <a:rect l="l" t="t" r="r" b="b"/>
            <a:pathLst>
              <a:path w="11432965" h="18976">
                <a:moveTo>
                  <a:pt x="0" y="0"/>
                </a:moveTo>
                <a:lnTo>
                  <a:pt x="11432965" y="0"/>
                </a:lnTo>
                <a:lnTo>
                  <a:pt x="11432965" y="18976"/>
                </a:lnTo>
                <a:lnTo>
                  <a:pt x="0" y="18976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8493" y="1309335"/>
            <a:ext cx="5588395" cy="3747735"/>
          </a:xfrm>
          <a:custGeom>
            <a:avLst/>
            <a:gdLst/>
            <a:ahLst/>
            <a:cxnLst/>
            <a:rect l="l" t="t" r="r" b="b"/>
            <a:pathLst>
              <a:path w="5588395" h="3747735">
                <a:moveTo>
                  <a:pt x="0" y="0"/>
                </a:moveTo>
                <a:lnTo>
                  <a:pt x="5512504" y="0"/>
                </a:lnTo>
                <a:cubicBezTo>
                  <a:pt x="5554417" y="0"/>
                  <a:pt x="5588395" y="33978"/>
                  <a:pt x="5588395" y="75892"/>
                </a:cubicBezTo>
                <a:lnTo>
                  <a:pt x="5588395" y="3671844"/>
                </a:lnTo>
                <a:cubicBezTo>
                  <a:pt x="5588395" y="3713758"/>
                  <a:pt x="5554417" y="3747735"/>
                  <a:pt x="5512504" y="3747735"/>
                </a:cubicBezTo>
                <a:lnTo>
                  <a:pt x="0" y="374773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398493" y="1309335"/>
            <a:ext cx="37952" cy="3747735"/>
          </a:xfrm>
          <a:custGeom>
            <a:avLst/>
            <a:gdLst/>
            <a:ahLst/>
            <a:cxnLst/>
            <a:rect l="l" t="t" r="r" b="b"/>
            <a:pathLst>
              <a:path w="37952" h="3747735">
                <a:moveTo>
                  <a:pt x="0" y="0"/>
                </a:moveTo>
                <a:lnTo>
                  <a:pt x="37952" y="0"/>
                </a:lnTo>
                <a:lnTo>
                  <a:pt x="37952" y="3747735"/>
                </a:lnTo>
                <a:lnTo>
                  <a:pt x="0" y="374773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30948" y="1537046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94879" y="189759"/>
                </a:moveTo>
                <a:cubicBezTo>
                  <a:pt x="147245" y="189759"/>
                  <a:pt x="189759" y="147245"/>
                  <a:pt x="189759" y="94879"/>
                </a:cubicBezTo>
                <a:cubicBezTo>
                  <a:pt x="189759" y="42514"/>
                  <a:pt x="147245" y="0"/>
                  <a:pt x="94879" y="0"/>
                </a:cubicBezTo>
                <a:cubicBezTo>
                  <a:pt x="42514" y="0"/>
                  <a:pt x="0" y="42514"/>
                  <a:pt x="0" y="94879"/>
                </a:cubicBezTo>
                <a:cubicBezTo>
                  <a:pt x="0" y="147245"/>
                  <a:pt x="42514" y="189759"/>
                  <a:pt x="94879" y="189759"/>
                </a:cubicBezTo>
                <a:close/>
                <a:moveTo>
                  <a:pt x="83019" y="59300"/>
                </a:moveTo>
                <a:cubicBezTo>
                  <a:pt x="83019" y="52754"/>
                  <a:pt x="88334" y="47440"/>
                  <a:pt x="94879" y="47440"/>
                </a:cubicBezTo>
                <a:cubicBezTo>
                  <a:pt x="101425" y="47440"/>
                  <a:pt x="106739" y="52754"/>
                  <a:pt x="106739" y="59300"/>
                </a:cubicBezTo>
                <a:cubicBezTo>
                  <a:pt x="106739" y="65845"/>
                  <a:pt x="101425" y="71160"/>
                  <a:pt x="94879" y="71160"/>
                </a:cubicBezTo>
                <a:cubicBezTo>
                  <a:pt x="88334" y="71160"/>
                  <a:pt x="83019" y="65845"/>
                  <a:pt x="83019" y="59300"/>
                </a:cubicBezTo>
                <a:close/>
                <a:moveTo>
                  <a:pt x="80054" y="83019"/>
                </a:moveTo>
                <a:lnTo>
                  <a:pt x="97844" y="83019"/>
                </a:lnTo>
                <a:cubicBezTo>
                  <a:pt x="102774" y="83019"/>
                  <a:pt x="106739" y="86985"/>
                  <a:pt x="106739" y="91914"/>
                </a:cubicBezTo>
                <a:lnTo>
                  <a:pt x="106739" y="124529"/>
                </a:lnTo>
                <a:lnTo>
                  <a:pt x="109704" y="124529"/>
                </a:lnTo>
                <a:cubicBezTo>
                  <a:pt x="114634" y="124529"/>
                  <a:pt x="118599" y="128495"/>
                  <a:pt x="118599" y="133424"/>
                </a:cubicBezTo>
                <a:cubicBezTo>
                  <a:pt x="118599" y="138353"/>
                  <a:pt x="114634" y="142319"/>
                  <a:pt x="109704" y="142319"/>
                </a:cubicBezTo>
                <a:lnTo>
                  <a:pt x="80054" y="142319"/>
                </a:lnTo>
                <a:cubicBezTo>
                  <a:pt x="75125" y="142319"/>
                  <a:pt x="71160" y="138353"/>
                  <a:pt x="71160" y="133424"/>
                </a:cubicBezTo>
                <a:cubicBezTo>
                  <a:pt x="71160" y="128495"/>
                  <a:pt x="75125" y="124529"/>
                  <a:pt x="80054" y="124529"/>
                </a:cubicBezTo>
                <a:lnTo>
                  <a:pt x="88949" y="124529"/>
                </a:lnTo>
                <a:lnTo>
                  <a:pt x="88949" y="100809"/>
                </a:lnTo>
                <a:lnTo>
                  <a:pt x="80054" y="100809"/>
                </a:lnTo>
                <a:cubicBezTo>
                  <a:pt x="75125" y="100809"/>
                  <a:pt x="71160" y="96844"/>
                  <a:pt x="71160" y="91914"/>
                </a:cubicBezTo>
                <a:cubicBezTo>
                  <a:pt x="71160" y="86985"/>
                  <a:pt x="75125" y="83019"/>
                  <a:pt x="80054" y="8301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844426" y="1499094"/>
            <a:ext cx="5047583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Mechanism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7228" y="1878612"/>
            <a:ext cx="5265805" cy="740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 HARQ</a:t>
            </a: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is the simplest form of hybrid ARQ, combining Forward Error Correction (FEC) with basic retransmission. It represents the baseline approach for error recovery in wireless communication.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0391" y="2773640"/>
            <a:ext cx="5177251" cy="2093672"/>
          </a:xfrm>
          <a:custGeom>
            <a:avLst/>
            <a:gdLst/>
            <a:ahLst/>
            <a:cxnLst/>
            <a:rect l="l" t="t" r="r" b="b"/>
            <a:pathLst>
              <a:path w="5177251" h="2093672">
                <a:moveTo>
                  <a:pt x="75896" y="0"/>
                </a:moveTo>
                <a:lnTo>
                  <a:pt x="5101356" y="0"/>
                </a:lnTo>
                <a:cubicBezTo>
                  <a:pt x="5143272" y="0"/>
                  <a:pt x="5177251" y="33980"/>
                  <a:pt x="5177251" y="75896"/>
                </a:cubicBezTo>
                <a:lnTo>
                  <a:pt x="5177251" y="2017776"/>
                </a:lnTo>
                <a:cubicBezTo>
                  <a:pt x="5177251" y="2059692"/>
                  <a:pt x="5143272" y="2093672"/>
                  <a:pt x="5101356" y="2093672"/>
                </a:cubicBezTo>
                <a:lnTo>
                  <a:pt x="75896" y="2093672"/>
                </a:lnTo>
                <a:cubicBezTo>
                  <a:pt x="33980" y="2093672"/>
                  <a:pt x="0" y="2059692"/>
                  <a:pt x="0" y="2017776"/>
                </a:cubicBezTo>
                <a:lnTo>
                  <a:pt x="0" y="75896"/>
                </a:lnTo>
                <a:cubicBezTo>
                  <a:pt x="0" y="34008"/>
                  <a:pt x="34008" y="0"/>
                  <a:pt x="75896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60" y="2928613"/>
            <a:ext cx="494321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Operational Flow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5360" y="3270179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2153" y="3270179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6926" y="3270179"/>
            <a:ext cx="20399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Transmit encoded data packet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5360" y="3573793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2153" y="3573793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6926" y="3573793"/>
            <a:ext cx="2760990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Receiver performs error detection (CRC)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5360" y="3877407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2153" y="3877407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6926" y="3877407"/>
            <a:ext cx="215376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error detected → send NACK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5360" y="4181021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2153" y="4181021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6926" y="4187345"/>
            <a:ext cx="1637757" cy="2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Discard previous packet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5360" y="4484635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2153" y="4484635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6926" y="4484635"/>
            <a:ext cx="1470630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Retransmit </a:t>
            </a: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same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4599" y="1312498"/>
            <a:ext cx="5594721" cy="4332825"/>
          </a:xfrm>
          <a:custGeom>
            <a:avLst/>
            <a:gdLst/>
            <a:ahLst/>
            <a:cxnLst/>
            <a:rect l="l" t="t" r="r" b="b"/>
            <a:pathLst>
              <a:path w="5594721" h="4332825">
                <a:moveTo>
                  <a:pt x="75911" y="0"/>
                </a:moveTo>
                <a:lnTo>
                  <a:pt x="5518810" y="0"/>
                </a:lnTo>
                <a:cubicBezTo>
                  <a:pt x="5560734" y="0"/>
                  <a:pt x="5594721" y="33987"/>
                  <a:pt x="5594721" y="75911"/>
                </a:cubicBezTo>
                <a:lnTo>
                  <a:pt x="5594721" y="4256914"/>
                </a:lnTo>
                <a:cubicBezTo>
                  <a:pt x="5594721" y="4298838"/>
                  <a:pt x="5560734" y="4332825"/>
                  <a:pt x="5518810" y="4332825"/>
                </a:cubicBezTo>
                <a:lnTo>
                  <a:pt x="75911" y="4332825"/>
                </a:lnTo>
                <a:cubicBezTo>
                  <a:pt x="33987" y="4332825"/>
                  <a:pt x="0" y="4298838"/>
                  <a:pt x="0" y="4256914"/>
                </a:cubicBezTo>
                <a:lnTo>
                  <a:pt x="0" y="75911"/>
                </a:lnTo>
                <a:cubicBezTo>
                  <a:pt x="0" y="34015"/>
                  <a:pt x="34015" y="0"/>
                  <a:pt x="75911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1241" y="1543374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94879" y="0"/>
                </a:moveTo>
                <a:cubicBezTo>
                  <a:pt x="100328" y="0"/>
                  <a:pt x="105331" y="3002"/>
                  <a:pt x="107925" y="7783"/>
                </a:cubicBezTo>
                <a:lnTo>
                  <a:pt x="187980" y="156032"/>
                </a:lnTo>
                <a:cubicBezTo>
                  <a:pt x="190463" y="160628"/>
                  <a:pt x="190352" y="166187"/>
                  <a:pt x="187683" y="170672"/>
                </a:cubicBezTo>
                <a:cubicBezTo>
                  <a:pt x="185015" y="175156"/>
                  <a:pt x="180160" y="177899"/>
                  <a:pt x="174934" y="177899"/>
                </a:cubicBezTo>
                <a:lnTo>
                  <a:pt x="14825" y="177899"/>
                </a:lnTo>
                <a:cubicBezTo>
                  <a:pt x="9599" y="177899"/>
                  <a:pt x="4781" y="175156"/>
                  <a:pt x="2075" y="170672"/>
                </a:cubicBezTo>
                <a:cubicBezTo>
                  <a:pt x="-630" y="166187"/>
                  <a:pt x="-704" y="160628"/>
                  <a:pt x="1779" y="156032"/>
                </a:cubicBezTo>
                <a:lnTo>
                  <a:pt x="81833" y="7783"/>
                </a:lnTo>
                <a:cubicBezTo>
                  <a:pt x="84428" y="3002"/>
                  <a:pt x="89431" y="0"/>
                  <a:pt x="94879" y="0"/>
                </a:cubicBezTo>
                <a:close/>
                <a:moveTo>
                  <a:pt x="94879" y="62265"/>
                </a:moveTo>
                <a:cubicBezTo>
                  <a:pt x="89950" y="62265"/>
                  <a:pt x="85984" y="66230"/>
                  <a:pt x="85984" y="71160"/>
                </a:cubicBezTo>
                <a:lnTo>
                  <a:pt x="85984" y="112669"/>
                </a:lnTo>
                <a:cubicBezTo>
                  <a:pt x="85984" y="117599"/>
                  <a:pt x="89950" y="121564"/>
                  <a:pt x="94879" y="121564"/>
                </a:cubicBezTo>
                <a:cubicBezTo>
                  <a:pt x="99809" y="121564"/>
                  <a:pt x="103774" y="117599"/>
                  <a:pt x="103774" y="112669"/>
                </a:cubicBezTo>
                <a:lnTo>
                  <a:pt x="103774" y="71160"/>
                </a:lnTo>
                <a:cubicBezTo>
                  <a:pt x="103774" y="66230"/>
                  <a:pt x="99809" y="62265"/>
                  <a:pt x="94879" y="62265"/>
                </a:cubicBezTo>
                <a:close/>
                <a:moveTo>
                  <a:pt x="104775" y="142319"/>
                </a:moveTo>
                <a:cubicBezTo>
                  <a:pt x="105000" y="138646"/>
                  <a:pt x="103168" y="135151"/>
                  <a:pt x="100020" y="133247"/>
                </a:cubicBezTo>
                <a:cubicBezTo>
                  <a:pt x="96871" y="131342"/>
                  <a:pt x="92925" y="131342"/>
                  <a:pt x="89776" y="133247"/>
                </a:cubicBezTo>
                <a:cubicBezTo>
                  <a:pt x="86627" y="135151"/>
                  <a:pt x="84796" y="138646"/>
                  <a:pt x="85021" y="142319"/>
                </a:cubicBezTo>
                <a:cubicBezTo>
                  <a:pt x="84796" y="145992"/>
                  <a:pt x="86627" y="149487"/>
                  <a:pt x="89776" y="151392"/>
                </a:cubicBezTo>
                <a:cubicBezTo>
                  <a:pt x="92925" y="153296"/>
                  <a:pt x="96871" y="153296"/>
                  <a:pt x="100020" y="151392"/>
                </a:cubicBezTo>
                <a:cubicBezTo>
                  <a:pt x="103168" y="149487"/>
                  <a:pt x="105000" y="145992"/>
                  <a:pt x="104775" y="14231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644719" y="1505423"/>
            <a:ext cx="5066559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0684" y="1888103"/>
            <a:ext cx="5205715" cy="1106926"/>
          </a:xfrm>
          <a:custGeom>
            <a:avLst/>
            <a:gdLst/>
            <a:ahLst/>
            <a:cxnLst/>
            <a:rect l="l" t="t" r="r" b="b"/>
            <a:pathLst>
              <a:path w="5205715" h="1106926">
                <a:moveTo>
                  <a:pt x="75902" y="0"/>
                </a:moveTo>
                <a:lnTo>
                  <a:pt x="5129813" y="0"/>
                </a:lnTo>
                <a:cubicBezTo>
                  <a:pt x="5171733" y="0"/>
                  <a:pt x="5205715" y="33982"/>
                  <a:pt x="5205715" y="75902"/>
                </a:cubicBezTo>
                <a:lnTo>
                  <a:pt x="5205715" y="1031024"/>
                </a:lnTo>
                <a:cubicBezTo>
                  <a:pt x="5205715" y="1072916"/>
                  <a:pt x="5171705" y="1106926"/>
                  <a:pt x="5129813" y="1106926"/>
                </a:cubicBezTo>
                <a:lnTo>
                  <a:pt x="75902" y="1106926"/>
                </a:lnTo>
                <a:cubicBezTo>
                  <a:pt x="33982" y="1106926"/>
                  <a:pt x="0" y="1072944"/>
                  <a:pt x="0" y="1031024"/>
                </a:cubicBezTo>
                <a:lnTo>
                  <a:pt x="0" y="75902"/>
                </a:lnTo>
                <a:cubicBezTo>
                  <a:pt x="0" y="34011"/>
                  <a:pt x="34011" y="0"/>
                  <a:pt x="75902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9373" y="2081023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94879" y="189759"/>
                </a:moveTo>
                <a:cubicBezTo>
                  <a:pt x="147245" y="189759"/>
                  <a:pt x="189759" y="147245"/>
                  <a:pt x="189759" y="94879"/>
                </a:cubicBezTo>
                <a:cubicBezTo>
                  <a:pt x="189759" y="42514"/>
                  <a:pt x="147245" y="0"/>
                  <a:pt x="94879" y="0"/>
                </a:cubicBezTo>
                <a:cubicBezTo>
                  <a:pt x="42514" y="0"/>
                  <a:pt x="0" y="42514"/>
                  <a:pt x="0" y="94879"/>
                </a:cubicBezTo>
                <a:cubicBezTo>
                  <a:pt x="0" y="147245"/>
                  <a:pt x="42514" y="189759"/>
                  <a:pt x="94879" y="189759"/>
                </a:cubicBezTo>
                <a:close/>
                <a:moveTo>
                  <a:pt x="61894" y="61894"/>
                </a:moveTo>
                <a:cubicBezTo>
                  <a:pt x="65378" y="58410"/>
                  <a:pt x="71011" y="58410"/>
                  <a:pt x="74458" y="61894"/>
                </a:cubicBezTo>
                <a:lnTo>
                  <a:pt x="94842" y="82278"/>
                </a:lnTo>
                <a:lnTo>
                  <a:pt x="115227" y="61894"/>
                </a:lnTo>
                <a:cubicBezTo>
                  <a:pt x="118710" y="58410"/>
                  <a:pt x="124344" y="58410"/>
                  <a:pt x="127791" y="61894"/>
                </a:cubicBezTo>
                <a:cubicBezTo>
                  <a:pt x="131237" y="65378"/>
                  <a:pt x="131275" y="71011"/>
                  <a:pt x="127791" y="74458"/>
                </a:cubicBezTo>
                <a:lnTo>
                  <a:pt x="107406" y="94842"/>
                </a:lnTo>
                <a:lnTo>
                  <a:pt x="127791" y="115227"/>
                </a:lnTo>
                <a:cubicBezTo>
                  <a:pt x="131275" y="118710"/>
                  <a:pt x="131275" y="124344"/>
                  <a:pt x="127791" y="127791"/>
                </a:cubicBezTo>
                <a:cubicBezTo>
                  <a:pt x="124307" y="131237"/>
                  <a:pt x="118673" y="131275"/>
                  <a:pt x="115227" y="127791"/>
                </a:cubicBezTo>
                <a:lnTo>
                  <a:pt x="94842" y="107406"/>
                </a:lnTo>
                <a:lnTo>
                  <a:pt x="74458" y="127791"/>
                </a:lnTo>
                <a:cubicBezTo>
                  <a:pt x="70974" y="131275"/>
                  <a:pt x="65341" y="131275"/>
                  <a:pt x="61894" y="127791"/>
                </a:cubicBezTo>
                <a:cubicBezTo>
                  <a:pt x="58447" y="124307"/>
                  <a:pt x="58410" y="118673"/>
                  <a:pt x="61894" y="115227"/>
                </a:cubicBezTo>
                <a:lnTo>
                  <a:pt x="82278" y="94842"/>
                </a:lnTo>
                <a:lnTo>
                  <a:pt x="61894" y="74458"/>
                </a:lnTo>
                <a:cubicBezTo>
                  <a:pt x="58410" y="70974"/>
                  <a:pt x="58410" y="65341"/>
                  <a:pt x="61894" y="6189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916707" y="2043071"/>
            <a:ext cx="2049395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Combining at Receiver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65653" y="2384637"/>
            <a:ext cx="4971679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Previous transmissions are </a:t>
            </a: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discarded</a:t>
            </a: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—only the latest packet is used for decoding.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0684" y="3115206"/>
            <a:ext cx="5205715" cy="1106926"/>
          </a:xfrm>
          <a:custGeom>
            <a:avLst/>
            <a:gdLst/>
            <a:ahLst/>
            <a:cxnLst/>
            <a:rect l="l" t="t" r="r" b="b"/>
            <a:pathLst>
              <a:path w="5205715" h="1106926">
                <a:moveTo>
                  <a:pt x="75902" y="0"/>
                </a:moveTo>
                <a:lnTo>
                  <a:pt x="5129813" y="0"/>
                </a:lnTo>
                <a:cubicBezTo>
                  <a:pt x="5171733" y="0"/>
                  <a:pt x="5205715" y="33982"/>
                  <a:pt x="5205715" y="75902"/>
                </a:cubicBezTo>
                <a:lnTo>
                  <a:pt x="5205715" y="1031024"/>
                </a:lnTo>
                <a:cubicBezTo>
                  <a:pt x="5205715" y="1072916"/>
                  <a:pt x="5171705" y="1106926"/>
                  <a:pt x="5129813" y="1106926"/>
                </a:cubicBezTo>
                <a:lnTo>
                  <a:pt x="75902" y="1106926"/>
                </a:lnTo>
                <a:cubicBezTo>
                  <a:pt x="33982" y="1106926"/>
                  <a:pt x="0" y="1072944"/>
                  <a:pt x="0" y="1031024"/>
                </a:cubicBezTo>
                <a:lnTo>
                  <a:pt x="0" y="75902"/>
                </a:lnTo>
                <a:cubicBezTo>
                  <a:pt x="0" y="34011"/>
                  <a:pt x="34011" y="0"/>
                  <a:pt x="75902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9373" y="3308131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23720" y="23720"/>
                </a:moveTo>
                <a:cubicBezTo>
                  <a:pt x="10637" y="23720"/>
                  <a:pt x="0" y="34357"/>
                  <a:pt x="0" y="47440"/>
                </a:cubicBezTo>
                <a:lnTo>
                  <a:pt x="0" y="50182"/>
                </a:lnTo>
                <a:cubicBezTo>
                  <a:pt x="0" y="52703"/>
                  <a:pt x="1631" y="54852"/>
                  <a:pt x="3743" y="56223"/>
                </a:cubicBezTo>
                <a:cubicBezTo>
                  <a:pt x="8636" y="59411"/>
                  <a:pt x="11860" y="64896"/>
                  <a:pt x="11860" y="71160"/>
                </a:cubicBezTo>
                <a:cubicBezTo>
                  <a:pt x="11860" y="77423"/>
                  <a:pt x="8636" y="82908"/>
                  <a:pt x="3743" y="86096"/>
                </a:cubicBezTo>
                <a:cubicBezTo>
                  <a:pt x="1631" y="87467"/>
                  <a:pt x="0" y="89617"/>
                  <a:pt x="0" y="92137"/>
                </a:cubicBezTo>
                <a:lnTo>
                  <a:pt x="0" y="112669"/>
                </a:lnTo>
                <a:lnTo>
                  <a:pt x="189759" y="112669"/>
                </a:lnTo>
                <a:lnTo>
                  <a:pt x="189759" y="92137"/>
                </a:lnTo>
                <a:cubicBezTo>
                  <a:pt x="189759" y="89617"/>
                  <a:pt x="188128" y="87467"/>
                  <a:pt x="186015" y="86096"/>
                </a:cubicBezTo>
                <a:cubicBezTo>
                  <a:pt x="181123" y="82908"/>
                  <a:pt x="177899" y="77423"/>
                  <a:pt x="177899" y="71160"/>
                </a:cubicBezTo>
                <a:cubicBezTo>
                  <a:pt x="177899" y="64896"/>
                  <a:pt x="181123" y="59411"/>
                  <a:pt x="186015" y="56223"/>
                </a:cubicBezTo>
                <a:cubicBezTo>
                  <a:pt x="188128" y="54852"/>
                  <a:pt x="189759" y="52703"/>
                  <a:pt x="189759" y="50182"/>
                </a:cubicBezTo>
                <a:lnTo>
                  <a:pt x="189759" y="47440"/>
                </a:lnTo>
                <a:cubicBezTo>
                  <a:pt x="189759" y="34357"/>
                  <a:pt x="179122" y="23720"/>
                  <a:pt x="166039" y="23720"/>
                </a:cubicBezTo>
                <a:lnTo>
                  <a:pt x="23720" y="23720"/>
                </a:lnTo>
                <a:close/>
                <a:moveTo>
                  <a:pt x="189759" y="154179"/>
                </a:moveTo>
                <a:lnTo>
                  <a:pt x="189759" y="130459"/>
                </a:lnTo>
                <a:lnTo>
                  <a:pt x="0" y="130459"/>
                </a:lnTo>
                <a:lnTo>
                  <a:pt x="0" y="154179"/>
                </a:lnTo>
                <a:cubicBezTo>
                  <a:pt x="0" y="160739"/>
                  <a:pt x="5300" y="166039"/>
                  <a:pt x="11860" y="166039"/>
                </a:cubicBezTo>
                <a:lnTo>
                  <a:pt x="35580" y="166039"/>
                </a:lnTo>
                <a:lnTo>
                  <a:pt x="35580" y="157144"/>
                </a:lnTo>
                <a:cubicBezTo>
                  <a:pt x="35580" y="152215"/>
                  <a:pt x="39545" y="148249"/>
                  <a:pt x="44475" y="148249"/>
                </a:cubicBezTo>
                <a:cubicBezTo>
                  <a:pt x="49404" y="148249"/>
                  <a:pt x="53370" y="152215"/>
                  <a:pt x="53370" y="157144"/>
                </a:cubicBezTo>
                <a:lnTo>
                  <a:pt x="53370" y="166039"/>
                </a:lnTo>
                <a:lnTo>
                  <a:pt x="85984" y="166039"/>
                </a:lnTo>
                <a:lnTo>
                  <a:pt x="85984" y="157144"/>
                </a:lnTo>
                <a:cubicBezTo>
                  <a:pt x="85984" y="152215"/>
                  <a:pt x="89950" y="148249"/>
                  <a:pt x="94879" y="148249"/>
                </a:cubicBezTo>
                <a:cubicBezTo>
                  <a:pt x="99809" y="148249"/>
                  <a:pt x="103774" y="152215"/>
                  <a:pt x="103774" y="157144"/>
                </a:cubicBezTo>
                <a:lnTo>
                  <a:pt x="103774" y="166039"/>
                </a:lnTo>
                <a:lnTo>
                  <a:pt x="136389" y="166039"/>
                </a:lnTo>
                <a:lnTo>
                  <a:pt x="136389" y="157144"/>
                </a:lnTo>
                <a:cubicBezTo>
                  <a:pt x="136389" y="152215"/>
                  <a:pt x="140355" y="148249"/>
                  <a:pt x="145284" y="148249"/>
                </a:cubicBezTo>
                <a:cubicBezTo>
                  <a:pt x="150213" y="148249"/>
                  <a:pt x="154179" y="152215"/>
                  <a:pt x="154179" y="157144"/>
                </a:cubicBezTo>
                <a:lnTo>
                  <a:pt x="154179" y="166039"/>
                </a:lnTo>
                <a:lnTo>
                  <a:pt x="177899" y="166039"/>
                </a:lnTo>
                <a:cubicBezTo>
                  <a:pt x="184459" y="166039"/>
                  <a:pt x="189759" y="160739"/>
                  <a:pt x="189759" y="154179"/>
                </a:cubicBezTo>
                <a:close/>
                <a:moveTo>
                  <a:pt x="59300" y="59300"/>
                </a:moveTo>
                <a:lnTo>
                  <a:pt x="59300" y="83019"/>
                </a:lnTo>
                <a:cubicBezTo>
                  <a:pt x="59300" y="89579"/>
                  <a:pt x="54000" y="94879"/>
                  <a:pt x="47440" y="94879"/>
                </a:cubicBezTo>
                <a:cubicBezTo>
                  <a:pt x="40880" y="94879"/>
                  <a:pt x="35580" y="89579"/>
                  <a:pt x="35580" y="83019"/>
                </a:cubicBezTo>
                <a:lnTo>
                  <a:pt x="35580" y="59300"/>
                </a:lnTo>
                <a:cubicBezTo>
                  <a:pt x="35580" y="52740"/>
                  <a:pt x="40880" y="47440"/>
                  <a:pt x="47440" y="47440"/>
                </a:cubicBezTo>
                <a:cubicBezTo>
                  <a:pt x="54000" y="47440"/>
                  <a:pt x="59300" y="52740"/>
                  <a:pt x="59300" y="59300"/>
                </a:cubicBezTo>
                <a:close/>
                <a:moveTo>
                  <a:pt x="106739" y="59300"/>
                </a:moveTo>
                <a:lnTo>
                  <a:pt x="106739" y="83019"/>
                </a:lnTo>
                <a:cubicBezTo>
                  <a:pt x="106739" y="89579"/>
                  <a:pt x="101439" y="94879"/>
                  <a:pt x="94879" y="94879"/>
                </a:cubicBezTo>
                <a:cubicBezTo>
                  <a:pt x="88319" y="94879"/>
                  <a:pt x="83019" y="89579"/>
                  <a:pt x="83019" y="83019"/>
                </a:cubicBezTo>
                <a:lnTo>
                  <a:pt x="83019" y="59300"/>
                </a:lnTo>
                <a:cubicBezTo>
                  <a:pt x="83019" y="52740"/>
                  <a:pt x="88319" y="47440"/>
                  <a:pt x="94879" y="47440"/>
                </a:cubicBezTo>
                <a:cubicBezTo>
                  <a:pt x="101439" y="47440"/>
                  <a:pt x="106739" y="52740"/>
                  <a:pt x="106739" y="59300"/>
                </a:cubicBezTo>
                <a:close/>
                <a:moveTo>
                  <a:pt x="154179" y="59300"/>
                </a:moveTo>
                <a:lnTo>
                  <a:pt x="154179" y="83019"/>
                </a:lnTo>
                <a:cubicBezTo>
                  <a:pt x="154179" y="89579"/>
                  <a:pt x="148879" y="94879"/>
                  <a:pt x="142319" y="94879"/>
                </a:cubicBezTo>
                <a:cubicBezTo>
                  <a:pt x="135759" y="94879"/>
                  <a:pt x="130459" y="89579"/>
                  <a:pt x="130459" y="83019"/>
                </a:cubicBezTo>
                <a:lnTo>
                  <a:pt x="130459" y="59300"/>
                </a:lnTo>
                <a:cubicBezTo>
                  <a:pt x="130459" y="52740"/>
                  <a:pt x="135759" y="47440"/>
                  <a:pt x="142319" y="47440"/>
                </a:cubicBezTo>
                <a:cubicBezTo>
                  <a:pt x="148879" y="47440"/>
                  <a:pt x="154179" y="52740"/>
                  <a:pt x="154179" y="593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916707" y="3270179"/>
            <a:ext cx="2267617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Independent Retransmissions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65653" y="3611745"/>
            <a:ext cx="4971679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retransmission is treated as an </a:t>
            </a: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independent event</a:t>
            </a: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no memory of past signals.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0684" y="4342314"/>
            <a:ext cx="5205715" cy="1106926"/>
          </a:xfrm>
          <a:custGeom>
            <a:avLst/>
            <a:gdLst/>
            <a:ahLst/>
            <a:cxnLst/>
            <a:rect l="l" t="t" r="r" b="b"/>
            <a:pathLst>
              <a:path w="5205715" h="1106926">
                <a:moveTo>
                  <a:pt x="75902" y="0"/>
                </a:moveTo>
                <a:lnTo>
                  <a:pt x="5129813" y="0"/>
                </a:lnTo>
                <a:cubicBezTo>
                  <a:pt x="5171733" y="0"/>
                  <a:pt x="5205715" y="33982"/>
                  <a:pt x="5205715" y="75902"/>
                </a:cubicBezTo>
                <a:lnTo>
                  <a:pt x="5205715" y="1031024"/>
                </a:lnTo>
                <a:cubicBezTo>
                  <a:pt x="5205715" y="1072916"/>
                  <a:pt x="5171705" y="1106926"/>
                  <a:pt x="5129813" y="1106926"/>
                </a:cubicBezTo>
                <a:lnTo>
                  <a:pt x="75902" y="1106926"/>
                </a:lnTo>
                <a:cubicBezTo>
                  <a:pt x="33982" y="1106926"/>
                  <a:pt x="0" y="1072944"/>
                  <a:pt x="0" y="1031024"/>
                </a:cubicBezTo>
                <a:lnTo>
                  <a:pt x="0" y="75902"/>
                </a:lnTo>
                <a:cubicBezTo>
                  <a:pt x="0" y="34011"/>
                  <a:pt x="34011" y="0"/>
                  <a:pt x="75902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9373" y="4535234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94879" y="189759"/>
                </a:moveTo>
                <a:cubicBezTo>
                  <a:pt x="147245" y="189759"/>
                  <a:pt x="189759" y="147245"/>
                  <a:pt x="189759" y="94879"/>
                </a:cubicBezTo>
                <a:cubicBezTo>
                  <a:pt x="189759" y="42514"/>
                  <a:pt x="147245" y="0"/>
                  <a:pt x="94879" y="0"/>
                </a:cubicBezTo>
                <a:cubicBezTo>
                  <a:pt x="42514" y="0"/>
                  <a:pt x="0" y="42514"/>
                  <a:pt x="0" y="94879"/>
                </a:cubicBezTo>
                <a:cubicBezTo>
                  <a:pt x="0" y="147245"/>
                  <a:pt x="42514" y="189759"/>
                  <a:pt x="94879" y="189759"/>
                </a:cubicBezTo>
                <a:close/>
                <a:moveTo>
                  <a:pt x="126160" y="78831"/>
                </a:moveTo>
                <a:lnTo>
                  <a:pt x="96510" y="126271"/>
                </a:lnTo>
                <a:cubicBezTo>
                  <a:pt x="94954" y="128754"/>
                  <a:pt x="92285" y="130311"/>
                  <a:pt x="89357" y="130459"/>
                </a:cubicBezTo>
                <a:cubicBezTo>
                  <a:pt x="86429" y="130607"/>
                  <a:pt x="83612" y="129273"/>
                  <a:pt x="81871" y="126901"/>
                </a:cubicBezTo>
                <a:lnTo>
                  <a:pt x="64081" y="103181"/>
                </a:lnTo>
                <a:cubicBezTo>
                  <a:pt x="61116" y="99253"/>
                  <a:pt x="61931" y="93693"/>
                  <a:pt x="65860" y="90728"/>
                </a:cubicBezTo>
                <a:cubicBezTo>
                  <a:pt x="69788" y="87763"/>
                  <a:pt x="75348" y="88579"/>
                  <a:pt x="78313" y="92507"/>
                </a:cubicBezTo>
                <a:lnTo>
                  <a:pt x="88319" y="105850"/>
                </a:lnTo>
                <a:lnTo>
                  <a:pt x="111076" y="69418"/>
                </a:lnTo>
                <a:cubicBezTo>
                  <a:pt x="113670" y="65267"/>
                  <a:pt x="119155" y="63969"/>
                  <a:pt x="123343" y="66601"/>
                </a:cubicBezTo>
                <a:cubicBezTo>
                  <a:pt x="127531" y="69232"/>
                  <a:pt x="128791" y="74680"/>
                  <a:pt x="126160" y="7886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916707" y="4497282"/>
            <a:ext cx="1793220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Simple Error Detection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65653" y="4838848"/>
            <a:ext cx="4971679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Uses </a:t>
            </a: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Cyclic Redundancy Check (CRC)</a:t>
            </a: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error detection before FEC decoding.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1437" y="5800294"/>
            <a:ext cx="5607371" cy="1062649"/>
          </a:xfrm>
          <a:custGeom>
            <a:avLst/>
            <a:gdLst/>
            <a:ahLst/>
            <a:cxnLst/>
            <a:rect l="l" t="t" r="r" b="b"/>
            <a:pathLst>
              <a:path w="5607371" h="1062649">
                <a:moveTo>
                  <a:pt x="75905" y="0"/>
                </a:moveTo>
                <a:lnTo>
                  <a:pt x="5531466" y="0"/>
                </a:lnTo>
                <a:cubicBezTo>
                  <a:pt x="5573387" y="0"/>
                  <a:pt x="5607371" y="33984"/>
                  <a:pt x="5607371" y="75905"/>
                </a:cubicBezTo>
                <a:lnTo>
                  <a:pt x="5607371" y="986744"/>
                </a:lnTo>
                <a:cubicBezTo>
                  <a:pt x="5607371" y="1028665"/>
                  <a:pt x="5573387" y="1062649"/>
                  <a:pt x="5531466" y="1062649"/>
                </a:cubicBezTo>
                <a:lnTo>
                  <a:pt x="75905" y="1062649"/>
                </a:lnTo>
                <a:cubicBezTo>
                  <a:pt x="33984" y="1062649"/>
                  <a:pt x="0" y="1028665"/>
                  <a:pt x="0" y="98674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1196" y="5990053"/>
            <a:ext cx="113855" cy="151807"/>
          </a:xfrm>
          <a:custGeom>
            <a:avLst/>
            <a:gdLst/>
            <a:ahLst/>
            <a:cxnLst/>
            <a:rect l="l" t="t" r="r" b="b"/>
            <a:pathLst>
              <a:path w="113855" h="151807">
                <a:moveTo>
                  <a:pt x="86844" y="113855"/>
                </a:moveTo>
                <a:cubicBezTo>
                  <a:pt x="89009" y="107243"/>
                  <a:pt x="93338" y="101254"/>
                  <a:pt x="98230" y="96095"/>
                </a:cubicBezTo>
                <a:cubicBezTo>
                  <a:pt x="107925" y="85895"/>
                  <a:pt x="113855" y="72108"/>
                  <a:pt x="113855" y="56928"/>
                </a:cubicBezTo>
                <a:cubicBezTo>
                  <a:pt x="113855" y="25499"/>
                  <a:pt x="88356" y="0"/>
                  <a:pt x="56928" y="0"/>
                </a:cubicBezTo>
                <a:cubicBezTo>
                  <a:pt x="25499" y="0"/>
                  <a:pt x="0" y="25499"/>
                  <a:pt x="0" y="56928"/>
                </a:cubicBezTo>
                <a:cubicBezTo>
                  <a:pt x="0" y="72108"/>
                  <a:pt x="5930" y="85895"/>
                  <a:pt x="15625" y="96095"/>
                </a:cubicBezTo>
                <a:cubicBezTo>
                  <a:pt x="20518" y="101254"/>
                  <a:pt x="24876" y="107243"/>
                  <a:pt x="27011" y="113855"/>
                </a:cubicBezTo>
                <a:lnTo>
                  <a:pt x="86815" y="113855"/>
                </a:lnTo>
                <a:close/>
                <a:moveTo>
                  <a:pt x="85391" y="128087"/>
                </a:moveTo>
                <a:lnTo>
                  <a:pt x="28464" y="128087"/>
                </a:lnTo>
                <a:lnTo>
                  <a:pt x="28464" y="132831"/>
                </a:lnTo>
                <a:cubicBezTo>
                  <a:pt x="28464" y="145936"/>
                  <a:pt x="39078" y="156551"/>
                  <a:pt x="52184" y="156551"/>
                </a:cubicBezTo>
                <a:lnTo>
                  <a:pt x="61672" y="156551"/>
                </a:lnTo>
                <a:cubicBezTo>
                  <a:pt x="74777" y="156551"/>
                  <a:pt x="85391" y="145936"/>
                  <a:pt x="85391" y="132831"/>
                </a:cubicBezTo>
                <a:lnTo>
                  <a:pt x="85391" y="128087"/>
                </a:lnTo>
                <a:close/>
                <a:moveTo>
                  <a:pt x="54556" y="33208"/>
                </a:moveTo>
                <a:cubicBezTo>
                  <a:pt x="42755" y="33208"/>
                  <a:pt x="33208" y="42755"/>
                  <a:pt x="33208" y="54556"/>
                </a:cubicBezTo>
                <a:cubicBezTo>
                  <a:pt x="33208" y="58499"/>
                  <a:pt x="30035" y="61672"/>
                  <a:pt x="26092" y="61672"/>
                </a:cubicBezTo>
                <a:cubicBezTo>
                  <a:pt x="22148" y="61672"/>
                  <a:pt x="18976" y="58499"/>
                  <a:pt x="18976" y="54556"/>
                </a:cubicBezTo>
                <a:cubicBezTo>
                  <a:pt x="18976" y="34898"/>
                  <a:pt x="34898" y="18976"/>
                  <a:pt x="54556" y="18976"/>
                </a:cubicBezTo>
                <a:cubicBezTo>
                  <a:pt x="58499" y="18976"/>
                  <a:pt x="61672" y="22148"/>
                  <a:pt x="61672" y="26092"/>
                </a:cubicBezTo>
                <a:cubicBezTo>
                  <a:pt x="61672" y="30035"/>
                  <a:pt x="58499" y="33208"/>
                  <a:pt x="54556" y="332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553003" y="5952101"/>
            <a:ext cx="518990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Conceptual Insight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63244" y="6255715"/>
            <a:ext cx="5379661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 HARQ provides </a:t>
            </a:r>
            <a:r>
              <a:rPr lang="en-US" sz="119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minimal complexity</a:t>
            </a:r>
            <a:r>
              <a:rPr lang="en-US" sz="119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but sacrifices spectral efficiency by not utilizing information from previous failed transmissions.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61975" y="53340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605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 HARQ: Analysis &amp;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76350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0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019308"/>
                </a:lnTo>
                <a:cubicBezTo>
                  <a:pt x="5600700" y="2061388"/>
                  <a:pt x="5566588" y="2095500"/>
                  <a:pt x="5524508" y="2095500"/>
                </a:cubicBez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7635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8" name="Shape 6"/>
          <p:cNvSpPr/>
          <p:nvPr/>
        </p:nvSpPr>
        <p:spPr>
          <a:xfrm>
            <a:off x="595313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7688" y="115193"/>
                </a:moveTo>
                <a:lnTo>
                  <a:pt x="77688" y="93762"/>
                </a:ln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lnTo>
                  <a:pt x="77688" y="77688"/>
                </a:lnTo>
                <a:lnTo>
                  <a:pt x="77688" y="56257"/>
                </a:lnTo>
                <a:cubicBezTo>
                  <a:pt x="77688" y="51803"/>
                  <a:pt x="81271" y="48220"/>
                  <a:pt x="85725" y="48220"/>
                </a:cubicBezTo>
                <a:cubicBezTo>
                  <a:pt x="90179" y="48220"/>
                  <a:pt x="93762" y="51803"/>
                  <a:pt x="93762" y="56257"/>
                </a:cubicBezTo>
                <a:lnTo>
                  <a:pt x="93762" y="77688"/>
                </a:ln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93762" y="93762"/>
                </a:lnTo>
                <a:lnTo>
                  <a:pt x="93762" y="115193"/>
                </a:lnTo>
                <a:cubicBezTo>
                  <a:pt x="93762" y="119647"/>
                  <a:pt x="90179" y="123230"/>
                  <a:pt x="85725" y="123230"/>
                </a:cubicBezTo>
                <a:cubicBezTo>
                  <a:pt x="81271" y="123230"/>
                  <a:pt x="77688" y="119647"/>
                  <a:pt x="77688" y="11519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4287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1847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" y="1809750"/>
            <a:ext cx="404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 Complexity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" y="2038350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Minimal computational requirements at both transmitter and receiver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23431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23050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Easy Implementation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" y="25336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Straightforward design with simple state machine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2838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2800350"/>
            <a:ext cx="235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 Memory Requirements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" y="30289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need to store previous transmissions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524250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0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019308"/>
                </a:lnTo>
                <a:cubicBezTo>
                  <a:pt x="5600700" y="2061388"/>
                  <a:pt x="5566588" y="2095500"/>
                  <a:pt x="5524508" y="2095500"/>
                </a:cubicBez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352425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595313" y="3724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6257" y="77688"/>
                </a:move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90575" y="36766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4095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" y="405765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Poor Spectral Efficiency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" y="4286250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Wasted bandwidth due to repeated full-packet retransmissions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9600" y="4591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" y="455295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Retransmissions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200" y="47815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More retransmissions needed in poor channel conditions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" y="50863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" y="504825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Lower Throughput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00" y="5276850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Reduced effective data rate, especially at low SNR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4425" y="1279525"/>
            <a:ext cx="5616575" cy="3521075"/>
          </a:xfrm>
          <a:custGeom>
            <a:avLst/>
            <a:gdLst/>
            <a:ahLst/>
            <a:cxnLst/>
            <a:rect l="l" t="t" r="r" b="b"/>
            <a:pathLst>
              <a:path w="5616575" h="3521075">
                <a:moveTo>
                  <a:pt x="76196" y="0"/>
                </a:moveTo>
                <a:lnTo>
                  <a:pt x="5540379" y="0"/>
                </a:lnTo>
                <a:cubicBezTo>
                  <a:pt x="5582461" y="0"/>
                  <a:pt x="5616575" y="34114"/>
                  <a:pt x="5616575" y="76196"/>
                </a:cubicBezTo>
                <a:lnTo>
                  <a:pt x="5616575" y="3444879"/>
                </a:lnTo>
                <a:cubicBezTo>
                  <a:pt x="5616575" y="3486961"/>
                  <a:pt x="5582461" y="3521075"/>
                  <a:pt x="5540379" y="3521075"/>
                </a:cubicBezTo>
                <a:lnTo>
                  <a:pt x="76196" y="3521075"/>
                </a:lnTo>
                <a:cubicBezTo>
                  <a:pt x="34114" y="3521075"/>
                  <a:pt x="0" y="3486961"/>
                  <a:pt x="0" y="344487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813" y="148272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569075" y="143510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Characteristics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3175" y="1819278"/>
            <a:ext cx="5292725" cy="2825750"/>
          </a:xfrm>
          <a:custGeom>
            <a:avLst/>
            <a:gdLst/>
            <a:ahLst/>
            <a:cxnLst/>
            <a:rect l="l" t="t" r="r" b="b"/>
            <a:pathLst>
              <a:path w="5292725" h="2825750">
                <a:moveTo>
                  <a:pt x="76210" y="0"/>
                </a:moveTo>
                <a:lnTo>
                  <a:pt x="5216515" y="0"/>
                </a:lnTo>
                <a:cubicBezTo>
                  <a:pt x="5258604" y="0"/>
                  <a:pt x="5292725" y="34121"/>
                  <a:pt x="5292725" y="76210"/>
                </a:cubicBezTo>
                <a:lnTo>
                  <a:pt x="5292725" y="2749540"/>
                </a:lnTo>
                <a:cubicBezTo>
                  <a:pt x="5292725" y="2791629"/>
                  <a:pt x="5258604" y="2825750"/>
                  <a:pt x="5216515" y="2825750"/>
                </a:cubicBezTo>
                <a:lnTo>
                  <a:pt x="76210" y="2825750"/>
                </a:lnTo>
                <a:cubicBezTo>
                  <a:pt x="34121" y="2825750"/>
                  <a:pt x="0" y="2791629"/>
                  <a:pt x="0" y="27495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8750" y="1974852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2: Type I HARQ Performance</a:t>
            </a:r>
            <a:endParaRPr lang="en-US" sz="1600" dirty="0"/>
          </a:p>
        </p:txBody>
      </p:sp>
      <p:pic>
        <p:nvPicPr>
          <p:cNvPr id="37" name="Image 0" descr="https://kimi-img.moonshot.cn/pub/slides/26-03-29-17:04:19-d74em4schmttu02lqajg.png"/>
          <p:cNvPicPr>
            <a:picLocks noChangeAspect="1"/>
          </p:cNvPicPr>
          <p:nvPr/>
        </p:nvPicPr>
        <p:blipFill>
          <a:blip r:embed="rId3"/>
          <a:srcRect t="32" b="32"/>
          <a:stretch/>
        </p:blipFill>
        <p:spPr>
          <a:xfrm>
            <a:off x="6508750" y="2317752"/>
            <a:ext cx="4981575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38" name="Text 35"/>
          <p:cNvSpPr/>
          <p:nvPr/>
        </p:nvSpPr>
        <p:spPr>
          <a:xfrm>
            <a:off x="6508750" y="4298952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Simulated BER vs SNR for Type I HARQ in Rayleigh fading channel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191250" y="4959353"/>
            <a:ext cx="5619750" cy="1790700"/>
          </a:xfrm>
          <a:custGeom>
            <a:avLst/>
            <a:gdLst/>
            <a:ahLst/>
            <a:cxnLst/>
            <a:rect l="l" t="t" r="r" b="b"/>
            <a:pathLst>
              <a:path w="5619750" h="1790700">
                <a:moveTo>
                  <a:pt x="76194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714506"/>
                </a:lnTo>
                <a:cubicBezTo>
                  <a:pt x="5619750" y="1756587"/>
                  <a:pt x="5585637" y="1790700"/>
                  <a:pt x="55435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6362700" y="5149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6534150" y="5111753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Assessment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343650" y="5416553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BER in fading conditions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makes Type I HARQ unsuitable for 5G high data rate requirements.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43650" y="598805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38100" y="0"/>
                </a:moveTo>
                <a:lnTo>
                  <a:pt x="2581275" y="0"/>
                </a:lnTo>
                <a:cubicBezTo>
                  <a:pt x="2602303" y="0"/>
                  <a:pt x="2619375" y="17072"/>
                  <a:pt x="2619375" y="38100"/>
                </a:cubicBezTo>
                <a:lnTo>
                  <a:pt x="2619375" y="571500"/>
                </a:lnTo>
                <a:cubicBezTo>
                  <a:pt x="2619375" y="592528"/>
                  <a:pt x="2602303" y="609600"/>
                  <a:pt x="25812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386513" y="6064253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 at 10 dB SNR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372225" y="6254753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~10⁻²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9039225" y="598805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38100" y="0"/>
                </a:moveTo>
                <a:lnTo>
                  <a:pt x="2581275" y="0"/>
                </a:lnTo>
                <a:cubicBezTo>
                  <a:pt x="2602303" y="0"/>
                  <a:pt x="2619375" y="17072"/>
                  <a:pt x="2619375" y="38100"/>
                </a:cubicBezTo>
                <a:lnTo>
                  <a:pt x="2619375" y="571500"/>
                </a:lnTo>
                <a:cubicBezTo>
                  <a:pt x="2619375" y="592528"/>
                  <a:pt x="2602303" y="609600"/>
                  <a:pt x="25812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9082088" y="6064253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Efficiency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067800" y="6254753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~60%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3-29-17:19:03-d74et1o1gem1k4uig2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697"/>
            <a:ext cx="11937999" cy="57858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15" y="6529969"/>
            <a:ext cx="3175026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881" y="6148966"/>
            <a:ext cx="10287083" cy="3283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 Link:  </a:t>
            </a:r>
            <a:r>
              <a:rPr lang="en-IN" u="sng" dirty="0">
                <a:hlinkClick r:id="rId4"/>
              </a:rPr>
              <a:t>https://drive.google.com/file/d/1dda6jJY28kotadnWUhL9A8lzhUtEJBAd/view?usp=sharing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63265" y="53340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50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4.1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5610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Approach 2: Chase Combining (CC)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314450"/>
            <a:ext cx="5581650" cy="3762375"/>
          </a:xfrm>
          <a:custGeom>
            <a:avLst/>
            <a:gdLst/>
            <a:ahLst/>
            <a:cxnLst/>
            <a:rect l="l" t="t" r="r" b="b"/>
            <a:pathLst>
              <a:path w="5581650" h="3762375">
                <a:moveTo>
                  <a:pt x="0" y="0"/>
                </a:moveTo>
                <a:lnTo>
                  <a:pt x="5505462" y="0"/>
                </a:lnTo>
                <a:cubicBezTo>
                  <a:pt x="5547539" y="0"/>
                  <a:pt x="5581650" y="34111"/>
                  <a:pt x="5581650" y="76188"/>
                </a:cubicBezTo>
                <a:lnTo>
                  <a:pt x="5581650" y="3686187"/>
                </a:lnTo>
                <a:cubicBezTo>
                  <a:pt x="5581650" y="3728264"/>
                  <a:pt x="5547539" y="3762375"/>
                  <a:pt x="5505462" y="3762375"/>
                </a:cubicBez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314450"/>
            <a:ext cx="38100" cy="3762375"/>
          </a:xfrm>
          <a:custGeom>
            <a:avLst/>
            <a:gdLst/>
            <a:ahLst/>
            <a:cxnLst/>
            <a:rect l="l" t="t" r="r" b="b"/>
            <a:pathLst>
              <a:path w="38100" h="3762375">
                <a:moveTo>
                  <a:pt x="0" y="0"/>
                </a:moveTo>
                <a:lnTo>
                  <a:pt x="38100" y="0"/>
                </a:lnTo>
                <a:lnTo>
                  <a:pt x="38100" y="3762375"/>
                </a:ln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33413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47725" y="150495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Mechanism Overview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188595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Chase Combining (CC)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improves upon Type I HARQ by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combining multiple received copies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of the same packet, accumulating signal energy to enhance detection reliability.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775" y="2784475"/>
            <a:ext cx="5178425" cy="2101850"/>
          </a:xfrm>
          <a:custGeom>
            <a:avLst/>
            <a:gdLst/>
            <a:ahLst/>
            <a:cxnLst/>
            <a:rect l="l" t="t" r="r" b="b"/>
            <a:pathLst>
              <a:path w="5178425" h="2101850">
                <a:moveTo>
                  <a:pt x="76192" y="0"/>
                </a:moveTo>
                <a:lnTo>
                  <a:pt x="5102233" y="0"/>
                </a:lnTo>
                <a:cubicBezTo>
                  <a:pt x="5144313" y="0"/>
                  <a:pt x="5178425" y="34112"/>
                  <a:pt x="5178425" y="76192"/>
                </a:cubicBezTo>
                <a:lnTo>
                  <a:pt x="5178425" y="2025658"/>
                </a:lnTo>
                <a:cubicBezTo>
                  <a:pt x="5178425" y="2067738"/>
                  <a:pt x="5144313" y="2101850"/>
                  <a:pt x="5102233" y="2101850"/>
                </a:cubicBezTo>
                <a:lnTo>
                  <a:pt x="76192" y="2101850"/>
                </a:lnTo>
                <a:cubicBezTo>
                  <a:pt x="34112" y="2101850"/>
                  <a:pt x="0" y="2067738"/>
                  <a:pt x="0" y="2025658"/>
                </a:cubicBezTo>
                <a:lnTo>
                  <a:pt x="0" y="76192"/>
                </a:lnTo>
                <a:cubicBezTo>
                  <a:pt x="0" y="34112"/>
                  <a:pt x="34112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350" y="2940053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Operational Flow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8350" y="32829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5013" y="32829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" y="3282953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Transmit encoded data packet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350" y="3587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5013" y="35877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" y="3587753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error → send NACK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350" y="38925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5013" y="38925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1250" y="3892553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Store previous signal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 buffer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8350" y="41973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35013" y="41973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1250" y="4197353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Retransmit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same encoded packet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8350" y="45021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5013" y="45021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1250" y="4502153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Combine all copies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using MRC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3475" y="1317625"/>
            <a:ext cx="5597525" cy="3502025"/>
          </a:xfrm>
          <a:custGeom>
            <a:avLst/>
            <a:gdLst/>
            <a:ahLst/>
            <a:cxnLst/>
            <a:rect l="l" t="t" r="r" b="b"/>
            <a:pathLst>
              <a:path w="5597525" h="3502025">
                <a:moveTo>
                  <a:pt x="76204" y="0"/>
                </a:moveTo>
                <a:lnTo>
                  <a:pt x="5521321" y="0"/>
                </a:lnTo>
                <a:cubicBezTo>
                  <a:pt x="5563407" y="0"/>
                  <a:pt x="5597525" y="34118"/>
                  <a:pt x="5597525" y="76204"/>
                </a:cubicBezTo>
                <a:lnTo>
                  <a:pt x="5597525" y="3425821"/>
                </a:lnTo>
                <a:cubicBezTo>
                  <a:pt x="5597525" y="3467907"/>
                  <a:pt x="5563407" y="3502025"/>
                  <a:pt x="5521321" y="3502025"/>
                </a:cubicBezTo>
                <a:lnTo>
                  <a:pt x="76204" y="3502025"/>
                </a:lnTo>
                <a:cubicBezTo>
                  <a:pt x="34118" y="3502025"/>
                  <a:pt x="0" y="3467907"/>
                  <a:pt x="0" y="34258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4775" y="15494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645275" y="151130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Concept: Signal Energy Accumulation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0325" y="1895478"/>
            <a:ext cx="5197475" cy="1730375"/>
          </a:xfrm>
          <a:custGeom>
            <a:avLst/>
            <a:gdLst/>
            <a:ahLst/>
            <a:cxnLst/>
            <a:rect l="l" t="t" r="r" b="b"/>
            <a:pathLst>
              <a:path w="5197475" h="1730375">
                <a:moveTo>
                  <a:pt x="76206" y="0"/>
                </a:moveTo>
                <a:lnTo>
                  <a:pt x="5121269" y="0"/>
                </a:lnTo>
                <a:cubicBezTo>
                  <a:pt x="5163357" y="0"/>
                  <a:pt x="5197475" y="34118"/>
                  <a:pt x="5197475" y="76206"/>
                </a:cubicBezTo>
                <a:lnTo>
                  <a:pt x="5197475" y="1654169"/>
                </a:lnTo>
                <a:cubicBezTo>
                  <a:pt x="5197475" y="1696257"/>
                  <a:pt x="5163357" y="1730375"/>
                  <a:pt x="5121269" y="1730375"/>
                </a:cubicBezTo>
                <a:lnTo>
                  <a:pt x="76206" y="1730375"/>
                </a:lnTo>
                <a:cubicBezTo>
                  <a:pt x="34118" y="1730375"/>
                  <a:pt x="0" y="1696257"/>
                  <a:pt x="0" y="165416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900" y="2051052"/>
            <a:ext cx="4962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retransmission adds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coherent signal energy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while noise adds incoherently, improving the effective SNR.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69075" y="2625727"/>
            <a:ext cx="4883150" cy="844550"/>
          </a:xfrm>
          <a:custGeom>
            <a:avLst/>
            <a:gdLst/>
            <a:ahLst/>
            <a:cxnLst/>
            <a:rect l="l" t="t" r="r" b="b"/>
            <a:pathLst>
              <a:path w="4883150" h="844550">
                <a:moveTo>
                  <a:pt x="76204" y="0"/>
                </a:moveTo>
                <a:lnTo>
                  <a:pt x="4806946" y="0"/>
                </a:lnTo>
                <a:cubicBezTo>
                  <a:pt x="4849032" y="0"/>
                  <a:pt x="4883150" y="34118"/>
                  <a:pt x="4883150" y="76204"/>
                </a:cubicBezTo>
                <a:lnTo>
                  <a:pt x="4883150" y="768346"/>
                </a:lnTo>
                <a:cubicBezTo>
                  <a:pt x="4883150" y="810432"/>
                  <a:pt x="4849032" y="844550"/>
                  <a:pt x="4806946" y="844550"/>
                </a:cubicBezTo>
                <a:lnTo>
                  <a:pt x="76204" y="844550"/>
                </a:lnTo>
                <a:cubicBezTo>
                  <a:pt x="34118" y="844550"/>
                  <a:pt x="0" y="810432"/>
                  <a:pt x="0" y="7683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9FAFB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4650" y="2781300"/>
            <a:ext cx="463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Equation 1: Combined SNR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77025" y="30480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SNR</a:t>
            </a:r>
            <a:r>
              <a:rPr lang="en-US" sz="1125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</a:t>
            </a: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SNR₁ + SNR₂ + ... + SNR</a:t>
            </a:r>
            <a:r>
              <a:rPr lang="en-US" sz="1125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6200" y="38227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673850" y="3784602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Maximum Ratio Combining (MRC):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Optimal linear combining technique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26200" y="4127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673850" y="4089402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Soft Combining: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Operates at signal level before decoding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26200" y="44323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673850" y="4394202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Same Redundancy: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Identical parity bits in each retransmission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0300" y="497205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76202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990598"/>
                </a:lnTo>
                <a:cubicBezTo>
                  <a:pt x="5600700" y="1032683"/>
                  <a:pt x="5566583" y="1066800"/>
                  <a:pt x="5524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0" y="5162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553200" y="512445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Conceptual Insight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62700" y="5429250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CC provides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diversity gain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by exploiting multiple independent fading realizations, significantly improving reliability in time-varying channels.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26752" y="533400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6657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Chase Combining: Analysis &amp;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76350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0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019308"/>
                </a:lnTo>
                <a:cubicBezTo>
                  <a:pt x="5600700" y="2061388"/>
                  <a:pt x="5566588" y="2095500"/>
                  <a:pt x="5524508" y="2095500"/>
                </a:cubicBez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7635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8" name="Shape 6"/>
          <p:cNvSpPr/>
          <p:nvPr/>
        </p:nvSpPr>
        <p:spPr>
          <a:xfrm>
            <a:off x="595313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7688" y="115193"/>
                </a:moveTo>
                <a:lnTo>
                  <a:pt x="77688" y="93762"/>
                </a:ln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lnTo>
                  <a:pt x="77688" y="77688"/>
                </a:lnTo>
                <a:lnTo>
                  <a:pt x="77688" y="56257"/>
                </a:lnTo>
                <a:cubicBezTo>
                  <a:pt x="77688" y="51803"/>
                  <a:pt x="81271" y="48220"/>
                  <a:pt x="85725" y="48220"/>
                </a:cubicBezTo>
                <a:cubicBezTo>
                  <a:pt x="90179" y="48220"/>
                  <a:pt x="93762" y="51803"/>
                  <a:pt x="93762" y="56257"/>
                </a:cubicBezTo>
                <a:lnTo>
                  <a:pt x="93762" y="77688"/>
                </a:ln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93762" y="93762"/>
                </a:lnTo>
                <a:lnTo>
                  <a:pt x="93762" y="115193"/>
                </a:lnTo>
                <a:cubicBezTo>
                  <a:pt x="93762" y="119647"/>
                  <a:pt x="90179" y="123230"/>
                  <a:pt x="85725" y="123230"/>
                </a:cubicBezTo>
                <a:cubicBezTo>
                  <a:pt x="81271" y="123230"/>
                  <a:pt x="77688" y="119647"/>
                  <a:pt x="77688" y="11519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4287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1847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" y="180975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Improved Reliability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" y="2038350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Significantly better than Type I HARQ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23431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2305050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SNR Performance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" y="253365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Effective SNR increases with each retransmission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2838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28003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Diversity Gain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" y="30289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Exploits time diversity in fading channels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524250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0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019308"/>
                </a:lnTo>
                <a:cubicBezTo>
                  <a:pt x="5600700" y="2061388"/>
                  <a:pt x="5566588" y="2095500"/>
                  <a:pt x="5524508" y="2095500"/>
                </a:cubicBez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352425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595313" y="3724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6257" y="77688"/>
                </a:move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90575" y="36766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4095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" y="405765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Increased Memory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" y="42862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Requires buffer storage for soft decisions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9600" y="4591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" y="45529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 Complexity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200" y="4781550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MRC operations add computational overhead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" y="50863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" y="50482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Same Code Rate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00" y="527685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coding gain improvement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4425" y="1279525"/>
            <a:ext cx="5616575" cy="3521075"/>
          </a:xfrm>
          <a:custGeom>
            <a:avLst/>
            <a:gdLst/>
            <a:ahLst/>
            <a:cxnLst/>
            <a:rect l="l" t="t" r="r" b="b"/>
            <a:pathLst>
              <a:path w="5616575" h="3521075">
                <a:moveTo>
                  <a:pt x="76196" y="0"/>
                </a:moveTo>
                <a:lnTo>
                  <a:pt x="5540379" y="0"/>
                </a:lnTo>
                <a:cubicBezTo>
                  <a:pt x="5582461" y="0"/>
                  <a:pt x="5616575" y="34114"/>
                  <a:pt x="5616575" y="76196"/>
                </a:cubicBezTo>
                <a:lnTo>
                  <a:pt x="5616575" y="3444879"/>
                </a:lnTo>
                <a:cubicBezTo>
                  <a:pt x="5616575" y="3486961"/>
                  <a:pt x="5582461" y="3521075"/>
                  <a:pt x="5540379" y="3521075"/>
                </a:cubicBezTo>
                <a:lnTo>
                  <a:pt x="76196" y="3521075"/>
                </a:lnTo>
                <a:cubicBezTo>
                  <a:pt x="34114" y="3521075"/>
                  <a:pt x="0" y="3486961"/>
                  <a:pt x="0" y="344487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813" y="148272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569075" y="143510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Characteristics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3175" y="1819278"/>
            <a:ext cx="5292725" cy="2825750"/>
          </a:xfrm>
          <a:custGeom>
            <a:avLst/>
            <a:gdLst/>
            <a:ahLst/>
            <a:cxnLst/>
            <a:rect l="l" t="t" r="r" b="b"/>
            <a:pathLst>
              <a:path w="5292725" h="2825750">
                <a:moveTo>
                  <a:pt x="76210" y="0"/>
                </a:moveTo>
                <a:lnTo>
                  <a:pt x="5216515" y="0"/>
                </a:lnTo>
                <a:cubicBezTo>
                  <a:pt x="5258604" y="0"/>
                  <a:pt x="5292725" y="34121"/>
                  <a:pt x="5292725" y="76210"/>
                </a:cubicBezTo>
                <a:lnTo>
                  <a:pt x="5292725" y="2749540"/>
                </a:lnTo>
                <a:cubicBezTo>
                  <a:pt x="5292725" y="2791629"/>
                  <a:pt x="5258604" y="2825750"/>
                  <a:pt x="5216515" y="2825750"/>
                </a:cubicBezTo>
                <a:lnTo>
                  <a:pt x="76210" y="2825750"/>
                </a:lnTo>
                <a:cubicBezTo>
                  <a:pt x="34121" y="2825750"/>
                  <a:pt x="0" y="2791629"/>
                  <a:pt x="0" y="27495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8750" y="1974852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3: Chase Combining Performance</a:t>
            </a:r>
            <a:endParaRPr lang="en-US" sz="1600" dirty="0"/>
          </a:p>
        </p:txBody>
      </p:sp>
      <p:pic>
        <p:nvPicPr>
          <p:cNvPr id="37" name="Image 0" descr="https://kimi-img.moonshot.cn/pub/slides/26-03-29-17:04:19-d74em4qmvvhvha080jt0.png"/>
          <p:cNvPicPr>
            <a:picLocks noChangeAspect="1"/>
          </p:cNvPicPr>
          <p:nvPr/>
        </p:nvPicPr>
        <p:blipFill>
          <a:blip r:embed="rId3"/>
          <a:srcRect t="32" b="32"/>
          <a:stretch/>
        </p:blipFill>
        <p:spPr>
          <a:xfrm>
            <a:off x="6508750" y="2317752"/>
            <a:ext cx="4981575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38" name="Text 35"/>
          <p:cNvSpPr/>
          <p:nvPr/>
        </p:nvSpPr>
        <p:spPr>
          <a:xfrm>
            <a:off x="6508750" y="4298952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Simulated BER vs SNR comparison: Type I vs Chase Combining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191250" y="4959353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76202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6362700" y="5149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6534150" y="5111753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Summary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43650" y="545465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38100" y="0"/>
                </a:moveTo>
                <a:lnTo>
                  <a:pt x="2581275" y="0"/>
                </a:lnTo>
                <a:cubicBezTo>
                  <a:pt x="2602303" y="0"/>
                  <a:pt x="2619375" y="17072"/>
                  <a:pt x="2619375" y="38100"/>
                </a:cubicBezTo>
                <a:lnTo>
                  <a:pt x="2619375" y="571500"/>
                </a:lnTo>
                <a:cubicBezTo>
                  <a:pt x="2619375" y="592528"/>
                  <a:pt x="2602303" y="609600"/>
                  <a:pt x="25812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386513" y="5530853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 at 10 dB SNR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72225" y="5721353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~10⁻³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039225" y="545465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38100" y="0"/>
                </a:moveTo>
                <a:lnTo>
                  <a:pt x="2581275" y="0"/>
                </a:lnTo>
                <a:cubicBezTo>
                  <a:pt x="2602303" y="0"/>
                  <a:pt x="2619375" y="17072"/>
                  <a:pt x="2619375" y="38100"/>
                </a:cubicBezTo>
                <a:lnTo>
                  <a:pt x="2619375" y="571500"/>
                </a:lnTo>
                <a:cubicBezTo>
                  <a:pt x="2619375" y="592528"/>
                  <a:pt x="2602303" y="609600"/>
                  <a:pt x="25812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9082088" y="5530853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Efficiency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067800" y="5721353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~75%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343650" y="6178553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Reduced BER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 throughput improvement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over Type I HARQ.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3-29-17:19:25-d74et7ek31qk1n6o47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412750"/>
            <a:ext cx="11337550" cy="57290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8848" y="6141831"/>
            <a:ext cx="10812667" cy="6004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 Link : </a:t>
            </a:r>
            <a:r>
              <a:rPr lang="en-IN" dirty="0"/>
              <a:t>  </a:t>
            </a:r>
            <a:r>
              <a:rPr lang="en-IN" u="sng" dirty="0">
                <a:hlinkClick r:id="rId4"/>
              </a:rPr>
              <a:t>https://drive.google.com/file/d/1kU1ZefZHrEepkwp1Bvz3mE7fPYl0F24M/view?usp=sharing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4810" y="53340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6419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Approach 3: Incremental Redundancy (IR)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14450"/>
            <a:ext cx="5581650" cy="3762375"/>
          </a:xfrm>
          <a:custGeom>
            <a:avLst/>
            <a:gdLst/>
            <a:ahLst/>
            <a:cxnLst/>
            <a:rect l="l" t="t" r="r" b="b"/>
            <a:pathLst>
              <a:path w="5581650" h="3762375">
                <a:moveTo>
                  <a:pt x="0" y="0"/>
                </a:moveTo>
                <a:lnTo>
                  <a:pt x="5505462" y="0"/>
                </a:lnTo>
                <a:cubicBezTo>
                  <a:pt x="5547539" y="0"/>
                  <a:pt x="5581650" y="34111"/>
                  <a:pt x="5581650" y="76188"/>
                </a:cubicBezTo>
                <a:lnTo>
                  <a:pt x="5581650" y="3686187"/>
                </a:lnTo>
                <a:cubicBezTo>
                  <a:pt x="5581650" y="3728264"/>
                  <a:pt x="5547539" y="3762375"/>
                  <a:pt x="5505462" y="3762375"/>
                </a:cubicBez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314450"/>
            <a:ext cx="38100" cy="3762375"/>
          </a:xfrm>
          <a:custGeom>
            <a:avLst/>
            <a:gdLst/>
            <a:ahLst/>
            <a:cxnLst/>
            <a:rect l="l" t="t" r="r" b="b"/>
            <a:pathLst>
              <a:path w="38100" h="3762375">
                <a:moveTo>
                  <a:pt x="0" y="0"/>
                </a:moveTo>
                <a:lnTo>
                  <a:pt x="38100" y="0"/>
                </a:lnTo>
                <a:lnTo>
                  <a:pt x="38100" y="3762375"/>
                </a:ln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847725" y="150495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Mechanism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88595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Incremental Redundancy (IR)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represents the most advanced HARQ scheme, transmitting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different parity bits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 each retransmission to gradually increase coding redundancy and improve error correction capability.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775" y="2784475"/>
            <a:ext cx="5178425" cy="2101850"/>
          </a:xfrm>
          <a:custGeom>
            <a:avLst/>
            <a:gdLst/>
            <a:ahLst/>
            <a:cxnLst/>
            <a:rect l="l" t="t" r="r" b="b"/>
            <a:pathLst>
              <a:path w="5178425" h="2101850">
                <a:moveTo>
                  <a:pt x="76192" y="0"/>
                </a:moveTo>
                <a:lnTo>
                  <a:pt x="5102233" y="0"/>
                </a:lnTo>
                <a:cubicBezTo>
                  <a:pt x="5144313" y="0"/>
                  <a:pt x="5178425" y="34112"/>
                  <a:pt x="5178425" y="76192"/>
                </a:cubicBezTo>
                <a:lnTo>
                  <a:pt x="5178425" y="2025658"/>
                </a:lnTo>
                <a:cubicBezTo>
                  <a:pt x="5178425" y="2067738"/>
                  <a:pt x="5144313" y="2101850"/>
                  <a:pt x="5102233" y="2101850"/>
                </a:cubicBezTo>
                <a:lnTo>
                  <a:pt x="76192" y="2101850"/>
                </a:lnTo>
                <a:cubicBezTo>
                  <a:pt x="34112" y="2101850"/>
                  <a:pt x="0" y="2067738"/>
                  <a:pt x="0" y="2025658"/>
                </a:cubicBezTo>
                <a:lnTo>
                  <a:pt x="0" y="76192"/>
                </a:lnTo>
                <a:cubicBezTo>
                  <a:pt x="0" y="34112"/>
                  <a:pt x="34112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350" y="2940053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Operational Flow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350" y="32829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5013" y="32829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1250" y="3282953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Transmit initial coded packet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350" y="3587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5013" y="35877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" y="3587753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error → send NACK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8350" y="38925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5013" y="38925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1250" y="3898906"/>
            <a:ext cx="14737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Store received packet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8350" y="41973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5013" y="41973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50" y="4197353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Retransmit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different parity bits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8350" y="45021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5013" y="450215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1250" y="4502153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Combine all transmissions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decoding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3475" y="1317625"/>
            <a:ext cx="5597525" cy="3825875"/>
          </a:xfrm>
          <a:custGeom>
            <a:avLst/>
            <a:gdLst/>
            <a:ahLst/>
            <a:cxnLst/>
            <a:rect l="l" t="t" r="r" b="b"/>
            <a:pathLst>
              <a:path w="5597525" h="3825875">
                <a:moveTo>
                  <a:pt x="76211" y="0"/>
                </a:moveTo>
                <a:lnTo>
                  <a:pt x="5521314" y="0"/>
                </a:lnTo>
                <a:cubicBezTo>
                  <a:pt x="5563404" y="0"/>
                  <a:pt x="5597525" y="34121"/>
                  <a:pt x="5597525" y="76211"/>
                </a:cubicBezTo>
                <a:lnTo>
                  <a:pt x="5597525" y="3749664"/>
                </a:lnTo>
                <a:cubicBezTo>
                  <a:pt x="5597525" y="3791754"/>
                  <a:pt x="5563404" y="3825875"/>
                  <a:pt x="5521314" y="3825875"/>
                </a:cubicBezTo>
                <a:lnTo>
                  <a:pt x="76211" y="3825875"/>
                </a:lnTo>
                <a:cubicBezTo>
                  <a:pt x="34121" y="3825875"/>
                  <a:pt x="0" y="3791754"/>
                  <a:pt x="0" y="3749664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0963" y="15494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645275" y="151130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Concept: Gradual Redundancy Increase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0325" y="1895478"/>
            <a:ext cx="5197475" cy="2063750"/>
          </a:xfrm>
          <a:custGeom>
            <a:avLst/>
            <a:gdLst/>
            <a:ahLst/>
            <a:cxnLst/>
            <a:rect l="l" t="t" r="r" b="b"/>
            <a:pathLst>
              <a:path w="5197475" h="2063750">
                <a:moveTo>
                  <a:pt x="76194" y="0"/>
                </a:moveTo>
                <a:lnTo>
                  <a:pt x="5121281" y="0"/>
                </a:lnTo>
                <a:cubicBezTo>
                  <a:pt x="5163362" y="0"/>
                  <a:pt x="5197475" y="34113"/>
                  <a:pt x="5197475" y="76194"/>
                </a:cubicBezTo>
                <a:lnTo>
                  <a:pt x="5197475" y="1987556"/>
                </a:lnTo>
                <a:cubicBezTo>
                  <a:pt x="5197475" y="2029637"/>
                  <a:pt x="5163362" y="2063750"/>
                  <a:pt x="5121281" y="2063750"/>
                </a:cubicBezTo>
                <a:lnTo>
                  <a:pt x="76194" y="2063750"/>
                </a:lnTo>
                <a:cubicBezTo>
                  <a:pt x="34113" y="2063750"/>
                  <a:pt x="0" y="2029637"/>
                  <a:pt x="0" y="198755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900" y="2051056"/>
            <a:ext cx="4962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retransmission adds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new parity information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effectively lowering the code rate and increasing error correction capability.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65900" y="2622556"/>
            <a:ext cx="4886325" cy="342900"/>
          </a:xfrm>
          <a:custGeom>
            <a:avLst/>
            <a:gdLst/>
            <a:ahLst/>
            <a:cxnLst/>
            <a:rect l="l" t="t" r="r" b="b"/>
            <a:pathLst>
              <a:path w="4886325" h="342900">
                <a:moveTo>
                  <a:pt x="38100" y="0"/>
                </a:moveTo>
                <a:lnTo>
                  <a:pt x="4848225" y="0"/>
                </a:lnTo>
                <a:cubicBezTo>
                  <a:pt x="4869267" y="0"/>
                  <a:pt x="4886325" y="17058"/>
                  <a:pt x="4886325" y="38100"/>
                </a:cubicBezTo>
                <a:lnTo>
                  <a:pt x="4886325" y="304800"/>
                </a:lnTo>
                <a:cubicBezTo>
                  <a:pt x="4886325" y="325842"/>
                  <a:pt x="4869267" y="342900"/>
                  <a:pt x="48482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Text 32"/>
          <p:cNvSpPr/>
          <p:nvPr/>
        </p:nvSpPr>
        <p:spPr>
          <a:xfrm>
            <a:off x="6642100" y="2698756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1st Transmission: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353279" y="2698756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Rate R = 1/2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65900" y="3041656"/>
            <a:ext cx="4886325" cy="342900"/>
          </a:xfrm>
          <a:custGeom>
            <a:avLst/>
            <a:gdLst/>
            <a:ahLst/>
            <a:cxnLst/>
            <a:rect l="l" t="t" r="r" b="b"/>
            <a:pathLst>
              <a:path w="4886325" h="342900">
                <a:moveTo>
                  <a:pt x="38100" y="0"/>
                </a:moveTo>
                <a:lnTo>
                  <a:pt x="4848225" y="0"/>
                </a:lnTo>
                <a:cubicBezTo>
                  <a:pt x="4869267" y="0"/>
                  <a:pt x="4886325" y="17058"/>
                  <a:pt x="4886325" y="38100"/>
                </a:cubicBezTo>
                <a:lnTo>
                  <a:pt x="4886325" y="304800"/>
                </a:lnTo>
                <a:cubicBezTo>
                  <a:pt x="4886325" y="325842"/>
                  <a:pt x="4869267" y="342900"/>
                  <a:pt x="48482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7" name="Text 35"/>
          <p:cNvSpPr/>
          <p:nvPr/>
        </p:nvSpPr>
        <p:spPr>
          <a:xfrm>
            <a:off x="6642100" y="3117856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2nd Transmission: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61812" y="3117856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Rate R = 1/3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65900" y="3460756"/>
            <a:ext cx="4886325" cy="342900"/>
          </a:xfrm>
          <a:custGeom>
            <a:avLst/>
            <a:gdLst/>
            <a:ahLst/>
            <a:cxnLst/>
            <a:rect l="l" t="t" r="r" b="b"/>
            <a:pathLst>
              <a:path w="4886325" h="342900">
                <a:moveTo>
                  <a:pt x="38100" y="0"/>
                </a:moveTo>
                <a:lnTo>
                  <a:pt x="4848225" y="0"/>
                </a:lnTo>
                <a:cubicBezTo>
                  <a:pt x="4869267" y="0"/>
                  <a:pt x="4886325" y="17058"/>
                  <a:pt x="4886325" y="38100"/>
                </a:cubicBezTo>
                <a:lnTo>
                  <a:pt x="4886325" y="304800"/>
                </a:lnTo>
                <a:cubicBezTo>
                  <a:pt x="4886325" y="325842"/>
                  <a:pt x="4869267" y="342900"/>
                  <a:pt x="48482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0" name="Text 38"/>
          <p:cNvSpPr/>
          <p:nvPr/>
        </p:nvSpPr>
        <p:spPr>
          <a:xfrm>
            <a:off x="6642100" y="3536956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3rd Transmission: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48516" y="3536956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Rate R = 1/4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26200" y="4152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673850" y="4114800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Soft Combining: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Operates at code level with advanced decoding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26200" y="4457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6673850" y="441960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Coding Gain: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Additional gain from code combining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2620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6673850" y="4724400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Rate Compatibility: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Uses rate-compatible punctured codes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0300" y="5302253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76202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990598"/>
                </a:lnTo>
                <a:cubicBezTo>
                  <a:pt x="5600700" y="1032683"/>
                  <a:pt x="5566583" y="1066800"/>
                  <a:pt x="5524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400800" y="54927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553200" y="5454653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Conceptual Insight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2700" y="5759453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IR provides both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diversity gain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(like CC) and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coding gain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achieving the best error performance among all HARQ schemes.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32606" y="533400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Incremental Redundancy: Analysis &amp;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76350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2514605"/>
                </a:lnTo>
                <a:cubicBezTo>
                  <a:pt x="5600700" y="2556686"/>
                  <a:pt x="5566586" y="2590800"/>
                  <a:pt x="5524505" y="2590800"/>
                </a:cubicBez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7635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8" name="Shape 6"/>
          <p:cNvSpPr/>
          <p:nvPr/>
        </p:nvSpPr>
        <p:spPr>
          <a:xfrm>
            <a:off x="595313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7688" y="115193"/>
                </a:moveTo>
                <a:lnTo>
                  <a:pt x="77688" y="93762"/>
                </a:ln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lnTo>
                  <a:pt x="77688" y="77688"/>
                </a:lnTo>
                <a:lnTo>
                  <a:pt x="77688" y="56257"/>
                </a:lnTo>
                <a:cubicBezTo>
                  <a:pt x="77688" y="51803"/>
                  <a:pt x="81271" y="48220"/>
                  <a:pt x="85725" y="48220"/>
                </a:cubicBezTo>
                <a:cubicBezTo>
                  <a:pt x="90179" y="48220"/>
                  <a:pt x="93762" y="51803"/>
                  <a:pt x="93762" y="56257"/>
                </a:cubicBezTo>
                <a:lnTo>
                  <a:pt x="93762" y="77688"/>
                </a:ln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93762" y="93762"/>
                </a:lnTo>
                <a:lnTo>
                  <a:pt x="93762" y="115193"/>
                </a:lnTo>
                <a:cubicBezTo>
                  <a:pt x="93762" y="119647"/>
                  <a:pt x="90179" y="123230"/>
                  <a:pt x="85725" y="123230"/>
                </a:cubicBezTo>
                <a:cubicBezTo>
                  <a:pt x="81271" y="123230"/>
                  <a:pt x="77688" y="119647"/>
                  <a:pt x="77688" y="11519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4287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1847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" y="180975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Error 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" y="2038350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Lowest BER among all HARQ schemes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23431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230505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Throughput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" y="25336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Optimal spectrum utilization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2838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280035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Efficient Bandwidth Usage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" y="302895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Different parity bits maximize information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0075" y="3333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" y="329565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Coding + Diversity Gain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" y="3524250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Both types of gain combined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019550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0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019308"/>
                </a:lnTo>
                <a:cubicBezTo>
                  <a:pt x="5600700" y="2061388"/>
                  <a:pt x="5566588" y="2095500"/>
                  <a:pt x="5524508" y="2095500"/>
                </a:cubicBez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401955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5313" y="4219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6257" y="77688"/>
                </a:move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0575" y="41719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9600" y="4591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" y="45529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Complexity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200" y="4781550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encoding/decoding required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" y="50863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" y="50482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Coding Required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00" y="52768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Needs rate-compatible codes (Turbo/LDPC)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9600" y="55816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38200" y="554355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Memory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200" y="5772150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Store multiple different transmissions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4425" y="1279525"/>
            <a:ext cx="5616575" cy="3521075"/>
          </a:xfrm>
          <a:custGeom>
            <a:avLst/>
            <a:gdLst/>
            <a:ahLst/>
            <a:cxnLst/>
            <a:rect l="l" t="t" r="r" b="b"/>
            <a:pathLst>
              <a:path w="5616575" h="3521075">
                <a:moveTo>
                  <a:pt x="76196" y="0"/>
                </a:moveTo>
                <a:lnTo>
                  <a:pt x="5540379" y="0"/>
                </a:lnTo>
                <a:cubicBezTo>
                  <a:pt x="5582461" y="0"/>
                  <a:pt x="5616575" y="34114"/>
                  <a:pt x="5616575" y="76196"/>
                </a:cubicBezTo>
                <a:lnTo>
                  <a:pt x="5616575" y="3444879"/>
                </a:lnTo>
                <a:cubicBezTo>
                  <a:pt x="5616575" y="3486961"/>
                  <a:pt x="5582461" y="3521075"/>
                  <a:pt x="5540379" y="3521075"/>
                </a:cubicBezTo>
                <a:lnTo>
                  <a:pt x="76196" y="3521075"/>
                </a:lnTo>
                <a:cubicBezTo>
                  <a:pt x="34114" y="3521075"/>
                  <a:pt x="0" y="3486961"/>
                  <a:pt x="0" y="344487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3813" y="148272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569075" y="143510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Characteristics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3175" y="1819278"/>
            <a:ext cx="5292725" cy="2825750"/>
          </a:xfrm>
          <a:custGeom>
            <a:avLst/>
            <a:gdLst/>
            <a:ahLst/>
            <a:cxnLst/>
            <a:rect l="l" t="t" r="r" b="b"/>
            <a:pathLst>
              <a:path w="5292725" h="2825750">
                <a:moveTo>
                  <a:pt x="76210" y="0"/>
                </a:moveTo>
                <a:lnTo>
                  <a:pt x="5216515" y="0"/>
                </a:lnTo>
                <a:cubicBezTo>
                  <a:pt x="5258604" y="0"/>
                  <a:pt x="5292725" y="34121"/>
                  <a:pt x="5292725" y="76210"/>
                </a:cubicBezTo>
                <a:lnTo>
                  <a:pt x="5292725" y="2749540"/>
                </a:lnTo>
                <a:cubicBezTo>
                  <a:pt x="5292725" y="2791629"/>
                  <a:pt x="5258604" y="2825750"/>
                  <a:pt x="5216515" y="2825750"/>
                </a:cubicBezTo>
                <a:lnTo>
                  <a:pt x="76210" y="2825750"/>
                </a:lnTo>
                <a:cubicBezTo>
                  <a:pt x="34121" y="2825750"/>
                  <a:pt x="0" y="2791629"/>
                  <a:pt x="0" y="27495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8750" y="1974856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4: Incremental Redundancy Performance</a:t>
            </a:r>
            <a:endParaRPr lang="en-US" sz="1600" dirty="0"/>
          </a:p>
        </p:txBody>
      </p:sp>
      <p:pic>
        <p:nvPicPr>
          <p:cNvPr id="40" name="Image 0" descr="https://kimi-img.moonshot.cn/pub/slides/26-03-29-17:04:19-d74em4ov0254bccc97kg.png"/>
          <p:cNvPicPr>
            <a:picLocks noChangeAspect="1"/>
          </p:cNvPicPr>
          <p:nvPr/>
        </p:nvPicPr>
        <p:blipFill>
          <a:blip r:embed="rId3"/>
          <a:srcRect t="32" b="32"/>
          <a:stretch/>
        </p:blipFill>
        <p:spPr>
          <a:xfrm>
            <a:off x="6508750" y="2317756"/>
            <a:ext cx="4981575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41" name="Text 38"/>
          <p:cNvSpPr/>
          <p:nvPr/>
        </p:nvSpPr>
        <p:spPr>
          <a:xfrm>
            <a:off x="6508750" y="4298956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Simulated BER comparison: All three HARQ schemes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191250" y="4959353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76202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Shape 40"/>
          <p:cNvSpPr/>
          <p:nvPr/>
        </p:nvSpPr>
        <p:spPr>
          <a:xfrm>
            <a:off x="6362700" y="5149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6534150" y="5111753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Summary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343650" y="545465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38100" y="0"/>
                </a:moveTo>
                <a:lnTo>
                  <a:pt x="2581275" y="0"/>
                </a:lnTo>
                <a:cubicBezTo>
                  <a:pt x="2602303" y="0"/>
                  <a:pt x="2619375" y="17072"/>
                  <a:pt x="2619375" y="38100"/>
                </a:cubicBezTo>
                <a:lnTo>
                  <a:pt x="2619375" y="571500"/>
                </a:lnTo>
                <a:cubicBezTo>
                  <a:pt x="2619375" y="592528"/>
                  <a:pt x="2602303" y="609600"/>
                  <a:pt x="25812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386513" y="5530853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 at 10 dB SNR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72225" y="5721353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~10⁻⁴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9039225" y="545465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38100" y="0"/>
                </a:moveTo>
                <a:lnTo>
                  <a:pt x="2581275" y="0"/>
                </a:lnTo>
                <a:cubicBezTo>
                  <a:pt x="2602303" y="0"/>
                  <a:pt x="2619375" y="17072"/>
                  <a:pt x="2619375" y="38100"/>
                </a:cubicBezTo>
                <a:lnTo>
                  <a:pt x="2619375" y="571500"/>
                </a:lnTo>
                <a:cubicBezTo>
                  <a:pt x="2619375" y="592528"/>
                  <a:pt x="2602303" y="609600"/>
                  <a:pt x="25812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9082088" y="5530853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Efficiency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067800" y="5721353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~85%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343650" y="6178553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Lowest BER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overall performance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—ideal for 5G applications.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3-29-17:19:51-d74etdschmttu02m0b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33" y="0"/>
            <a:ext cx="10868175" cy="6254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6346" y="6340286"/>
            <a:ext cx="11271341" cy="3283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 Link:  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 </a:t>
            </a:r>
            <a:r>
              <a:rPr lang="en-IN" dirty="0"/>
              <a:t> </a:t>
            </a:r>
            <a:r>
              <a:rPr lang="en-IN" u="sng" dirty="0">
                <a:hlinkClick r:id="rId4"/>
              </a:rPr>
              <a:t>https://drive.google.com/file/d/1CXkximxC0kV0OQwOXhVA5ePVRsdiFDlN/view?usp=sharing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537" y="366317"/>
            <a:ext cx="382244" cy="382244"/>
          </a:xfrm>
          <a:custGeom>
            <a:avLst/>
            <a:gdLst/>
            <a:ahLst/>
            <a:cxnLst/>
            <a:rect l="l" t="t" r="r" b="b"/>
            <a:pathLst>
              <a:path w="382244" h="382244">
                <a:moveTo>
                  <a:pt x="63709" y="0"/>
                </a:moveTo>
                <a:lnTo>
                  <a:pt x="318536" y="0"/>
                </a:lnTo>
                <a:cubicBezTo>
                  <a:pt x="353721" y="0"/>
                  <a:pt x="382244" y="28523"/>
                  <a:pt x="382244" y="63709"/>
                </a:cubicBezTo>
                <a:lnTo>
                  <a:pt x="382244" y="318536"/>
                </a:lnTo>
                <a:cubicBezTo>
                  <a:pt x="382244" y="353721"/>
                  <a:pt x="353721" y="382244"/>
                  <a:pt x="318536" y="382244"/>
                </a:cubicBezTo>
                <a:lnTo>
                  <a:pt x="63709" y="382244"/>
                </a:lnTo>
                <a:cubicBezTo>
                  <a:pt x="28523" y="382244"/>
                  <a:pt x="0" y="353721"/>
                  <a:pt x="0" y="318536"/>
                </a:cubicBezTo>
                <a:lnTo>
                  <a:pt x="0" y="63709"/>
                </a:lnTo>
                <a:cubicBezTo>
                  <a:pt x="0" y="28523"/>
                  <a:pt x="28523" y="0"/>
                  <a:pt x="637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0348" y="445952"/>
            <a:ext cx="199086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6342" y="477805"/>
            <a:ext cx="4475444" cy="31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Comparative Results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537" y="923757"/>
            <a:ext cx="11554926" cy="15927"/>
          </a:xfrm>
          <a:custGeom>
            <a:avLst/>
            <a:gdLst/>
            <a:ahLst/>
            <a:cxnLst/>
            <a:rect l="l" t="t" r="r" b="b"/>
            <a:pathLst>
              <a:path w="11554926" h="15927">
                <a:moveTo>
                  <a:pt x="0" y="0"/>
                </a:moveTo>
                <a:lnTo>
                  <a:pt x="11554926" y="0"/>
                </a:lnTo>
                <a:lnTo>
                  <a:pt x="11554926" y="15927"/>
                </a:lnTo>
                <a:lnTo>
                  <a:pt x="0" y="15927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6500" y="1075062"/>
            <a:ext cx="3750772" cy="2277539"/>
          </a:xfrm>
          <a:custGeom>
            <a:avLst/>
            <a:gdLst/>
            <a:ahLst/>
            <a:cxnLst/>
            <a:rect l="l" t="t" r="r" b="b"/>
            <a:pathLst>
              <a:path w="3750772" h="2277539">
                <a:moveTo>
                  <a:pt x="63703" y="0"/>
                </a:moveTo>
                <a:lnTo>
                  <a:pt x="3687069" y="0"/>
                </a:lnTo>
                <a:cubicBezTo>
                  <a:pt x="3722251" y="0"/>
                  <a:pt x="3750772" y="28521"/>
                  <a:pt x="3750772" y="63703"/>
                </a:cubicBezTo>
                <a:lnTo>
                  <a:pt x="3750772" y="2213836"/>
                </a:lnTo>
                <a:cubicBezTo>
                  <a:pt x="3750772" y="2249018"/>
                  <a:pt x="3722251" y="2277539"/>
                  <a:pt x="3687069" y="2277539"/>
                </a:cubicBezTo>
                <a:lnTo>
                  <a:pt x="63703" y="2277539"/>
                </a:lnTo>
                <a:cubicBezTo>
                  <a:pt x="28521" y="2277539"/>
                  <a:pt x="0" y="2249018"/>
                  <a:pt x="0" y="2213836"/>
                </a:cubicBezTo>
                <a:lnTo>
                  <a:pt x="0" y="63703"/>
                </a:lnTo>
                <a:cubicBezTo>
                  <a:pt x="0" y="28544"/>
                  <a:pt x="28544" y="0"/>
                  <a:pt x="63703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8413" y="1210440"/>
            <a:ext cx="445952" cy="445952"/>
          </a:xfrm>
          <a:custGeom>
            <a:avLst/>
            <a:gdLst/>
            <a:ahLst/>
            <a:cxnLst/>
            <a:rect l="l" t="t" r="r" b="b"/>
            <a:pathLst>
              <a:path w="445952" h="445952">
                <a:moveTo>
                  <a:pt x="222976" y="0"/>
                </a:moveTo>
                <a:lnTo>
                  <a:pt x="222976" y="0"/>
                </a:lnTo>
                <a:cubicBezTo>
                  <a:pt x="346122" y="0"/>
                  <a:pt x="445952" y="99830"/>
                  <a:pt x="445952" y="222976"/>
                </a:cubicBezTo>
                <a:lnTo>
                  <a:pt x="445952" y="222976"/>
                </a:lnTo>
                <a:cubicBezTo>
                  <a:pt x="445952" y="346122"/>
                  <a:pt x="346122" y="445952"/>
                  <a:pt x="222976" y="445952"/>
                </a:cubicBezTo>
                <a:lnTo>
                  <a:pt x="222976" y="445952"/>
                </a:lnTo>
                <a:cubicBezTo>
                  <a:pt x="99830" y="445952"/>
                  <a:pt x="0" y="346122"/>
                  <a:pt x="0" y="222976"/>
                </a:cubicBezTo>
                <a:lnTo>
                  <a:pt x="0" y="222976"/>
                </a:lnTo>
                <a:cubicBezTo>
                  <a:pt x="0" y="99830"/>
                  <a:pt x="99830" y="0"/>
                  <a:pt x="222976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093882" y="1337855"/>
            <a:ext cx="215012" cy="191122"/>
          </a:xfrm>
          <a:custGeom>
            <a:avLst/>
            <a:gdLst/>
            <a:ahLst/>
            <a:cxnLst/>
            <a:rect l="l" t="t" r="r" b="b"/>
            <a:pathLst>
              <a:path w="215012" h="191122">
                <a:moveTo>
                  <a:pt x="56217" y="15454"/>
                </a:moveTo>
                <a:cubicBezTo>
                  <a:pt x="51551" y="10788"/>
                  <a:pt x="43973" y="10788"/>
                  <a:pt x="39307" y="15454"/>
                </a:cubicBezTo>
                <a:lnTo>
                  <a:pt x="3472" y="51289"/>
                </a:lnTo>
                <a:cubicBezTo>
                  <a:pt x="-1195" y="55955"/>
                  <a:pt x="-1195" y="63533"/>
                  <a:pt x="3472" y="68199"/>
                </a:cubicBezTo>
                <a:cubicBezTo>
                  <a:pt x="8138" y="72865"/>
                  <a:pt x="15715" y="72865"/>
                  <a:pt x="20381" y="68199"/>
                </a:cubicBezTo>
                <a:lnTo>
                  <a:pt x="35835" y="52745"/>
                </a:lnTo>
                <a:lnTo>
                  <a:pt x="35835" y="167232"/>
                </a:lnTo>
                <a:cubicBezTo>
                  <a:pt x="35835" y="173839"/>
                  <a:pt x="41173" y="179177"/>
                  <a:pt x="47781" y="179177"/>
                </a:cubicBezTo>
                <a:cubicBezTo>
                  <a:pt x="54388" y="179177"/>
                  <a:pt x="59726" y="173839"/>
                  <a:pt x="59726" y="167232"/>
                </a:cubicBezTo>
                <a:lnTo>
                  <a:pt x="59726" y="52745"/>
                </a:lnTo>
                <a:lnTo>
                  <a:pt x="75180" y="68199"/>
                </a:lnTo>
                <a:cubicBezTo>
                  <a:pt x="79846" y="72865"/>
                  <a:pt x="87423" y="72865"/>
                  <a:pt x="92090" y="68199"/>
                </a:cubicBezTo>
                <a:cubicBezTo>
                  <a:pt x="96756" y="63533"/>
                  <a:pt x="96756" y="55955"/>
                  <a:pt x="92090" y="51289"/>
                </a:cubicBezTo>
                <a:lnTo>
                  <a:pt x="56254" y="15454"/>
                </a:lnTo>
                <a:close/>
                <a:moveTo>
                  <a:pt x="119451" y="179177"/>
                </a:moveTo>
                <a:lnTo>
                  <a:pt x="131396" y="179177"/>
                </a:lnTo>
                <a:cubicBezTo>
                  <a:pt x="138004" y="179177"/>
                  <a:pt x="143342" y="173839"/>
                  <a:pt x="143342" y="167232"/>
                </a:cubicBezTo>
                <a:cubicBezTo>
                  <a:pt x="143342" y="160625"/>
                  <a:pt x="138004" y="155287"/>
                  <a:pt x="131396" y="155287"/>
                </a:cubicBezTo>
                <a:lnTo>
                  <a:pt x="119451" y="155287"/>
                </a:lnTo>
                <a:cubicBezTo>
                  <a:pt x="112844" y="155287"/>
                  <a:pt x="107506" y="160625"/>
                  <a:pt x="107506" y="167232"/>
                </a:cubicBezTo>
                <a:cubicBezTo>
                  <a:pt x="107506" y="173839"/>
                  <a:pt x="112844" y="179177"/>
                  <a:pt x="119451" y="179177"/>
                </a:cubicBezTo>
                <a:close/>
                <a:moveTo>
                  <a:pt x="119451" y="131396"/>
                </a:moveTo>
                <a:lnTo>
                  <a:pt x="155287" y="131396"/>
                </a:lnTo>
                <a:cubicBezTo>
                  <a:pt x="161894" y="131396"/>
                  <a:pt x="167232" y="126058"/>
                  <a:pt x="167232" y="119451"/>
                </a:cubicBezTo>
                <a:cubicBezTo>
                  <a:pt x="167232" y="112844"/>
                  <a:pt x="161894" y="107506"/>
                  <a:pt x="155287" y="107506"/>
                </a:cubicBezTo>
                <a:lnTo>
                  <a:pt x="119451" y="107506"/>
                </a:lnTo>
                <a:cubicBezTo>
                  <a:pt x="112844" y="107506"/>
                  <a:pt x="107506" y="112844"/>
                  <a:pt x="107506" y="119451"/>
                </a:cubicBezTo>
                <a:cubicBezTo>
                  <a:pt x="107506" y="126058"/>
                  <a:pt x="112844" y="131396"/>
                  <a:pt x="119451" y="131396"/>
                </a:cubicBezTo>
                <a:close/>
                <a:moveTo>
                  <a:pt x="119451" y="83616"/>
                </a:moveTo>
                <a:lnTo>
                  <a:pt x="179177" y="83616"/>
                </a:lnTo>
                <a:cubicBezTo>
                  <a:pt x="185784" y="83616"/>
                  <a:pt x="191122" y="78278"/>
                  <a:pt x="191122" y="71671"/>
                </a:cubicBezTo>
                <a:cubicBezTo>
                  <a:pt x="191122" y="65064"/>
                  <a:pt x="185784" y="59726"/>
                  <a:pt x="179177" y="59726"/>
                </a:cubicBezTo>
                <a:lnTo>
                  <a:pt x="119451" y="59726"/>
                </a:lnTo>
                <a:cubicBezTo>
                  <a:pt x="112844" y="59726"/>
                  <a:pt x="107506" y="65064"/>
                  <a:pt x="107506" y="71671"/>
                </a:cubicBezTo>
                <a:cubicBezTo>
                  <a:pt x="107506" y="78278"/>
                  <a:pt x="112844" y="83616"/>
                  <a:pt x="119451" y="83616"/>
                </a:cubicBezTo>
                <a:close/>
                <a:moveTo>
                  <a:pt x="119451" y="35835"/>
                </a:moveTo>
                <a:lnTo>
                  <a:pt x="203067" y="35835"/>
                </a:lnTo>
                <a:cubicBezTo>
                  <a:pt x="209674" y="35835"/>
                  <a:pt x="215012" y="30497"/>
                  <a:pt x="215012" y="23890"/>
                </a:cubicBezTo>
                <a:cubicBezTo>
                  <a:pt x="215012" y="17283"/>
                  <a:pt x="209674" y="11945"/>
                  <a:pt x="203067" y="11945"/>
                </a:cubicBezTo>
                <a:lnTo>
                  <a:pt x="119451" y="11945"/>
                </a:lnTo>
                <a:cubicBezTo>
                  <a:pt x="112844" y="11945"/>
                  <a:pt x="107506" y="17283"/>
                  <a:pt x="107506" y="23890"/>
                </a:cubicBezTo>
                <a:cubicBezTo>
                  <a:pt x="107506" y="30497"/>
                  <a:pt x="112844" y="35835"/>
                  <a:pt x="119451" y="35835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426043" y="1720099"/>
            <a:ext cx="3551686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BER Performance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007" y="1943075"/>
            <a:ext cx="3535760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8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Lower is Better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4533" y="2200559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895" y="2266924"/>
            <a:ext cx="1361745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 Incremental Redundancy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9513" y="2266924"/>
            <a:ext cx="334464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4533" y="2561573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5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895" y="2627929"/>
            <a:ext cx="1043208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 Chase Combining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2247" y="2627929"/>
            <a:ext cx="422061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8B0000">
                    <a:alpha val="7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GOOD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4533" y="2922579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895" y="2988943"/>
            <a:ext cx="836159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 Type I HARQ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38829" y="2988943"/>
            <a:ext cx="390208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19702" y="1075062"/>
            <a:ext cx="3750772" cy="2277539"/>
          </a:xfrm>
          <a:custGeom>
            <a:avLst/>
            <a:gdLst/>
            <a:ahLst/>
            <a:cxnLst/>
            <a:rect l="l" t="t" r="r" b="b"/>
            <a:pathLst>
              <a:path w="3750772" h="2277539">
                <a:moveTo>
                  <a:pt x="63703" y="0"/>
                </a:moveTo>
                <a:lnTo>
                  <a:pt x="3687069" y="0"/>
                </a:lnTo>
                <a:cubicBezTo>
                  <a:pt x="3722251" y="0"/>
                  <a:pt x="3750772" y="28521"/>
                  <a:pt x="3750772" y="63703"/>
                </a:cubicBezTo>
                <a:lnTo>
                  <a:pt x="3750772" y="2213836"/>
                </a:lnTo>
                <a:cubicBezTo>
                  <a:pt x="3750772" y="2249018"/>
                  <a:pt x="3722251" y="2277539"/>
                  <a:pt x="3687069" y="2277539"/>
                </a:cubicBezTo>
                <a:lnTo>
                  <a:pt x="63703" y="2277539"/>
                </a:lnTo>
                <a:cubicBezTo>
                  <a:pt x="28521" y="2277539"/>
                  <a:pt x="0" y="2249018"/>
                  <a:pt x="0" y="2213836"/>
                </a:cubicBezTo>
                <a:lnTo>
                  <a:pt x="0" y="63703"/>
                </a:lnTo>
                <a:cubicBezTo>
                  <a:pt x="0" y="28544"/>
                  <a:pt x="28544" y="0"/>
                  <a:pt x="63703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1614" y="1210440"/>
            <a:ext cx="445952" cy="445952"/>
          </a:xfrm>
          <a:custGeom>
            <a:avLst/>
            <a:gdLst/>
            <a:ahLst/>
            <a:cxnLst/>
            <a:rect l="l" t="t" r="r" b="b"/>
            <a:pathLst>
              <a:path w="445952" h="445952">
                <a:moveTo>
                  <a:pt x="222976" y="0"/>
                </a:moveTo>
                <a:lnTo>
                  <a:pt x="222976" y="0"/>
                </a:lnTo>
                <a:cubicBezTo>
                  <a:pt x="346122" y="0"/>
                  <a:pt x="445952" y="99830"/>
                  <a:pt x="445952" y="222976"/>
                </a:cubicBezTo>
                <a:lnTo>
                  <a:pt x="445952" y="222976"/>
                </a:lnTo>
                <a:cubicBezTo>
                  <a:pt x="445952" y="346122"/>
                  <a:pt x="346122" y="445952"/>
                  <a:pt x="222976" y="445952"/>
                </a:cubicBezTo>
                <a:lnTo>
                  <a:pt x="222976" y="445952"/>
                </a:lnTo>
                <a:cubicBezTo>
                  <a:pt x="99830" y="445952"/>
                  <a:pt x="0" y="346122"/>
                  <a:pt x="0" y="222976"/>
                </a:cubicBezTo>
                <a:lnTo>
                  <a:pt x="0" y="222976"/>
                </a:lnTo>
                <a:cubicBezTo>
                  <a:pt x="0" y="99830"/>
                  <a:pt x="99830" y="0"/>
                  <a:pt x="222976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99029" y="1337855"/>
            <a:ext cx="191122" cy="191122"/>
          </a:xfrm>
          <a:custGeom>
            <a:avLst/>
            <a:gdLst/>
            <a:ahLst/>
            <a:cxnLst/>
            <a:rect l="l" t="t" r="r" b="b"/>
            <a:pathLst>
              <a:path w="191122" h="191122">
                <a:moveTo>
                  <a:pt x="0" y="95561"/>
                </a:moveTo>
                <a:cubicBezTo>
                  <a:pt x="0" y="42819"/>
                  <a:pt x="42819" y="0"/>
                  <a:pt x="95561" y="0"/>
                </a:cubicBezTo>
                <a:cubicBezTo>
                  <a:pt x="148303" y="0"/>
                  <a:pt x="191122" y="42819"/>
                  <a:pt x="191122" y="95561"/>
                </a:cubicBezTo>
                <a:cubicBezTo>
                  <a:pt x="191122" y="148303"/>
                  <a:pt x="148303" y="191122"/>
                  <a:pt x="95561" y="191122"/>
                </a:cubicBezTo>
                <a:cubicBezTo>
                  <a:pt x="42819" y="191122"/>
                  <a:pt x="0" y="148303"/>
                  <a:pt x="0" y="95561"/>
                </a:cubicBezTo>
                <a:close/>
                <a:moveTo>
                  <a:pt x="107506" y="35835"/>
                </a:moveTo>
                <a:cubicBezTo>
                  <a:pt x="107506" y="29243"/>
                  <a:pt x="102154" y="23890"/>
                  <a:pt x="95561" y="23890"/>
                </a:cubicBezTo>
                <a:cubicBezTo>
                  <a:pt x="88968" y="23890"/>
                  <a:pt x="83616" y="29243"/>
                  <a:pt x="83616" y="35835"/>
                </a:cubicBezTo>
                <a:cubicBezTo>
                  <a:pt x="83616" y="42428"/>
                  <a:pt x="88968" y="47781"/>
                  <a:pt x="95561" y="47781"/>
                </a:cubicBezTo>
                <a:cubicBezTo>
                  <a:pt x="102154" y="47781"/>
                  <a:pt x="107506" y="42428"/>
                  <a:pt x="107506" y="35835"/>
                </a:cubicBezTo>
                <a:close/>
                <a:moveTo>
                  <a:pt x="95561" y="155287"/>
                </a:moveTo>
                <a:cubicBezTo>
                  <a:pt x="108738" y="155287"/>
                  <a:pt x="119451" y="144573"/>
                  <a:pt x="119451" y="131396"/>
                </a:cubicBezTo>
                <a:cubicBezTo>
                  <a:pt x="119451" y="125349"/>
                  <a:pt x="117212" y="119787"/>
                  <a:pt x="113479" y="115606"/>
                </a:cubicBezTo>
                <a:lnTo>
                  <a:pt x="139422" y="63757"/>
                </a:lnTo>
                <a:cubicBezTo>
                  <a:pt x="141624" y="59315"/>
                  <a:pt x="139833" y="53940"/>
                  <a:pt x="135428" y="51737"/>
                </a:cubicBezTo>
                <a:cubicBezTo>
                  <a:pt x="131023" y="49535"/>
                  <a:pt x="125611" y="51327"/>
                  <a:pt x="123408" y="55732"/>
                </a:cubicBezTo>
                <a:lnTo>
                  <a:pt x="97465" y="107581"/>
                </a:lnTo>
                <a:cubicBezTo>
                  <a:pt x="96830" y="107544"/>
                  <a:pt x="96196" y="107506"/>
                  <a:pt x="95561" y="107506"/>
                </a:cubicBezTo>
                <a:cubicBezTo>
                  <a:pt x="82384" y="107506"/>
                  <a:pt x="71671" y="118219"/>
                  <a:pt x="71671" y="131396"/>
                </a:cubicBezTo>
                <a:cubicBezTo>
                  <a:pt x="71671" y="144573"/>
                  <a:pt x="82384" y="155287"/>
                  <a:pt x="95561" y="155287"/>
                </a:cubicBezTo>
                <a:close/>
                <a:moveTo>
                  <a:pt x="65698" y="53753"/>
                </a:moveTo>
                <a:cubicBezTo>
                  <a:pt x="65698" y="47160"/>
                  <a:pt x="60346" y="41808"/>
                  <a:pt x="53753" y="41808"/>
                </a:cubicBezTo>
                <a:cubicBezTo>
                  <a:pt x="47160" y="41808"/>
                  <a:pt x="41808" y="47160"/>
                  <a:pt x="41808" y="53753"/>
                </a:cubicBezTo>
                <a:cubicBezTo>
                  <a:pt x="41808" y="60346"/>
                  <a:pt x="47160" y="65698"/>
                  <a:pt x="53753" y="65698"/>
                </a:cubicBezTo>
                <a:cubicBezTo>
                  <a:pt x="60346" y="65698"/>
                  <a:pt x="65698" y="60346"/>
                  <a:pt x="65698" y="53753"/>
                </a:cubicBezTo>
                <a:close/>
                <a:moveTo>
                  <a:pt x="35835" y="107506"/>
                </a:moveTo>
                <a:cubicBezTo>
                  <a:pt x="42428" y="107506"/>
                  <a:pt x="47781" y="102154"/>
                  <a:pt x="47781" y="95561"/>
                </a:cubicBezTo>
                <a:cubicBezTo>
                  <a:pt x="47781" y="88968"/>
                  <a:pt x="42428" y="83616"/>
                  <a:pt x="35835" y="83616"/>
                </a:cubicBezTo>
                <a:cubicBezTo>
                  <a:pt x="29243" y="83616"/>
                  <a:pt x="23890" y="88968"/>
                  <a:pt x="23890" y="95561"/>
                </a:cubicBezTo>
                <a:cubicBezTo>
                  <a:pt x="23890" y="102154"/>
                  <a:pt x="29243" y="107506"/>
                  <a:pt x="35835" y="107506"/>
                </a:cubicBezTo>
                <a:close/>
                <a:moveTo>
                  <a:pt x="167232" y="95561"/>
                </a:moveTo>
                <a:cubicBezTo>
                  <a:pt x="167232" y="88968"/>
                  <a:pt x="161879" y="83616"/>
                  <a:pt x="155287" y="83616"/>
                </a:cubicBezTo>
                <a:cubicBezTo>
                  <a:pt x="148694" y="83616"/>
                  <a:pt x="143342" y="88968"/>
                  <a:pt x="143342" y="95561"/>
                </a:cubicBezTo>
                <a:cubicBezTo>
                  <a:pt x="143342" y="102154"/>
                  <a:pt x="148694" y="107506"/>
                  <a:pt x="155287" y="107506"/>
                </a:cubicBezTo>
                <a:cubicBezTo>
                  <a:pt x="161879" y="107506"/>
                  <a:pt x="167232" y="102154"/>
                  <a:pt x="167232" y="955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319244" y="1720099"/>
            <a:ext cx="3551686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27208" y="1943075"/>
            <a:ext cx="3535760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8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is Better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57734" y="2200559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4096" y="2266924"/>
            <a:ext cx="1361745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 Incremental Redundancy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82714" y="2266924"/>
            <a:ext cx="334464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57734" y="2561573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5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4096" y="2627929"/>
            <a:ext cx="1043208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 Chase Combining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95448" y="2627929"/>
            <a:ext cx="422061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8B0000">
                    <a:alpha val="7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GOOD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57734" y="2922579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24096" y="2988943"/>
            <a:ext cx="836159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 Type I HARQ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32030" y="2988943"/>
            <a:ext cx="390208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POOR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12903" y="1075062"/>
            <a:ext cx="3750772" cy="2277539"/>
          </a:xfrm>
          <a:custGeom>
            <a:avLst/>
            <a:gdLst/>
            <a:ahLst/>
            <a:cxnLst/>
            <a:rect l="l" t="t" r="r" b="b"/>
            <a:pathLst>
              <a:path w="3750772" h="2277539">
                <a:moveTo>
                  <a:pt x="63703" y="0"/>
                </a:moveTo>
                <a:lnTo>
                  <a:pt x="3687069" y="0"/>
                </a:lnTo>
                <a:cubicBezTo>
                  <a:pt x="3722251" y="0"/>
                  <a:pt x="3750772" y="28521"/>
                  <a:pt x="3750772" y="63703"/>
                </a:cubicBezTo>
                <a:lnTo>
                  <a:pt x="3750772" y="2213836"/>
                </a:lnTo>
                <a:cubicBezTo>
                  <a:pt x="3750772" y="2249018"/>
                  <a:pt x="3722251" y="2277539"/>
                  <a:pt x="3687069" y="2277539"/>
                </a:cubicBezTo>
                <a:lnTo>
                  <a:pt x="63703" y="2277539"/>
                </a:lnTo>
                <a:cubicBezTo>
                  <a:pt x="28521" y="2277539"/>
                  <a:pt x="0" y="2249018"/>
                  <a:pt x="0" y="2213836"/>
                </a:cubicBezTo>
                <a:lnTo>
                  <a:pt x="0" y="63703"/>
                </a:lnTo>
                <a:cubicBezTo>
                  <a:pt x="0" y="28544"/>
                  <a:pt x="28544" y="0"/>
                  <a:pt x="63703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4815" y="1210440"/>
            <a:ext cx="445952" cy="445952"/>
          </a:xfrm>
          <a:custGeom>
            <a:avLst/>
            <a:gdLst/>
            <a:ahLst/>
            <a:cxnLst/>
            <a:rect l="l" t="t" r="r" b="b"/>
            <a:pathLst>
              <a:path w="445952" h="445952">
                <a:moveTo>
                  <a:pt x="222976" y="0"/>
                </a:moveTo>
                <a:lnTo>
                  <a:pt x="222976" y="0"/>
                </a:lnTo>
                <a:cubicBezTo>
                  <a:pt x="346122" y="0"/>
                  <a:pt x="445952" y="99830"/>
                  <a:pt x="445952" y="222976"/>
                </a:cubicBezTo>
                <a:lnTo>
                  <a:pt x="445952" y="222976"/>
                </a:lnTo>
                <a:cubicBezTo>
                  <a:pt x="445952" y="346122"/>
                  <a:pt x="346122" y="445952"/>
                  <a:pt x="222976" y="445952"/>
                </a:cubicBezTo>
                <a:lnTo>
                  <a:pt x="222976" y="445952"/>
                </a:lnTo>
                <a:cubicBezTo>
                  <a:pt x="99830" y="445952"/>
                  <a:pt x="0" y="346122"/>
                  <a:pt x="0" y="222976"/>
                </a:cubicBezTo>
                <a:lnTo>
                  <a:pt x="0" y="222976"/>
                </a:lnTo>
                <a:cubicBezTo>
                  <a:pt x="0" y="99830"/>
                  <a:pt x="99830" y="0"/>
                  <a:pt x="222976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892230" y="1337855"/>
            <a:ext cx="191122" cy="191122"/>
          </a:xfrm>
          <a:custGeom>
            <a:avLst/>
            <a:gdLst/>
            <a:ahLst/>
            <a:cxnLst/>
            <a:rect l="l" t="t" r="r" b="b"/>
            <a:pathLst>
              <a:path w="191122" h="191122">
                <a:moveTo>
                  <a:pt x="163014" y="27884"/>
                </a:moveTo>
                <a:lnTo>
                  <a:pt x="167232" y="31879"/>
                </a:lnTo>
                <a:lnTo>
                  <a:pt x="167232" y="11945"/>
                </a:lnTo>
                <a:cubicBezTo>
                  <a:pt x="167232" y="5338"/>
                  <a:pt x="172570" y="0"/>
                  <a:pt x="179177" y="0"/>
                </a:cubicBezTo>
                <a:cubicBezTo>
                  <a:pt x="185784" y="0"/>
                  <a:pt x="191122" y="5338"/>
                  <a:pt x="191122" y="11945"/>
                </a:cubicBezTo>
                <a:lnTo>
                  <a:pt x="191122" y="59726"/>
                </a:lnTo>
                <a:cubicBezTo>
                  <a:pt x="191122" y="66333"/>
                  <a:pt x="185784" y="71671"/>
                  <a:pt x="179177" y="71671"/>
                </a:cubicBezTo>
                <a:lnTo>
                  <a:pt x="131396" y="71671"/>
                </a:lnTo>
                <a:cubicBezTo>
                  <a:pt x="124789" y="71671"/>
                  <a:pt x="119451" y="66333"/>
                  <a:pt x="119451" y="59726"/>
                </a:cubicBezTo>
                <a:cubicBezTo>
                  <a:pt x="119451" y="53119"/>
                  <a:pt x="124789" y="47781"/>
                  <a:pt x="131396" y="47781"/>
                </a:cubicBezTo>
                <a:lnTo>
                  <a:pt x="149277" y="47781"/>
                </a:lnTo>
                <a:lnTo>
                  <a:pt x="146440" y="45093"/>
                </a:lnTo>
                <a:cubicBezTo>
                  <a:pt x="146365" y="45018"/>
                  <a:pt x="146291" y="44944"/>
                  <a:pt x="146216" y="44869"/>
                </a:cubicBezTo>
                <a:cubicBezTo>
                  <a:pt x="118219" y="16873"/>
                  <a:pt x="72865" y="16873"/>
                  <a:pt x="44869" y="44869"/>
                </a:cubicBezTo>
                <a:cubicBezTo>
                  <a:pt x="16873" y="72865"/>
                  <a:pt x="16873" y="118219"/>
                  <a:pt x="44869" y="146216"/>
                </a:cubicBezTo>
                <a:cubicBezTo>
                  <a:pt x="72865" y="174212"/>
                  <a:pt x="118219" y="174212"/>
                  <a:pt x="146216" y="146216"/>
                </a:cubicBezTo>
                <a:cubicBezTo>
                  <a:pt x="149277" y="143155"/>
                  <a:pt x="152002" y="139907"/>
                  <a:pt x="154391" y="136473"/>
                </a:cubicBezTo>
                <a:cubicBezTo>
                  <a:pt x="158161" y="131061"/>
                  <a:pt x="165627" y="129754"/>
                  <a:pt x="171039" y="133524"/>
                </a:cubicBezTo>
                <a:cubicBezTo>
                  <a:pt x="176452" y="137294"/>
                  <a:pt x="177759" y="144760"/>
                  <a:pt x="173988" y="150173"/>
                </a:cubicBezTo>
                <a:cubicBezTo>
                  <a:pt x="170815" y="154727"/>
                  <a:pt x="167195" y="159057"/>
                  <a:pt x="163126" y="163126"/>
                </a:cubicBezTo>
                <a:cubicBezTo>
                  <a:pt x="125797" y="200454"/>
                  <a:pt x="65288" y="200454"/>
                  <a:pt x="27996" y="163126"/>
                </a:cubicBezTo>
                <a:cubicBezTo>
                  <a:pt x="-9295" y="125797"/>
                  <a:pt x="-9332" y="65325"/>
                  <a:pt x="27996" y="27996"/>
                </a:cubicBezTo>
                <a:cubicBezTo>
                  <a:pt x="65288" y="-9295"/>
                  <a:pt x="125685" y="-9332"/>
                  <a:pt x="163014" y="27884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7" name="Text 35"/>
          <p:cNvSpPr/>
          <p:nvPr/>
        </p:nvSpPr>
        <p:spPr>
          <a:xfrm>
            <a:off x="8212446" y="1720099"/>
            <a:ext cx="3551686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Retransmissions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0409" y="1943075"/>
            <a:ext cx="3535760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8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Lower is Better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0936" y="2200559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17297" y="2266924"/>
            <a:ext cx="828196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 Type I HARQ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141990" y="2266924"/>
            <a:ext cx="573366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HIGHEST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50936" y="2561573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5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17297" y="2627929"/>
            <a:ext cx="1043208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 Chase Combining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88860" y="2627929"/>
            <a:ext cx="724671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8B0000">
                    <a:alpha val="7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50936" y="2922579"/>
            <a:ext cx="3477361" cy="291992"/>
          </a:xfrm>
          <a:custGeom>
            <a:avLst/>
            <a:gdLst/>
            <a:ahLst/>
            <a:cxnLst/>
            <a:rect l="l" t="t" r="r" b="b"/>
            <a:pathLst>
              <a:path w="3477361" h="291992">
                <a:moveTo>
                  <a:pt x="31853" y="0"/>
                </a:moveTo>
                <a:lnTo>
                  <a:pt x="3445508" y="0"/>
                </a:lnTo>
                <a:cubicBezTo>
                  <a:pt x="3463100" y="0"/>
                  <a:pt x="3477361" y="14261"/>
                  <a:pt x="3477361" y="31853"/>
                </a:cubicBezTo>
                <a:lnTo>
                  <a:pt x="3477361" y="260139"/>
                </a:lnTo>
                <a:cubicBezTo>
                  <a:pt x="3477361" y="277731"/>
                  <a:pt x="3463100" y="291992"/>
                  <a:pt x="3445508" y="291992"/>
                </a:cubicBezTo>
                <a:lnTo>
                  <a:pt x="31853" y="291992"/>
                </a:lnTo>
                <a:cubicBezTo>
                  <a:pt x="14273" y="291992"/>
                  <a:pt x="0" y="277719"/>
                  <a:pt x="0" y="260139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17297" y="2988943"/>
            <a:ext cx="1361745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 Incremental Redundancy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60074" y="2988943"/>
            <a:ext cx="557440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LOWEST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1191" y="3490634"/>
            <a:ext cx="11544308" cy="2274884"/>
          </a:xfrm>
          <a:custGeom>
            <a:avLst/>
            <a:gdLst/>
            <a:ahLst/>
            <a:cxnLst/>
            <a:rect l="l" t="t" r="r" b="b"/>
            <a:pathLst>
              <a:path w="11544308" h="2274884">
                <a:moveTo>
                  <a:pt x="63697" y="0"/>
                </a:moveTo>
                <a:lnTo>
                  <a:pt x="11480612" y="0"/>
                </a:lnTo>
                <a:cubicBezTo>
                  <a:pt x="11515790" y="0"/>
                  <a:pt x="11544308" y="28518"/>
                  <a:pt x="11544308" y="63697"/>
                </a:cubicBezTo>
                <a:lnTo>
                  <a:pt x="11544308" y="2211188"/>
                </a:lnTo>
                <a:cubicBezTo>
                  <a:pt x="11544308" y="2246366"/>
                  <a:pt x="11515790" y="2274884"/>
                  <a:pt x="11480612" y="2274884"/>
                </a:cubicBezTo>
                <a:lnTo>
                  <a:pt x="63697" y="2274884"/>
                </a:lnTo>
                <a:cubicBezTo>
                  <a:pt x="28518" y="2274884"/>
                  <a:pt x="0" y="2246366"/>
                  <a:pt x="0" y="2211188"/>
                </a:cubicBezTo>
                <a:lnTo>
                  <a:pt x="0" y="63697"/>
                </a:lnTo>
                <a:cubicBezTo>
                  <a:pt x="0" y="28542"/>
                  <a:pt x="28542" y="0"/>
                  <a:pt x="63697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1169" y="3660523"/>
            <a:ext cx="143342" cy="143342"/>
          </a:xfrm>
          <a:custGeom>
            <a:avLst/>
            <a:gdLst/>
            <a:ahLst/>
            <a:cxnLst/>
            <a:rect l="l" t="t" r="r" b="b"/>
            <a:pathLst>
              <a:path w="143342" h="143342">
                <a:moveTo>
                  <a:pt x="8959" y="8959"/>
                </a:moveTo>
                <a:cubicBezTo>
                  <a:pt x="13914" y="8959"/>
                  <a:pt x="17918" y="12962"/>
                  <a:pt x="17918" y="17918"/>
                </a:cubicBezTo>
                <a:lnTo>
                  <a:pt x="17918" y="111986"/>
                </a:lnTo>
                <a:cubicBezTo>
                  <a:pt x="17918" y="114449"/>
                  <a:pt x="19933" y="116465"/>
                  <a:pt x="22397" y="116465"/>
                </a:cubicBezTo>
                <a:lnTo>
                  <a:pt x="134383" y="116465"/>
                </a:lnTo>
                <a:cubicBezTo>
                  <a:pt x="139338" y="116465"/>
                  <a:pt x="143342" y="120469"/>
                  <a:pt x="143342" y="125424"/>
                </a:cubicBezTo>
                <a:cubicBezTo>
                  <a:pt x="143342" y="130379"/>
                  <a:pt x="139338" y="134383"/>
                  <a:pt x="134383" y="134383"/>
                </a:cubicBezTo>
                <a:lnTo>
                  <a:pt x="22397" y="134383"/>
                </a:lnTo>
                <a:cubicBezTo>
                  <a:pt x="10023" y="134383"/>
                  <a:pt x="0" y="124360"/>
                  <a:pt x="0" y="111986"/>
                </a:cubicBezTo>
                <a:lnTo>
                  <a:pt x="0" y="17918"/>
                </a:lnTo>
                <a:cubicBezTo>
                  <a:pt x="0" y="12962"/>
                  <a:pt x="4003" y="8959"/>
                  <a:pt x="8959" y="8959"/>
                </a:cubicBezTo>
                <a:close/>
                <a:moveTo>
                  <a:pt x="35835" y="26877"/>
                </a:moveTo>
                <a:cubicBezTo>
                  <a:pt x="35835" y="21921"/>
                  <a:pt x="39839" y="17918"/>
                  <a:pt x="44794" y="17918"/>
                </a:cubicBezTo>
                <a:lnTo>
                  <a:pt x="98547" y="17918"/>
                </a:lnTo>
                <a:cubicBezTo>
                  <a:pt x="103503" y="17918"/>
                  <a:pt x="107506" y="21921"/>
                  <a:pt x="107506" y="26877"/>
                </a:cubicBezTo>
                <a:cubicBezTo>
                  <a:pt x="107506" y="31832"/>
                  <a:pt x="103503" y="35835"/>
                  <a:pt x="98547" y="35835"/>
                </a:cubicBezTo>
                <a:lnTo>
                  <a:pt x="44794" y="35835"/>
                </a:lnTo>
                <a:cubicBezTo>
                  <a:pt x="39839" y="35835"/>
                  <a:pt x="35835" y="31832"/>
                  <a:pt x="35835" y="26877"/>
                </a:cubicBezTo>
                <a:close/>
                <a:moveTo>
                  <a:pt x="44794" y="49274"/>
                </a:moveTo>
                <a:lnTo>
                  <a:pt x="80630" y="49274"/>
                </a:lnTo>
                <a:cubicBezTo>
                  <a:pt x="85585" y="49274"/>
                  <a:pt x="89589" y="53277"/>
                  <a:pt x="89589" y="58233"/>
                </a:cubicBezTo>
                <a:cubicBezTo>
                  <a:pt x="89589" y="63188"/>
                  <a:pt x="85585" y="67191"/>
                  <a:pt x="80630" y="67191"/>
                </a:cubicBezTo>
                <a:lnTo>
                  <a:pt x="44794" y="67191"/>
                </a:lnTo>
                <a:cubicBezTo>
                  <a:pt x="39839" y="67191"/>
                  <a:pt x="35835" y="63188"/>
                  <a:pt x="35835" y="58233"/>
                </a:cubicBezTo>
                <a:cubicBezTo>
                  <a:pt x="35835" y="53277"/>
                  <a:pt x="39839" y="49274"/>
                  <a:pt x="44794" y="49274"/>
                </a:cubicBezTo>
                <a:close/>
                <a:moveTo>
                  <a:pt x="44794" y="80630"/>
                </a:moveTo>
                <a:lnTo>
                  <a:pt x="116465" y="80630"/>
                </a:lnTo>
                <a:cubicBezTo>
                  <a:pt x="121420" y="80630"/>
                  <a:pt x="125424" y="84633"/>
                  <a:pt x="125424" y="89589"/>
                </a:cubicBezTo>
                <a:cubicBezTo>
                  <a:pt x="125424" y="94544"/>
                  <a:pt x="121420" y="98547"/>
                  <a:pt x="116465" y="98547"/>
                </a:cubicBezTo>
                <a:lnTo>
                  <a:pt x="44794" y="98547"/>
                </a:lnTo>
                <a:cubicBezTo>
                  <a:pt x="39839" y="98547"/>
                  <a:pt x="35835" y="94544"/>
                  <a:pt x="35835" y="89589"/>
                </a:cubicBezTo>
                <a:cubicBezTo>
                  <a:pt x="35835" y="84633"/>
                  <a:pt x="39839" y="80630"/>
                  <a:pt x="44794" y="8063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34419" y="3620705"/>
            <a:ext cx="11172682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5: Comprehensive Performance Comparison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3915" y="3941897"/>
            <a:ext cx="11281515" cy="1693555"/>
          </a:xfrm>
          <a:custGeom>
            <a:avLst/>
            <a:gdLst/>
            <a:ahLst/>
            <a:cxnLst/>
            <a:rect l="l" t="t" r="r" b="b"/>
            <a:pathLst>
              <a:path w="11281515" h="1693555">
                <a:moveTo>
                  <a:pt x="63712" y="0"/>
                </a:moveTo>
                <a:lnTo>
                  <a:pt x="11217804" y="0"/>
                </a:lnTo>
                <a:cubicBezTo>
                  <a:pt x="11252991" y="0"/>
                  <a:pt x="11281515" y="28525"/>
                  <a:pt x="11281515" y="63712"/>
                </a:cubicBezTo>
                <a:lnTo>
                  <a:pt x="11281515" y="1629843"/>
                </a:lnTo>
                <a:cubicBezTo>
                  <a:pt x="11281515" y="1665030"/>
                  <a:pt x="11252991" y="1693555"/>
                  <a:pt x="11217804" y="1693555"/>
                </a:cubicBezTo>
                <a:lnTo>
                  <a:pt x="63712" y="1693555"/>
                </a:lnTo>
                <a:cubicBezTo>
                  <a:pt x="28525" y="1693555"/>
                  <a:pt x="0" y="1665030"/>
                  <a:pt x="0" y="1629843"/>
                </a:cubicBezTo>
                <a:lnTo>
                  <a:pt x="0" y="63712"/>
                </a:lnTo>
                <a:cubicBezTo>
                  <a:pt x="0" y="28548"/>
                  <a:pt x="28548" y="0"/>
                  <a:pt x="63712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pic>
        <p:nvPicPr>
          <p:cNvPr id="52" name="Image 0" descr="https://kimi-img.moonshot.cn/pub/slides/26-03-29-17:04:20-d74em501gem1k4uiadkg.png"/>
          <p:cNvPicPr>
            <a:picLocks noChangeAspect="1"/>
          </p:cNvPicPr>
          <p:nvPr/>
        </p:nvPicPr>
        <p:blipFill>
          <a:blip r:embed="rId3"/>
          <a:srcRect t="15" b="15"/>
          <a:stretch/>
        </p:blipFill>
        <p:spPr>
          <a:xfrm>
            <a:off x="583984" y="4071969"/>
            <a:ext cx="9022558" cy="1433416"/>
          </a:xfrm>
          <a:prstGeom prst="roundRect">
            <a:avLst>
              <a:gd name="adj" fmla="val 0"/>
            </a:avLst>
          </a:prstGeom>
        </p:spPr>
      </p:pic>
      <p:sp>
        <p:nvSpPr>
          <p:cNvPr id="53" name="Shape 50"/>
          <p:cNvSpPr/>
          <p:nvPr/>
        </p:nvSpPr>
        <p:spPr>
          <a:xfrm>
            <a:off x="318537" y="5898244"/>
            <a:ext cx="11554926" cy="796342"/>
          </a:xfrm>
          <a:custGeom>
            <a:avLst/>
            <a:gdLst/>
            <a:ahLst/>
            <a:cxnLst/>
            <a:rect l="l" t="t" r="r" b="b"/>
            <a:pathLst>
              <a:path w="11554926" h="796342">
                <a:moveTo>
                  <a:pt x="63707" y="0"/>
                </a:moveTo>
                <a:lnTo>
                  <a:pt x="11491219" y="0"/>
                </a:lnTo>
                <a:cubicBezTo>
                  <a:pt x="11526403" y="0"/>
                  <a:pt x="11554926" y="28523"/>
                  <a:pt x="11554926" y="63707"/>
                </a:cubicBezTo>
                <a:lnTo>
                  <a:pt x="11554926" y="732635"/>
                </a:lnTo>
                <a:cubicBezTo>
                  <a:pt x="11554926" y="767819"/>
                  <a:pt x="11526403" y="796342"/>
                  <a:pt x="11491219" y="796342"/>
                </a:cubicBezTo>
                <a:lnTo>
                  <a:pt x="63707" y="796342"/>
                </a:lnTo>
                <a:cubicBezTo>
                  <a:pt x="28523" y="796342"/>
                  <a:pt x="0" y="767819"/>
                  <a:pt x="0" y="732635"/>
                </a:cubicBezTo>
                <a:lnTo>
                  <a:pt x="0" y="63707"/>
                </a:lnTo>
                <a:cubicBezTo>
                  <a:pt x="0" y="28546"/>
                  <a:pt x="28546" y="0"/>
                  <a:pt x="6370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Shape 51"/>
          <p:cNvSpPr/>
          <p:nvPr/>
        </p:nvSpPr>
        <p:spPr>
          <a:xfrm>
            <a:off x="477805" y="6057513"/>
            <a:ext cx="95561" cy="127415"/>
          </a:xfrm>
          <a:custGeom>
            <a:avLst/>
            <a:gdLst/>
            <a:ahLst/>
            <a:cxnLst/>
            <a:rect l="l" t="t" r="r" b="b"/>
            <a:pathLst>
              <a:path w="95561" h="127415">
                <a:moveTo>
                  <a:pt x="72890" y="95561"/>
                </a:moveTo>
                <a:cubicBezTo>
                  <a:pt x="74707" y="90012"/>
                  <a:pt x="78340" y="84985"/>
                  <a:pt x="82446" y="80655"/>
                </a:cubicBezTo>
                <a:cubicBezTo>
                  <a:pt x="90584" y="72094"/>
                  <a:pt x="95561" y="60522"/>
                  <a:pt x="95561" y="47781"/>
                </a:cubicBezTo>
                <a:cubicBezTo>
                  <a:pt x="95561" y="21402"/>
                  <a:pt x="74159" y="0"/>
                  <a:pt x="47781" y="0"/>
                </a:cubicBezTo>
                <a:cubicBezTo>
                  <a:pt x="21402" y="0"/>
                  <a:pt x="0" y="21402"/>
                  <a:pt x="0" y="47781"/>
                </a:cubicBezTo>
                <a:cubicBezTo>
                  <a:pt x="0" y="60522"/>
                  <a:pt x="4977" y="72094"/>
                  <a:pt x="13115" y="80655"/>
                </a:cubicBezTo>
                <a:cubicBezTo>
                  <a:pt x="17221" y="84985"/>
                  <a:pt x="20879" y="90012"/>
                  <a:pt x="22671" y="95561"/>
                </a:cubicBezTo>
                <a:lnTo>
                  <a:pt x="72865" y="95561"/>
                </a:lnTo>
                <a:close/>
                <a:moveTo>
                  <a:pt x="71671" y="107506"/>
                </a:moveTo>
                <a:lnTo>
                  <a:pt x="23890" y="107506"/>
                </a:lnTo>
                <a:lnTo>
                  <a:pt x="23890" y="111488"/>
                </a:lnTo>
                <a:cubicBezTo>
                  <a:pt x="23890" y="122487"/>
                  <a:pt x="32799" y="131396"/>
                  <a:pt x="43799" y="131396"/>
                </a:cubicBezTo>
                <a:lnTo>
                  <a:pt x="51762" y="131396"/>
                </a:lnTo>
                <a:cubicBezTo>
                  <a:pt x="62762" y="131396"/>
                  <a:pt x="71671" y="122487"/>
                  <a:pt x="71671" y="111488"/>
                </a:cubicBezTo>
                <a:lnTo>
                  <a:pt x="71671" y="107506"/>
                </a:lnTo>
                <a:close/>
                <a:moveTo>
                  <a:pt x="45790" y="27872"/>
                </a:moveTo>
                <a:cubicBezTo>
                  <a:pt x="35885" y="27872"/>
                  <a:pt x="27872" y="35885"/>
                  <a:pt x="27872" y="45790"/>
                </a:cubicBezTo>
                <a:cubicBezTo>
                  <a:pt x="27872" y="49099"/>
                  <a:pt x="25209" y="51762"/>
                  <a:pt x="21899" y="51762"/>
                </a:cubicBezTo>
                <a:cubicBezTo>
                  <a:pt x="18590" y="51762"/>
                  <a:pt x="15927" y="49099"/>
                  <a:pt x="15927" y="45790"/>
                </a:cubicBezTo>
                <a:cubicBezTo>
                  <a:pt x="15927" y="29290"/>
                  <a:pt x="29290" y="15927"/>
                  <a:pt x="45790" y="15927"/>
                </a:cubicBezTo>
                <a:cubicBezTo>
                  <a:pt x="49099" y="15927"/>
                  <a:pt x="51762" y="18590"/>
                  <a:pt x="51762" y="21899"/>
                </a:cubicBezTo>
                <a:cubicBezTo>
                  <a:pt x="51762" y="25209"/>
                  <a:pt x="49099" y="27872"/>
                  <a:pt x="45790" y="278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605220" y="6025659"/>
            <a:ext cx="11204536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445952" y="6280489"/>
            <a:ext cx="3702992" cy="286683"/>
          </a:xfrm>
          <a:custGeom>
            <a:avLst/>
            <a:gdLst/>
            <a:ahLst/>
            <a:cxnLst/>
            <a:rect l="l" t="t" r="r" b="b"/>
            <a:pathLst>
              <a:path w="3702992" h="286683">
                <a:moveTo>
                  <a:pt x="31853" y="0"/>
                </a:moveTo>
                <a:lnTo>
                  <a:pt x="3671138" y="0"/>
                </a:lnTo>
                <a:cubicBezTo>
                  <a:pt x="3688730" y="0"/>
                  <a:pt x="3702992" y="14261"/>
                  <a:pt x="3702992" y="31853"/>
                </a:cubicBezTo>
                <a:lnTo>
                  <a:pt x="3702992" y="254830"/>
                </a:lnTo>
                <a:cubicBezTo>
                  <a:pt x="3702992" y="272422"/>
                  <a:pt x="3688730" y="286683"/>
                  <a:pt x="3671138" y="286683"/>
                </a:cubicBezTo>
                <a:lnTo>
                  <a:pt x="31853" y="286683"/>
                </a:lnTo>
                <a:cubicBezTo>
                  <a:pt x="14261" y="286683"/>
                  <a:pt x="0" y="272422"/>
                  <a:pt x="0" y="254830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509659" y="6344196"/>
            <a:ext cx="3631321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IR performs best</a:t>
            </a:r>
            <a:r>
              <a:rPr lang="en-US" sz="878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under fading conditions with coding + diversity gain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4243592" y="6280489"/>
            <a:ext cx="3702992" cy="286683"/>
          </a:xfrm>
          <a:custGeom>
            <a:avLst/>
            <a:gdLst/>
            <a:ahLst/>
            <a:cxnLst/>
            <a:rect l="l" t="t" r="r" b="b"/>
            <a:pathLst>
              <a:path w="3702992" h="286683">
                <a:moveTo>
                  <a:pt x="31853" y="0"/>
                </a:moveTo>
                <a:lnTo>
                  <a:pt x="3671138" y="0"/>
                </a:lnTo>
                <a:cubicBezTo>
                  <a:pt x="3688730" y="0"/>
                  <a:pt x="3702992" y="14261"/>
                  <a:pt x="3702992" y="31853"/>
                </a:cubicBezTo>
                <a:lnTo>
                  <a:pt x="3702992" y="254830"/>
                </a:lnTo>
                <a:cubicBezTo>
                  <a:pt x="3702992" y="272422"/>
                  <a:pt x="3688730" y="286683"/>
                  <a:pt x="3671138" y="286683"/>
                </a:cubicBezTo>
                <a:lnTo>
                  <a:pt x="31853" y="286683"/>
                </a:lnTo>
                <a:cubicBezTo>
                  <a:pt x="14261" y="286683"/>
                  <a:pt x="0" y="272422"/>
                  <a:pt x="0" y="254830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4307299" y="6344196"/>
            <a:ext cx="3631321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CC provides balance</a:t>
            </a:r>
            <a:r>
              <a:rPr lang="en-US" sz="878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between complexity and performance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041232" y="6280489"/>
            <a:ext cx="3702992" cy="286683"/>
          </a:xfrm>
          <a:custGeom>
            <a:avLst/>
            <a:gdLst/>
            <a:ahLst/>
            <a:cxnLst/>
            <a:rect l="l" t="t" r="r" b="b"/>
            <a:pathLst>
              <a:path w="3702992" h="286683">
                <a:moveTo>
                  <a:pt x="31853" y="0"/>
                </a:moveTo>
                <a:lnTo>
                  <a:pt x="3671138" y="0"/>
                </a:lnTo>
                <a:cubicBezTo>
                  <a:pt x="3688730" y="0"/>
                  <a:pt x="3702992" y="14261"/>
                  <a:pt x="3702992" y="31853"/>
                </a:cubicBezTo>
                <a:lnTo>
                  <a:pt x="3702992" y="254830"/>
                </a:lnTo>
                <a:cubicBezTo>
                  <a:pt x="3702992" y="272422"/>
                  <a:pt x="3688730" y="286683"/>
                  <a:pt x="3671138" y="286683"/>
                </a:cubicBezTo>
                <a:lnTo>
                  <a:pt x="31853" y="286683"/>
                </a:lnTo>
                <a:cubicBezTo>
                  <a:pt x="14261" y="286683"/>
                  <a:pt x="0" y="272422"/>
                  <a:pt x="0" y="254830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8104940" y="6344196"/>
            <a:ext cx="3631321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 is least efficient</a:t>
            </a:r>
            <a:r>
              <a:rPr lang="en-US" sz="878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but simplest to implement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3-29-17:20:14-d74etjkomnmbsb0a318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44473"/>
            <a:ext cx="11938000" cy="576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4" y="6275967"/>
            <a:ext cx="11049090" cy="3283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 Link:   </a:t>
            </a:r>
            <a:r>
              <a:rPr lang="en-IN" dirty="0"/>
              <a:t> </a:t>
            </a:r>
            <a:r>
              <a:rPr lang="en-IN" u="sng" dirty="0">
                <a:hlinkClick r:id="rId4"/>
              </a:rPr>
              <a:t>https://drive.google.com/file/d/1zRtiz0Se1VHyuoPNnd8NCS2iN9XQrdyF/view?usp=sharing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29134" y="533400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571500"/>
            <a:ext cx="445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Applications of HARQ in 5G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1477175"/>
            <a:ext cx="11515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 schemes are fundamental to enabling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diverse 5G use cases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from ultra-reliable low-latency communications to massive machine-type communications.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525" y="2234412"/>
            <a:ext cx="3667125" cy="2457450"/>
          </a:xfrm>
          <a:custGeom>
            <a:avLst/>
            <a:gdLst/>
            <a:ahLst/>
            <a:cxnLst/>
            <a:rect l="l" t="t" r="r" b="b"/>
            <a:pathLst>
              <a:path w="3667125" h="2457450">
                <a:moveTo>
                  <a:pt x="76206" y="0"/>
                </a:moveTo>
                <a:lnTo>
                  <a:pt x="3590919" y="0"/>
                </a:lnTo>
                <a:cubicBezTo>
                  <a:pt x="3633007" y="0"/>
                  <a:pt x="3667125" y="34118"/>
                  <a:pt x="3667125" y="76206"/>
                </a:cubicBezTo>
                <a:lnTo>
                  <a:pt x="3667125" y="2381244"/>
                </a:lnTo>
                <a:cubicBezTo>
                  <a:pt x="3667125" y="2423332"/>
                  <a:pt x="3633007" y="2457450"/>
                  <a:pt x="3590919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0550" y="24344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711994" y="256778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50" y="2529687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5G NR 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" y="3044037"/>
            <a:ext cx="3343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component of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5G New Radio (NR)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physical layer, ensuring reliable data transmission across all deployment scenarios.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0550" y="38441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Enhanced Mobile Broadband (eMBB)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0550" y="40727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Ultra-Reliable Low Latency (URLLC)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0550" y="43013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Massive Machine Type (mMTC)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64025" y="2234412"/>
            <a:ext cx="3667125" cy="2457450"/>
          </a:xfrm>
          <a:custGeom>
            <a:avLst/>
            <a:gdLst/>
            <a:ahLst/>
            <a:cxnLst/>
            <a:rect l="l" t="t" r="r" b="b"/>
            <a:pathLst>
              <a:path w="3667125" h="2457450">
                <a:moveTo>
                  <a:pt x="76206" y="0"/>
                </a:moveTo>
                <a:lnTo>
                  <a:pt x="3590919" y="0"/>
                </a:lnTo>
                <a:cubicBezTo>
                  <a:pt x="3633007" y="0"/>
                  <a:pt x="3667125" y="34118"/>
                  <a:pt x="3667125" y="76206"/>
                </a:cubicBezTo>
                <a:lnTo>
                  <a:pt x="3667125" y="2381244"/>
                </a:lnTo>
                <a:cubicBezTo>
                  <a:pt x="3667125" y="2423332"/>
                  <a:pt x="3633007" y="2457450"/>
                  <a:pt x="3590919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4050" y="24344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1213" y="256778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35550" y="2529687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Mobile Broadband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64050" y="3044037"/>
            <a:ext cx="3343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Powers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high-speed mobile internet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consistent quality of service for streaming, gaming, and cloud applications.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64050" y="38441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4K/8K video streaming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64050" y="40727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Cloud gaming services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64050" y="43013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Augmented/Virtual reality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7525" y="2234412"/>
            <a:ext cx="3667125" cy="2457450"/>
          </a:xfrm>
          <a:custGeom>
            <a:avLst/>
            <a:gdLst/>
            <a:ahLst/>
            <a:cxnLst/>
            <a:rect l="l" t="t" r="r" b="b"/>
            <a:pathLst>
              <a:path w="3667125" h="2457450">
                <a:moveTo>
                  <a:pt x="76206" y="0"/>
                </a:moveTo>
                <a:lnTo>
                  <a:pt x="3590919" y="0"/>
                </a:lnTo>
                <a:cubicBezTo>
                  <a:pt x="3633007" y="0"/>
                  <a:pt x="3667125" y="34118"/>
                  <a:pt x="3667125" y="76206"/>
                </a:cubicBezTo>
                <a:lnTo>
                  <a:pt x="3667125" y="2381244"/>
                </a:lnTo>
                <a:cubicBezTo>
                  <a:pt x="3667125" y="2423332"/>
                  <a:pt x="3633007" y="2457450"/>
                  <a:pt x="3590919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7550" y="24344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458994" y="256778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09050" y="2529687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IoT Networks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7550" y="3044037"/>
            <a:ext cx="3343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Enables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massive IoT connectivity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efficient spectrum usage for smart sensors and industrial monitoring.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37550" y="38441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Smart city infrastructure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37550" y="40727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Industrial IoT (IIoT)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37550" y="4301337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Environmental monitoring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4175" y="4895062"/>
            <a:ext cx="5616575" cy="1416050"/>
          </a:xfrm>
          <a:custGeom>
            <a:avLst/>
            <a:gdLst/>
            <a:ahLst/>
            <a:cxnLst/>
            <a:rect l="l" t="t" r="r" b="b"/>
            <a:pathLst>
              <a:path w="5616575" h="1416050">
                <a:moveTo>
                  <a:pt x="76198" y="0"/>
                </a:moveTo>
                <a:lnTo>
                  <a:pt x="5540377" y="0"/>
                </a:lnTo>
                <a:cubicBezTo>
                  <a:pt x="5582460" y="0"/>
                  <a:pt x="5616575" y="34115"/>
                  <a:pt x="5616575" y="76198"/>
                </a:cubicBezTo>
                <a:lnTo>
                  <a:pt x="5616575" y="1339852"/>
                </a:lnTo>
                <a:cubicBezTo>
                  <a:pt x="5616575" y="1381935"/>
                  <a:pt x="5582460" y="1416050"/>
                  <a:pt x="5540377" y="1416050"/>
                </a:cubicBezTo>
                <a:lnTo>
                  <a:pt x="76198" y="1416050"/>
                </a:lnTo>
                <a:cubicBezTo>
                  <a:pt x="34115" y="1416050"/>
                  <a:pt x="0" y="1381935"/>
                  <a:pt x="0" y="13398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7850" y="5088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711200" y="52220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0304" y="43681"/>
                </a:moveTo>
                <a:lnTo>
                  <a:pt x="40593" y="71438"/>
                </a:lnTo>
                <a:lnTo>
                  <a:pt x="149907" y="71438"/>
                </a:lnTo>
                <a:lnTo>
                  <a:pt x="140196" y="43681"/>
                </a:lnTo>
                <a:cubicBezTo>
                  <a:pt x="138522" y="38919"/>
                  <a:pt x="134020" y="35719"/>
                  <a:pt x="128960" y="35719"/>
                </a:cubicBezTo>
                <a:lnTo>
                  <a:pt x="61540" y="35719"/>
                </a:lnTo>
                <a:cubicBezTo>
                  <a:pt x="56480" y="35719"/>
                  <a:pt x="51978" y="38919"/>
                  <a:pt x="50304" y="43681"/>
                </a:cubicBezTo>
                <a:close/>
                <a:moveTo>
                  <a:pt x="14734" y="73223"/>
                </a:moveTo>
                <a:lnTo>
                  <a:pt x="27831" y="35830"/>
                </a:lnTo>
                <a:cubicBezTo>
                  <a:pt x="32854" y="21506"/>
                  <a:pt x="46360" y="11906"/>
                  <a:pt x="61540" y="11906"/>
                </a:cubicBezTo>
                <a:lnTo>
                  <a:pt x="128960" y="11906"/>
                </a:lnTo>
                <a:cubicBezTo>
                  <a:pt x="144140" y="11906"/>
                  <a:pt x="157646" y="21506"/>
                  <a:pt x="162669" y="35830"/>
                </a:cubicBezTo>
                <a:lnTo>
                  <a:pt x="175766" y="73223"/>
                </a:lnTo>
                <a:cubicBezTo>
                  <a:pt x="184398" y="76795"/>
                  <a:pt x="190500" y="85316"/>
                  <a:pt x="190500" y="95250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66688" y="178594"/>
                </a:lnTo>
                <a:cubicBezTo>
                  <a:pt x="160102" y="178594"/>
                  <a:pt x="154781" y="173273"/>
                  <a:pt x="154781" y="166688"/>
                </a:cubicBezTo>
                <a:lnTo>
                  <a:pt x="154781" y="154781"/>
                </a:lnTo>
                <a:lnTo>
                  <a:pt x="35719" y="154781"/>
                </a:lnTo>
                <a:lnTo>
                  <a:pt x="35719" y="166688"/>
                </a:lnTo>
                <a:cubicBezTo>
                  <a:pt x="35719" y="173273"/>
                  <a:pt x="30398" y="178594"/>
                  <a:pt x="23812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95250"/>
                </a:lnTo>
                <a:cubicBezTo>
                  <a:pt x="0" y="85316"/>
                  <a:pt x="6102" y="76795"/>
                  <a:pt x="14734" y="73223"/>
                </a:cubicBezTo>
                <a:close/>
                <a:moveTo>
                  <a:pt x="47625" y="113109"/>
                </a:moveTo>
                <a:cubicBezTo>
                  <a:pt x="47625" y="106538"/>
                  <a:pt x="42290" y="101203"/>
                  <a:pt x="35719" y="101203"/>
                </a:cubicBezTo>
                <a:cubicBezTo>
                  <a:pt x="29148" y="101203"/>
                  <a:pt x="23812" y="106538"/>
                  <a:pt x="23812" y="113109"/>
                </a:cubicBezTo>
                <a:cubicBezTo>
                  <a:pt x="23812" y="119681"/>
                  <a:pt x="29148" y="125016"/>
                  <a:pt x="35719" y="125016"/>
                </a:cubicBezTo>
                <a:cubicBezTo>
                  <a:pt x="42290" y="125016"/>
                  <a:pt x="47625" y="119681"/>
                  <a:pt x="47625" y="113109"/>
                </a:cubicBezTo>
                <a:close/>
                <a:moveTo>
                  <a:pt x="154781" y="125016"/>
                </a:moveTo>
                <a:cubicBezTo>
                  <a:pt x="161352" y="125016"/>
                  <a:pt x="166688" y="119681"/>
                  <a:pt x="166688" y="113109"/>
                </a:cubicBezTo>
                <a:cubicBezTo>
                  <a:pt x="166688" y="106538"/>
                  <a:pt x="161352" y="101203"/>
                  <a:pt x="154781" y="101203"/>
                </a:cubicBezTo>
                <a:cubicBezTo>
                  <a:pt x="148210" y="101203"/>
                  <a:pt x="142875" y="106538"/>
                  <a:pt x="142875" y="113109"/>
                </a:cubicBezTo>
                <a:cubicBezTo>
                  <a:pt x="142875" y="119681"/>
                  <a:pt x="148210" y="125016"/>
                  <a:pt x="154781" y="125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9350" y="5183981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Autonomous Vehicles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7850" y="5660231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for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V2X communications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requiring ultra-reliable, low-latency data exchange for safety-critical decisions in self-driving cars.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4425" y="4895062"/>
            <a:ext cx="5616575" cy="1416050"/>
          </a:xfrm>
          <a:custGeom>
            <a:avLst/>
            <a:gdLst/>
            <a:ahLst/>
            <a:cxnLst/>
            <a:rect l="l" t="t" r="r" b="b"/>
            <a:pathLst>
              <a:path w="5616575" h="1416050">
                <a:moveTo>
                  <a:pt x="76198" y="0"/>
                </a:moveTo>
                <a:lnTo>
                  <a:pt x="5540377" y="0"/>
                </a:lnTo>
                <a:cubicBezTo>
                  <a:pt x="5582460" y="0"/>
                  <a:pt x="5616575" y="34115"/>
                  <a:pt x="5616575" y="76198"/>
                </a:cubicBezTo>
                <a:lnTo>
                  <a:pt x="5616575" y="1339852"/>
                </a:lnTo>
                <a:cubicBezTo>
                  <a:pt x="5616575" y="1381935"/>
                  <a:pt x="5582460" y="1416050"/>
                  <a:pt x="5540377" y="1416050"/>
                </a:cubicBezTo>
                <a:lnTo>
                  <a:pt x="76198" y="1416050"/>
                </a:lnTo>
                <a:cubicBezTo>
                  <a:pt x="34115" y="1416050"/>
                  <a:pt x="0" y="1381935"/>
                  <a:pt x="0" y="13398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8100" y="5088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509544" y="522208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959600" y="5183981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Services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8100" y="5660231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Supports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video conferencing, live streaming, and online gaming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minimal buffering and consistent quality under varying channel conditions.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116" y="404933"/>
            <a:ext cx="422539" cy="422539"/>
          </a:xfrm>
          <a:custGeom>
            <a:avLst/>
            <a:gdLst/>
            <a:ahLst/>
            <a:cxnLst/>
            <a:rect l="l" t="t" r="r" b="b"/>
            <a:pathLst>
              <a:path w="422539" h="422539">
                <a:moveTo>
                  <a:pt x="70425" y="0"/>
                </a:moveTo>
                <a:lnTo>
                  <a:pt x="352114" y="0"/>
                </a:lnTo>
                <a:cubicBezTo>
                  <a:pt x="391008" y="0"/>
                  <a:pt x="422539" y="31530"/>
                  <a:pt x="422539" y="70425"/>
                </a:cubicBezTo>
                <a:lnTo>
                  <a:pt x="422539" y="352114"/>
                </a:lnTo>
                <a:cubicBezTo>
                  <a:pt x="422539" y="391008"/>
                  <a:pt x="391008" y="422539"/>
                  <a:pt x="352114" y="422539"/>
                </a:cubicBezTo>
                <a:lnTo>
                  <a:pt x="70425" y="422539"/>
                </a:lnTo>
                <a:cubicBezTo>
                  <a:pt x="31530" y="422539"/>
                  <a:pt x="0" y="391008"/>
                  <a:pt x="0" y="352114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3323" y="492962"/>
            <a:ext cx="211269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0289" y="528173"/>
            <a:ext cx="3785242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Advantages &amp;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116" y="1021135"/>
            <a:ext cx="11487769" cy="17606"/>
          </a:xfrm>
          <a:custGeom>
            <a:avLst/>
            <a:gdLst/>
            <a:ahLst/>
            <a:cxnLst/>
            <a:rect l="l" t="t" r="r" b="b"/>
            <a:pathLst>
              <a:path w="11487769" h="17606">
                <a:moveTo>
                  <a:pt x="0" y="0"/>
                </a:moveTo>
                <a:lnTo>
                  <a:pt x="11487769" y="0"/>
                </a:lnTo>
                <a:lnTo>
                  <a:pt x="11487769" y="17606"/>
                </a:lnTo>
                <a:lnTo>
                  <a:pt x="0" y="17606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9721" y="1214799"/>
            <a:ext cx="5616243" cy="5290536"/>
          </a:xfrm>
          <a:custGeom>
            <a:avLst/>
            <a:gdLst/>
            <a:ahLst/>
            <a:cxnLst/>
            <a:rect l="l" t="t" r="r" b="b"/>
            <a:pathLst>
              <a:path w="5616243" h="5290536">
                <a:moveTo>
                  <a:pt x="0" y="0"/>
                </a:moveTo>
                <a:lnTo>
                  <a:pt x="5545826" y="0"/>
                </a:lnTo>
                <a:cubicBezTo>
                  <a:pt x="5584716" y="0"/>
                  <a:pt x="5616243" y="31527"/>
                  <a:pt x="5616243" y="70417"/>
                </a:cubicBezTo>
                <a:lnTo>
                  <a:pt x="5616243" y="5220119"/>
                </a:lnTo>
                <a:cubicBezTo>
                  <a:pt x="5616243" y="5259009"/>
                  <a:pt x="5584716" y="5290536"/>
                  <a:pt x="5545826" y="5290536"/>
                </a:cubicBezTo>
                <a:lnTo>
                  <a:pt x="0" y="529053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369721" y="1214799"/>
            <a:ext cx="35212" cy="5290536"/>
          </a:xfrm>
          <a:custGeom>
            <a:avLst/>
            <a:gdLst/>
            <a:ahLst/>
            <a:cxnLst/>
            <a:rect l="l" t="t" r="r" b="b"/>
            <a:pathLst>
              <a:path w="35212" h="5290536">
                <a:moveTo>
                  <a:pt x="0" y="0"/>
                </a:moveTo>
                <a:lnTo>
                  <a:pt x="35212" y="0"/>
                </a:lnTo>
                <a:lnTo>
                  <a:pt x="35212" y="5290536"/>
                </a:lnTo>
                <a:lnTo>
                  <a:pt x="0" y="5290536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8" name="Shape 6"/>
          <p:cNvSpPr/>
          <p:nvPr/>
        </p:nvSpPr>
        <p:spPr>
          <a:xfrm>
            <a:off x="585392" y="1426068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88029" y="176058"/>
                </a:moveTo>
                <a:cubicBezTo>
                  <a:pt x="136613" y="176058"/>
                  <a:pt x="176058" y="136613"/>
                  <a:pt x="176058" y="88029"/>
                </a:cubicBezTo>
                <a:cubicBezTo>
                  <a:pt x="176058" y="39444"/>
                  <a:pt x="136613" y="0"/>
                  <a:pt x="88029" y="0"/>
                </a:cubicBezTo>
                <a:cubicBezTo>
                  <a:pt x="39444" y="0"/>
                  <a:pt x="0" y="39444"/>
                  <a:pt x="0" y="88029"/>
                </a:cubicBezTo>
                <a:cubicBezTo>
                  <a:pt x="0" y="136613"/>
                  <a:pt x="39444" y="176058"/>
                  <a:pt x="88029" y="176058"/>
                </a:cubicBezTo>
                <a:close/>
                <a:moveTo>
                  <a:pt x="79776" y="118289"/>
                </a:moveTo>
                <a:lnTo>
                  <a:pt x="79776" y="96282"/>
                </a:lnTo>
                <a:lnTo>
                  <a:pt x="57769" y="96282"/>
                </a:lnTo>
                <a:cubicBezTo>
                  <a:pt x="53196" y="96282"/>
                  <a:pt x="49516" y="92602"/>
                  <a:pt x="49516" y="88029"/>
                </a:cubicBezTo>
                <a:cubicBezTo>
                  <a:pt x="49516" y="83456"/>
                  <a:pt x="53196" y="79776"/>
                  <a:pt x="57769" y="79776"/>
                </a:cubicBezTo>
                <a:lnTo>
                  <a:pt x="79776" y="79776"/>
                </a:lnTo>
                <a:lnTo>
                  <a:pt x="79776" y="57769"/>
                </a:lnTo>
                <a:cubicBezTo>
                  <a:pt x="79776" y="53196"/>
                  <a:pt x="83456" y="49516"/>
                  <a:pt x="88029" y="49516"/>
                </a:cubicBezTo>
                <a:cubicBezTo>
                  <a:pt x="92602" y="49516"/>
                  <a:pt x="96282" y="53196"/>
                  <a:pt x="96282" y="57769"/>
                </a:cubicBezTo>
                <a:lnTo>
                  <a:pt x="96282" y="79776"/>
                </a:lnTo>
                <a:lnTo>
                  <a:pt x="118289" y="79776"/>
                </a:lnTo>
                <a:cubicBezTo>
                  <a:pt x="122862" y="79776"/>
                  <a:pt x="126542" y="83456"/>
                  <a:pt x="126542" y="88029"/>
                </a:cubicBezTo>
                <a:cubicBezTo>
                  <a:pt x="126542" y="92602"/>
                  <a:pt x="122862" y="96282"/>
                  <a:pt x="118289" y="96282"/>
                </a:cubicBezTo>
                <a:lnTo>
                  <a:pt x="96282" y="96282"/>
                </a:lnTo>
                <a:lnTo>
                  <a:pt x="96282" y="118289"/>
                </a:lnTo>
                <a:cubicBezTo>
                  <a:pt x="96282" y="122862"/>
                  <a:pt x="92602" y="126542"/>
                  <a:pt x="88029" y="126542"/>
                </a:cubicBezTo>
                <a:cubicBezTo>
                  <a:pt x="83456" y="126542"/>
                  <a:pt x="79776" y="122862"/>
                  <a:pt x="79776" y="118289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9" name="Text 7"/>
          <p:cNvSpPr/>
          <p:nvPr/>
        </p:nvSpPr>
        <p:spPr>
          <a:xfrm>
            <a:off x="783457" y="1390856"/>
            <a:ext cx="511447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Advantages of HARQ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319" y="1781118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100" y="1924901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00A63E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9132" y="2021733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79226" y="0"/>
                </a:moveTo>
                <a:cubicBezTo>
                  <a:pt x="80650" y="0"/>
                  <a:pt x="82073" y="309"/>
                  <a:pt x="83373" y="897"/>
                </a:cubicBezTo>
                <a:lnTo>
                  <a:pt x="141678" y="25625"/>
                </a:lnTo>
                <a:cubicBezTo>
                  <a:pt x="148487" y="28503"/>
                  <a:pt x="153562" y="35218"/>
                  <a:pt x="153531" y="43327"/>
                </a:cubicBezTo>
                <a:cubicBezTo>
                  <a:pt x="153377" y="74027"/>
                  <a:pt x="140750" y="130197"/>
                  <a:pt x="87427" y="155729"/>
                </a:cubicBezTo>
                <a:cubicBezTo>
                  <a:pt x="82259" y="158204"/>
                  <a:pt x="76255" y="158204"/>
                  <a:pt x="71087" y="155729"/>
                </a:cubicBezTo>
                <a:cubicBezTo>
                  <a:pt x="17733" y="130197"/>
                  <a:pt x="5137" y="74027"/>
                  <a:pt x="4983" y="43327"/>
                </a:cubicBezTo>
                <a:cubicBezTo>
                  <a:pt x="4952" y="35218"/>
                  <a:pt x="10027" y="28503"/>
                  <a:pt x="16836" y="25625"/>
                </a:cubicBezTo>
                <a:lnTo>
                  <a:pt x="75110" y="897"/>
                </a:lnTo>
                <a:cubicBezTo>
                  <a:pt x="76410" y="309"/>
                  <a:pt x="77802" y="0"/>
                  <a:pt x="79226" y="0"/>
                </a:cubicBezTo>
                <a:close/>
                <a:moveTo>
                  <a:pt x="79226" y="20673"/>
                </a:moveTo>
                <a:lnTo>
                  <a:pt x="79226" y="137686"/>
                </a:lnTo>
                <a:cubicBezTo>
                  <a:pt x="121934" y="117013"/>
                  <a:pt x="133415" y="71211"/>
                  <a:pt x="133694" y="43791"/>
                </a:cubicBezTo>
                <a:lnTo>
                  <a:pt x="79226" y="20704"/>
                </a:lnTo>
                <a:lnTo>
                  <a:pt x="79226" y="20704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3" name="Text 11"/>
          <p:cNvSpPr/>
          <p:nvPr/>
        </p:nvSpPr>
        <p:spPr>
          <a:xfrm>
            <a:off x="1167850" y="1924901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Improved Reliability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7850" y="2171382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Significantly reduces packet errors through intelligent retransmission and combining techniques, achieving 99.999% reliability targets.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319" y="2884419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100" y="3028194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00A63E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9132" y="3125025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141121" y="69323"/>
                </a:moveTo>
                <a:lnTo>
                  <a:pt x="96557" y="69323"/>
                </a:lnTo>
                <a:cubicBezTo>
                  <a:pt x="92441" y="69323"/>
                  <a:pt x="89129" y="66011"/>
                  <a:pt x="89129" y="61895"/>
                </a:cubicBezTo>
                <a:lnTo>
                  <a:pt x="89129" y="17331"/>
                </a:lnTo>
                <a:cubicBezTo>
                  <a:pt x="89129" y="14329"/>
                  <a:pt x="90924" y="11605"/>
                  <a:pt x="93709" y="10460"/>
                </a:cubicBezTo>
                <a:cubicBezTo>
                  <a:pt x="96495" y="9315"/>
                  <a:pt x="99682" y="9965"/>
                  <a:pt x="101818" y="12070"/>
                </a:cubicBezTo>
                <a:lnTo>
                  <a:pt x="114197" y="24449"/>
                </a:lnTo>
                <a:lnTo>
                  <a:pt x="136912" y="1733"/>
                </a:lnTo>
                <a:cubicBezTo>
                  <a:pt x="138027" y="619"/>
                  <a:pt x="139543" y="0"/>
                  <a:pt x="141121" y="0"/>
                </a:cubicBezTo>
                <a:cubicBezTo>
                  <a:pt x="142700" y="0"/>
                  <a:pt x="144216" y="619"/>
                  <a:pt x="145361" y="1764"/>
                </a:cubicBezTo>
                <a:lnTo>
                  <a:pt x="156719" y="13122"/>
                </a:lnTo>
                <a:cubicBezTo>
                  <a:pt x="157833" y="14236"/>
                  <a:pt x="158452" y="15752"/>
                  <a:pt x="158452" y="17331"/>
                </a:cubicBezTo>
                <a:cubicBezTo>
                  <a:pt x="158452" y="18909"/>
                  <a:pt x="157833" y="20425"/>
                  <a:pt x="156688" y="21571"/>
                </a:cubicBezTo>
                <a:lnTo>
                  <a:pt x="134003" y="44255"/>
                </a:lnTo>
                <a:lnTo>
                  <a:pt x="146382" y="56634"/>
                </a:lnTo>
                <a:cubicBezTo>
                  <a:pt x="148518" y="58770"/>
                  <a:pt x="149137" y="61957"/>
                  <a:pt x="147992" y="64742"/>
                </a:cubicBezTo>
                <a:cubicBezTo>
                  <a:pt x="146847" y="67528"/>
                  <a:pt x="144123" y="69323"/>
                  <a:pt x="141121" y="69323"/>
                </a:cubicBezTo>
                <a:close/>
                <a:moveTo>
                  <a:pt x="141121" y="89129"/>
                </a:moveTo>
                <a:cubicBezTo>
                  <a:pt x="144123" y="89129"/>
                  <a:pt x="146847" y="90924"/>
                  <a:pt x="147992" y="93709"/>
                </a:cubicBezTo>
                <a:cubicBezTo>
                  <a:pt x="149137" y="96495"/>
                  <a:pt x="148518" y="99682"/>
                  <a:pt x="146382" y="101818"/>
                </a:cubicBezTo>
                <a:lnTo>
                  <a:pt x="134003" y="114197"/>
                </a:lnTo>
                <a:lnTo>
                  <a:pt x="156719" y="136912"/>
                </a:lnTo>
                <a:cubicBezTo>
                  <a:pt x="157833" y="138027"/>
                  <a:pt x="158483" y="139543"/>
                  <a:pt x="158483" y="141152"/>
                </a:cubicBezTo>
                <a:cubicBezTo>
                  <a:pt x="158483" y="142762"/>
                  <a:pt x="157864" y="144247"/>
                  <a:pt x="156719" y="145392"/>
                </a:cubicBezTo>
                <a:lnTo>
                  <a:pt x="145361" y="156750"/>
                </a:lnTo>
                <a:cubicBezTo>
                  <a:pt x="144216" y="157833"/>
                  <a:pt x="142700" y="158452"/>
                  <a:pt x="141121" y="158452"/>
                </a:cubicBezTo>
                <a:cubicBezTo>
                  <a:pt x="139543" y="158452"/>
                  <a:pt x="138027" y="157833"/>
                  <a:pt x="136881" y="156688"/>
                </a:cubicBezTo>
                <a:lnTo>
                  <a:pt x="114197" y="134003"/>
                </a:lnTo>
                <a:lnTo>
                  <a:pt x="101818" y="146382"/>
                </a:lnTo>
                <a:cubicBezTo>
                  <a:pt x="99682" y="148518"/>
                  <a:pt x="96495" y="149137"/>
                  <a:pt x="93709" y="147992"/>
                </a:cubicBezTo>
                <a:cubicBezTo>
                  <a:pt x="90924" y="146847"/>
                  <a:pt x="89129" y="144123"/>
                  <a:pt x="89129" y="141121"/>
                </a:cubicBezTo>
                <a:lnTo>
                  <a:pt x="89129" y="96557"/>
                </a:lnTo>
                <a:cubicBezTo>
                  <a:pt x="89129" y="92441"/>
                  <a:pt x="92441" y="89129"/>
                  <a:pt x="96557" y="89129"/>
                </a:cubicBezTo>
                <a:lnTo>
                  <a:pt x="141121" y="89129"/>
                </a:lnTo>
                <a:close/>
                <a:moveTo>
                  <a:pt x="61895" y="89129"/>
                </a:moveTo>
                <a:cubicBezTo>
                  <a:pt x="66011" y="89129"/>
                  <a:pt x="69323" y="92441"/>
                  <a:pt x="69323" y="96557"/>
                </a:cubicBezTo>
                <a:lnTo>
                  <a:pt x="69323" y="141121"/>
                </a:lnTo>
                <a:cubicBezTo>
                  <a:pt x="69323" y="144123"/>
                  <a:pt x="67528" y="146847"/>
                  <a:pt x="64742" y="147992"/>
                </a:cubicBezTo>
                <a:cubicBezTo>
                  <a:pt x="61957" y="149137"/>
                  <a:pt x="58770" y="148518"/>
                  <a:pt x="56634" y="146382"/>
                </a:cubicBezTo>
                <a:lnTo>
                  <a:pt x="44255" y="134003"/>
                </a:lnTo>
                <a:lnTo>
                  <a:pt x="21540" y="156719"/>
                </a:lnTo>
                <a:cubicBezTo>
                  <a:pt x="20425" y="157833"/>
                  <a:pt x="18909" y="158452"/>
                  <a:pt x="17331" y="158452"/>
                </a:cubicBezTo>
                <a:cubicBezTo>
                  <a:pt x="15752" y="158452"/>
                  <a:pt x="14236" y="157833"/>
                  <a:pt x="13091" y="156688"/>
                </a:cubicBezTo>
                <a:lnTo>
                  <a:pt x="1764" y="145361"/>
                </a:lnTo>
                <a:cubicBezTo>
                  <a:pt x="619" y="144216"/>
                  <a:pt x="0" y="142700"/>
                  <a:pt x="0" y="141121"/>
                </a:cubicBezTo>
                <a:cubicBezTo>
                  <a:pt x="0" y="139543"/>
                  <a:pt x="619" y="138027"/>
                  <a:pt x="1764" y="136881"/>
                </a:cubicBezTo>
                <a:lnTo>
                  <a:pt x="24449" y="114197"/>
                </a:lnTo>
                <a:lnTo>
                  <a:pt x="12070" y="101818"/>
                </a:lnTo>
                <a:cubicBezTo>
                  <a:pt x="9934" y="99682"/>
                  <a:pt x="9315" y="96495"/>
                  <a:pt x="10460" y="93709"/>
                </a:cubicBezTo>
                <a:cubicBezTo>
                  <a:pt x="11605" y="90924"/>
                  <a:pt x="14329" y="89129"/>
                  <a:pt x="17331" y="89129"/>
                </a:cubicBezTo>
                <a:lnTo>
                  <a:pt x="61895" y="89129"/>
                </a:lnTo>
                <a:close/>
                <a:moveTo>
                  <a:pt x="17331" y="69323"/>
                </a:moveTo>
                <a:cubicBezTo>
                  <a:pt x="14329" y="69323"/>
                  <a:pt x="11605" y="67528"/>
                  <a:pt x="10460" y="64742"/>
                </a:cubicBezTo>
                <a:cubicBezTo>
                  <a:pt x="9315" y="61957"/>
                  <a:pt x="9965" y="58770"/>
                  <a:pt x="12070" y="56634"/>
                </a:cubicBezTo>
                <a:lnTo>
                  <a:pt x="24449" y="44255"/>
                </a:lnTo>
                <a:lnTo>
                  <a:pt x="1764" y="21571"/>
                </a:lnTo>
                <a:cubicBezTo>
                  <a:pt x="619" y="20425"/>
                  <a:pt x="0" y="18909"/>
                  <a:pt x="0" y="17331"/>
                </a:cubicBezTo>
                <a:cubicBezTo>
                  <a:pt x="0" y="15752"/>
                  <a:pt x="619" y="14236"/>
                  <a:pt x="1764" y="13091"/>
                </a:cubicBezTo>
                <a:lnTo>
                  <a:pt x="13091" y="1764"/>
                </a:lnTo>
                <a:cubicBezTo>
                  <a:pt x="14236" y="619"/>
                  <a:pt x="15752" y="0"/>
                  <a:pt x="17331" y="0"/>
                </a:cubicBezTo>
                <a:cubicBezTo>
                  <a:pt x="18909" y="0"/>
                  <a:pt x="20425" y="619"/>
                  <a:pt x="21571" y="1764"/>
                </a:cubicBezTo>
                <a:lnTo>
                  <a:pt x="44255" y="24449"/>
                </a:lnTo>
                <a:lnTo>
                  <a:pt x="56634" y="12070"/>
                </a:lnTo>
                <a:cubicBezTo>
                  <a:pt x="58770" y="9934"/>
                  <a:pt x="61957" y="9315"/>
                  <a:pt x="64742" y="10460"/>
                </a:cubicBezTo>
                <a:cubicBezTo>
                  <a:pt x="67528" y="11605"/>
                  <a:pt x="69323" y="14329"/>
                  <a:pt x="69323" y="17331"/>
                </a:cubicBezTo>
                <a:lnTo>
                  <a:pt x="69323" y="61895"/>
                </a:lnTo>
                <a:cubicBezTo>
                  <a:pt x="69323" y="66011"/>
                  <a:pt x="66011" y="69323"/>
                  <a:pt x="61895" y="69323"/>
                </a:cubicBezTo>
                <a:lnTo>
                  <a:pt x="17331" y="69323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8" name="Text 16"/>
          <p:cNvSpPr/>
          <p:nvPr/>
        </p:nvSpPr>
        <p:spPr>
          <a:xfrm>
            <a:off x="1167850" y="3028194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Reduced Packet Loss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7850" y="3274674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Combining multiple transmissions maximizes the probability of successful decoding, minimizing data loss in poor channel conditions.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319" y="3987711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100" y="4131495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00A63E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9132" y="4228326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9903" y="19806"/>
                </a:moveTo>
                <a:cubicBezTo>
                  <a:pt x="4426" y="19806"/>
                  <a:pt x="0" y="24232"/>
                  <a:pt x="0" y="29710"/>
                </a:cubicBezTo>
                <a:cubicBezTo>
                  <a:pt x="0" y="35187"/>
                  <a:pt x="4426" y="39613"/>
                  <a:pt x="9903" y="39613"/>
                </a:cubicBezTo>
                <a:lnTo>
                  <a:pt x="36735" y="39613"/>
                </a:lnTo>
                <a:cubicBezTo>
                  <a:pt x="40541" y="48371"/>
                  <a:pt x="49269" y="54468"/>
                  <a:pt x="59419" y="54468"/>
                </a:cubicBezTo>
                <a:cubicBezTo>
                  <a:pt x="69570" y="54468"/>
                  <a:pt x="78298" y="48371"/>
                  <a:pt x="82104" y="39613"/>
                </a:cubicBezTo>
                <a:lnTo>
                  <a:pt x="148549" y="39613"/>
                </a:lnTo>
                <a:cubicBezTo>
                  <a:pt x="154026" y="39613"/>
                  <a:pt x="158452" y="35187"/>
                  <a:pt x="158452" y="29710"/>
                </a:cubicBezTo>
                <a:cubicBezTo>
                  <a:pt x="158452" y="24232"/>
                  <a:pt x="154026" y="19806"/>
                  <a:pt x="148549" y="19806"/>
                </a:cubicBezTo>
                <a:lnTo>
                  <a:pt x="82104" y="19806"/>
                </a:lnTo>
                <a:cubicBezTo>
                  <a:pt x="78298" y="11048"/>
                  <a:pt x="69570" y="4952"/>
                  <a:pt x="59419" y="4952"/>
                </a:cubicBezTo>
                <a:cubicBezTo>
                  <a:pt x="49269" y="4952"/>
                  <a:pt x="40541" y="11048"/>
                  <a:pt x="36735" y="19806"/>
                </a:cubicBezTo>
                <a:lnTo>
                  <a:pt x="9903" y="19806"/>
                </a:lnTo>
                <a:close/>
                <a:moveTo>
                  <a:pt x="9903" y="69323"/>
                </a:moveTo>
                <a:cubicBezTo>
                  <a:pt x="4426" y="69323"/>
                  <a:pt x="0" y="73748"/>
                  <a:pt x="0" y="79226"/>
                </a:cubicBezTo>
                <a:cubicBezTo>
                  <a:pt x="0" y="84704"/>
                  <a:pt x="4426" y="89129"/>
                  <a:pt x="9903" y="89129"/>
                </a:cubicBezTo>
                <a:lnTo>
                  <a:pt x="86251" y="89129"/>
                </a:lnTo>
                <a:cubicBezTo>
                  <a:pt x="90058" y="97887"/>
                  <a:pt x="98785" y="103984"/>
                  <a:pt x="108936" y="103984"/>
                </a:cubicBezTo>
                <a:cubicBezTo>
                  <a:pt x="119087" y="103984"/>
                  <a:pt x="127814" y="97887"/>
                  <a:pt x="131620" y="89129"/>
                </a:cubicBezTo>
                <a:lnTo>
                  <a:pt x="148549" y="89129"/>
                </a:lnTo>
                <a:cubicBezTo>
                  <a:pt x="154026" y="89129"/>
                  <a:pt x="158452" y="84704"/>
                  <a:pt x="158452" y="79226"/>
                </a:cubicBezTo>
                <a:cubicBezTo>
                  <a:pt x="158452" y="73748"/>
                  <a:pt x="154026" y="69323"/>
                  <a:pt x="148549" y="69323"/>
                </a:cubicBezTo>
                <a:lnTo>
                  <a:pt x="131620" y="69323"/>
                </a:lnTo>
                <a:cubicBezTo>
                  <a:pt x="127814" y="60565"/>
                  <a:pt x="119087" y="54468"/>
                  <a:pt x="108936" y="54468"/>
                </a:cubicBezTo>
                <a:cubicBezTo>
                  <a:pt x="98785" y="54468"/>
                  <a:pt x="90058" y="60565"/>
                  <a:pt x="86251" y="69323"/>
                </a:cubicBezTo>
                <a:lnTo>
                  <a:pt x="9903" y="69323"/>
                </a:lnTo>
                <a:close/>
                <a:moveTo>
                  <a:pt x="9903" y="118839"/>
                </a:moveTo>
                <a:cubicBezTo>
                  <a:pt x="4426" y="118839"/>
                  <a:pt x="0" y="123265"/>
                  <a:pt x="0" y="128742"/>
                </a:cubicBezTo>
                <a:cubicBezTo>
                  <a:pt x="0" y="134220"/>
                  <a:pt x="4426" y="138645"/>
                  <a:pt x="9903" y="138645"/>
                </a:cubicBezTo>
                <a:lnTo>
                  <a:pt x="26832" y="138645"/>
                </a:lnTo>
                <a:cubicBezTo>
                  <a:pt x="30638" y="147404"/>
                  <a:pt x="39365" y="153500"/>
                  <a:pt x="49516" y="153500"/>
                </a:cubicBezTo>
                <a:cubicBezTo>
                  <a:pt x="59667" y="153500"/>
                  <a:pt x="68394" y="147404"/>
                  <a:pt x="72201" y="138645"/>
                </a:cubicBezTo>
                <a:lnTo>
                  <a:pt x="148549" y="138645"/>
                </a:lnTo>
                <a:cubicBezTo>
                  <a:pt x="154026" y="138645"/>
                  <a:pt x="158452" y="134220"/>
                  <a:pt x="158452" y="128742"/>
                </a:cubicBezTo>
                <a:cubicBezTo>
                  <a:pt x="158452" y="123265"/>
                  <a:pt x="154026" y="118839"/>
                  <a:pt x="148549" y="118839"/>
                </a:cubicBezTo>
                <a:lnTo>
                  <a:pt x="72201" y="118839"/>
                </a:lnTo>
                <a:cubicBezTo>
                  <a:pt x="68394" y="110081"/>
                  <a:pt x="59667" y="103984"/>
                  <a:pt x="49516" y="103984"/>
                </a:cubicBezTo>
                <a:cubicBezTo>
                  <a:pt x="39365" y="103984"/>
                  <a:pt x="30638" y="110081"/>
                  <a:pt x="26832" y="118839"/>
                </a:cubicBezTo>
                <a:lnTo>
                  <a:pt x="9903" y="118839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3" name="Text 21"/>
          <p:cNvSpPr/>
          <p:nvPr/>
        </p:nvSpPr>
        <p:spPr>
          <a:xfrm>
            <a:off x="1167850" y="4131495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Adaptive Error Control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7850" y="4377975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Automatically adapts to channel conditions—fewer retransmissions in good channels, more robust combining in poor channels.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319" y="5091004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100" y="5234787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00A63E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9132" y="5331619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19806" y="19806"/>
                </a:moveTo>
                <a:cubicBezTo>
                  <a:pt x="19806" y="14329"/>
                  <a:pt x="15381" y="9903"/>
                  <a:pt x="9903" y="9903"/>
                </a:cubicBezTo>
                <a:cubicBezTo>
                  <a:pt x="4426" y="9903"/>
                  <a:pt x="0" y="14329"/>
                  <a:pt x="0" y="19806"/>
                </a:cubicBezTo>
                <a:lnTo>
                  <a:pt x="0" y="123791"/>
                </a:lnTo>
                <a:cubicBezTo>
                  <a:pt x="0" y="137469"/>
                  <a:pt x="11079" y="148549"/>
                  <a:pt x="24758" y="148549"/>
                </a:cubicBezTo>
                <a:lnTo>
                  <a:pt x="148549" y="148549"/>
                </a:lnTo>
                <a:cubicBezTo>
                  <a:pt x="154026" y="148549"/>
                  <a:pt x="158452" y="144123"/>
                  <a:pt x="158452" y="138645"/>
                </a:cubicBezTo>
                <a:cubicBezTo>
                  <a:pt x="158452" y="133168"/>
                  <a:pt x="154026" y="128742"/>
                  <a:pt x="148549" y="128742"/>
                </a:cubicBezTo>
                <a:lnTo>
                  <a:pt x="24758" y="128742"/>
                </a:lnTo>
                <a:cubicBezTo>
                  <a:pt x="22035" y="128742"/>
                  <a:pt x="19806" y="126514"/>
                  <a:pt x="19806" y="123791"/>
                </a:cubicBezTo>
                <a:lnTo>
                  <a:pt x="19806" y="19806"/>
                </a:lnTo>
                <a:close/>
                <a:moveTo>
                  <a:pt x="145640" y="46607"/>
                </a:moveTo>
                <a:cubicBezTo>
                  <a:pt x="149508" y="42739"/>
                  <a:pt x="149508" y="36456"/>
                  <a:pt x="145640" y="32588"/>
                </a:cubicBezTo>
                <a:cubicBezTo>
                  <a:pt x="141771" y="28719"/>
                  <a:pt x="135489" y="28719"/>
                  <a:pt x="131620" y="32588"/>
                </a:cubicBezTo>
                <a:lnTo>
                  <a:pt x="99032" y="65207"/>
                </a:lnTo>
                <a:lnTo>
                  <a:pt x="81269" y="47474"/>
                </a:lnTo>
                <a:cubicBezTo>
                  <a:pt x="77400" y="43605"/>
                  <a:pt x="71118" y="43605"/>
                  <a:pt x="67249" y="47474"/>
                </a:cubicBezTo>
                <a:lnTo>
                  <a:pt x="37540" y="77183"/>
                </a:lnTo>
                <a:cubicBezTo>
                  <a:pt x="33671" y="81052"/>
                  <a:pt x="33671" y="87334"/>
                  <a:pt x="37540" y="91203"/>
                </a:cubicBezTo>
                <a:cubicBezTo>
                  <a:pt x="41408" y="95071"/>
                  <a:pt x="47690" y="95071"/>
                  <a:pt x="51559" y="91203"/>
                </a:cubicBezTo>
                <a:lnTo>
                  <a:pt x="74274" y="68487"/>
                </a:lnTo>
                <a:lnTo>
                  <a:pt x="92038" y="86251"/>
                </a:lnTo>
                <a:cubicBezTo>
                  <a:pt x="95907" y="90120"/>
                  <a:pt x="102189" y="90120"/>
                  <a:pt x="106058" y="86251"/>
                </a:cubicBezTo>
                <a:lnTo>
                  <a:pt x="145671" y="46638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8" name="Text 26"/>
          <p:cNvSpPr/>
          <p:nvPr/>
        </p:nvSpPr>
        <p:spPr>
          <a:xfrm>
            <a:off x="1167850" y="5234787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Spectrum Efficiency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67850" y="5481268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Optimal use of available bandwidth through intelligent redundancy management, especially with IR schemes.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8690" y="1214799"/>
            <a:ext cx="5616243" cy="5290536"/>
          </a:xfrm>
          <a:custGeom>
            <a:avLst/>
            <a:gdLst/>
            <a:ahLst/>
            <a:cxnLst/>
            <a:rect l="l" t="t" r="r" b="b"/>
            <a:pathLst>
              <a:path w="5616243" h="5290536">
                <a:moveTo>
                  <a:pt x="0" y="0"/>
                </a:moveTo>
                <a:lnTo>
                  <a:pt x="5545826" y="0"/>
                </a:lnTo>
                <a:cubicBezTo>
                  <a:pt x="5584716" y="0"/>
                  <a:pt x="5616243" y="31527"/>
                  <a:pt x="5616243" y="70417"/>
                </a:cubicBezTo>
                <a:lnTo>
                  <a:pt x="5616243" y="5220119"/>
                </a:lnTo>
                <a:cubicBezTo>
                  <a:pt x="5616243" y="5259009"/>
                  <a:pt x="5584716" y="5290536"/>
                  <a:pt x="5545826" y="5290536"/>
                </a:cubicBezTo>
                <a:lnTo>
                  <a:pt x="0" y="529053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8690" y="1214799"/>
            <a:ext cx="35212" cy="5290536"/>
          </a:xfrm>
          <a:custGeom>
            <a:avLst/>
            <a:gdLst/>
            <a:ahLst/>
            <a:cxnLst/>
            <a:rect l="l" t="t" r="r" b="b"/>
            <a:pathLst>
              <a:path w="35212" h="5290536">
                <a:moveTo>
                  <a:pt x="0" y="0"/>
                </a:moveTo>
                <a:lnTo>
                  <a:pt x="35212" y="0"/>
                </a:lnTo>
                <a:lnTo>
                  <a:pt x="35212" y="5290536"/>
                </a:lnTo>
                <a:lnTo>
                  <a:pt x="0" y="529053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34361" y="1426068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88029" y="176058"/>
                </a:moveTo>
                <a:cubicBezTo>
                  <a:pt x="136613" y="176058"/>
                  <a:pt x="176058" y="136613"/>
                  <a:pt x="176058" y="88029"/>
                </a:cubicBezTo>
                <a:cubicBezTo>
                  <a:pt x="176058" y="39444"/>
                  <a:pt x="136613" y="0"/>
                  <a:pt x="88029" y="0"/>
                </a:cubicBezTo>
                <a:cubicBezTo>
                  <a:pt x="39444" y="0"/>
                  <a:pt x="0" y="39444"/>
                  <a:pt x="0" y="88029"/>
                </a:cubicBezTo>
                <a:cubicBezTo>
                  <a:pt x="0" y="136613"/>
                  <a:pt x="39444" y="176058"/>
                  <a:pt x="88029" y="176058"/>
                </a:cubicBezTo>
                <a:close/>
                <a:moveTo>
                  <a:pt x="57769" y="79776"/>
                </a:moveTo>
                <a:lnTo>
                  <a:pt x="118289" y="79776"/>
                </a:lnTo>
                <a:cubicBezTo>
                  <a:pt x="122862" y="79776"/>
                  <a:pt x="126542" y="83456"/>
                  <a:pt x="126542" y="88029"/>
                </a:cubicBezTo>
                <a:cubicBezTo>
                  <a:pt x="126542" y="92602"/>
                  <a:pt x="122862" y="96282"/>
                  <a:pt x="118289" y="96282"/>
                </a:cubicBezTo>
                <a:lnTo>
                  <a:pt x="57769" y="96282"/>
                </a:lnTo>
                <a:cubicBezTo>
                  <a:pt x="53196" y="96282"/>
                  <a:pt x="49516" y="92602"/>
                  <a:pt x="49516" y="88029"/>
                </a:cubicBezTo>
                <a:cubicBezTo>
                  <a:pt x="49516" y="83456"/>
                  <a:pt x="53196" y="79776"/>
                  <a:pt x="57769" y="7977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632426" y="1390856"/>
            <a:ext cx="511447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Limitations of HARQ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5288" y="1781118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59069" y="1924901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58101" y="2021733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79226" y="0"/>
                </a:moveTo>
                <a:cubicBezTo>
                  <a:pt x="122952" y="0"/>
                  <a:pt x="158452" y="35500"/>
                  <a:pt x="158452" y="79226"/>
                </a:cubicBezTo>
                <a:cubicBezTo>
                  <a:pt x="158452" y="122952"/>
                  <a:pt x="122952" y="158452"/>
                  <a:pt x="79226" y="158452"/>
                </a:cubicBezTo>
                <a:cubicBezTo>
                  <a:pt x="35500" y="158452"/>
                  <a:pt x="0" y="122952"/>
                  <a:pt x="0" y="79226"/>
                </a:cubicBezTo>
                <a:cubicBezTo>
                  <a:pt x="0" y="35500"/>
                  <a:pt x="35500" y="0"/>
                  <a:pt x="79226" y="0"/>
                </a:cubicBezTo>
                <a:close/>
                <a:moveTo>
                  <a:pt x="71799" y="37137"/>
                </a:moveTo>
                <a:lnTo>
                  <a:pt x="71799" y="79226"/>
                </a:lnTo>
                <a:cubicBezTo>
                  <a:pt x="71799" y="81702"/>
                  <a:pt x="73036" y="84023"/>
                  <a:pt x="75110" y="85416"/>
                </a:cubicBezTo>
                <a:lnTo>
                  <a:pt x="104820" y="105222"/>
                </a:lnTo>
                <a:cubicBezTo>
                  <a:pt x="108224" y="107512"/>
                  <a:pt x="112835" y="106584"/>
                  <a:pt x="115125" y="103149"/>
                </a:cubicBezTo>
                <a:cubicBezTo>
                  <a:pt x="117415" y="99713"/>
                  <a:pt x="116487" y="95133"/>
                  <a:pt x="113052" y="92843"/>
                </a:cubicBezTo>
                <a:lnTo>
                  <a:pt x="86653" y="75265"/>
                </a:lnTo>
                <a:lnTo>
                  <a:pt x="86653" y="37137"/>
                </a:lnTo>
                <a:cubicBezTo>
                  <a:pt x="86653" y="33021"/>
                  <a:pt x="83342" y="29710"/>
                  <a:pt x="79226" y="29710"/>
                </a:cubicBezTo>
                <a:cubicBezTo>
                  <a:pt x="75110" y="29710"/>
                  <a:pt x="71799" y="33021"/>
                  <a:pt x="71799" y="3713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016819" y="1924901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Increased Latency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16819" y="2171382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Retransmissions introduce delays that can violate ultra-low latency requirements for time-critical applications.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5288" y="2884419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59069" y="3028194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8101" y="3125025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54468" y="7427"/>
                </a:moveTo>
                <a:cubicBezTo>
                  <a:pt x="54468" y="3311"/>
                  <a:pt x="51156" y="0"/>
                  <a:pt x="47040" y="0"/>
                </a:cubicBezTo>
                <a:cubicBezTo>
                  <a:pt x="42924" y="0"/>
                  <a:pt x="39613" y="3311"/>
                  <a:pt x="39613" y="7427"/>
                </a:cubicBezTo>
                <a:lnTo>
                  <a:pt x="39613" y="19806"/>
                </a:lnTo>
                <a:cubicBezTo>
                  <a:pt x="28688" y="19806"/>
                  <a:pt x="19806" y="28688"/>
                  <a:pt x="19806" y="39613"/>
                </a:cubicBezTo>
                <a:lnTo>
                  <a:pt x="7427" y="39613"/>
                </a:lnTo>
                <a:cubicBezTo>
                  <a:pt x="3311" y="39613"/>
                  <a:pt x="0" y="42924"/>
                  <a:pt x="0" y="47040"/>
                </a:cubicBezTo>
                <a:cubicBezTo>
                  <a:pt x="0" y="51156"/>
                  <a:pt x="3311" y="54468"/>
                  <a:pt x="7427" y="54468"/>
                </a:cubicBezTo>
                <a:lnTo>
                  <a:pt x="19806" y="54468"/>
                </a:lnTo>
                <a:lnTo>
                  <a:pt x="19806" y="71799"/>
                </a:lnTo>
                <a:lnTo>
                  <a:pt x="7427" y="71799"/>
                </a:lnTo>
                <a:cubicBezTo>
                  <a:pt x="3311" y="71799"/>
                  <a:pt x="0" y="75110"/>
                  <a:pt x="0" y="79226"/>
                </a:cubicBezTo>
                <a:cubicBezTo>
                  <a:pt x="0" y="83342"/>
                  <a:pt x="3311" y="86653"/>
                  <a:pt x="7427" y="86653"/>
                </a:cubicBezTo>
                <a:lnTo>
                  <a:pt x="19806" y="86653"/>
                </a:lnTo>
                <a:lnTo>
                  <a:pt x="19806" y="103984"/>
                </a:lnTo>
                <a:lnTo>
                  <a:pt x="7427" y="103984"/>
                </a:lnTo>
                <a:cubicBezTo>
                  <a:pt x="3311" y="103984"/>
                  <a:pt x="0" y="107296"/>
                  <a:pt x="0" y="111412"/>
                </a:cubicBezTo>
                <a:cubicBezTo>
                  <a:pt x="0" y="115528"/>
                  <a:pt x="3311" y="118839"/>
                  <a:pt x="7427" y="118839"/>
                </a:cubicBezTo>
                <a:lnTo>
                  <a:pt x="19806" y="118839"/>
                </a:lnTo>
                <a:cubicBezTo>
                  <a:pt x="19806" y="129764"/>
                  <a:pt x="28688" y="138645"/>
                  <a:pt x="39613" y="138645"/>
                </a:cubicBezTo>
                <a:lnTo>
                  <a:pt x="39613" y="151025"/>
                </a:lnTo>
                <a:cubicBezTo>
                  <a:pt x="39613" y="155141"/>
                  <a:pt x="42924" y="158452"/>
                  <a:pt x="47040" y="158452"/>
                </a:cubicBezTo>
                <a:cubicBezTo>
                  <a:pt x="51156" y="158452"/>
                  <a:pt x="54468" y="155141"/>
                  <a:pt x="54468" y="151025"/>
                </a:cubicBezTo>
                <a:lnTo>
                  <a:pt x="54468" y="138645"/>
                </a:lnTo>
                <a:lnTo>
                  <a:pt x="71799" y="138645"/>
                </a:lnTo>
                <a:lnTo>
                  <a:pt x="71799" y="151025"/>
                </a:lnTo>
                <a:cubicBezTo>
                  <a:pt x="71799" y="155141"/>
                  <a:pt x="75110" y="158452"/>
                  <a:pt x="79226" y="158452"/>
                </a:cubicBezTo>
                <a:cubicBezTo>
                  <a:pt x="83342" y="158452"/>
                  <a:pt x="86653" y="155141"/>
                  <a:pt x="86653" y="151025"/>
                </a:cubicBezTo>
                <a:lnTo>
                  <a:pt x="86653" y="138645"/>
                </a:lnTo>
                <a:lnTo>
                  <a:pt x="103984" y="138645"/>
                </a:lnTo>
                <a:lnTo>
                  <a:pt x="103984" y="151025"/>
                </a:lnTo>
                <a:cubicBezTo>
                  <a:pt x="103984" y="155141"/>
                  <a:pt x="107296" y="158452"/>
                  <a:pt x="111412" y="158452"/>
                </a:cubicBezTo>
                <a:cubicBezTo>
                  <a:pt x="115528" y="158452"/>
                  <a:pt x="118839" y="155141"/>
                  <a:pt x="118839" y="151025"/>
                </a:cubicBezTo>
                <a:lnTo>
                  <a:pt x="118839" y="138645"/>
                </a:lnTo>
                <a:cubicBezTo>
                  <a:pt x="129764" y="138645"/>
                  <a:pt x="138645" y="129764"/>
                  <a:pt x="138645" y="118839"/>
                </a:cubicBezTo>
                <a:lnTo>
                  <a:pt x="151025" y="118839"/>
                </a:lnTo>
                <a:cubicBezTo>
                  <a:pt x="155141" y="118839"/>
                  <a:pt x="158452" y="115528"/>
                  <a:pt x="158452" y="111412"/>
                </a:cubicBezTo>
                <a:cubicBezTo>
                  <a:pt x="158452" y="107296"/>
                  <a:pt x="155141" y="103984"/>
                  <a:pt x="151025" y="103984"/>
                </a:cubicBezTo>
                <a:lnTo>
                  <a:pt x="138645" y="103984"/>
                </a:lnTo>
                <a:lnTo>
                  <a:pt x="138645" y="86653"/>
                </a:lnTo>
                <a:lnTo>
                  <a:pt x="151025" y="86653"/>
                </a:lnTo>
                <a:cubicBezTo>
                  <a:pt x="155141" y="86653"/>
                  <a:pt x="158452" y="83342"/>
                  <a:pt x="158452" y="79226"/>
                </a:cubicBezTo>
                <a:cubicBezTo>
                  <a:pt x="158452" y="75110"/>
                  <a:pt x="155141" y="71799"/>
                  <a:pt x="151025" y="71799"/>
                </a:cubicBezTo>
                <a:lnTo>
                  <a:pt x="138645" y="71799"/>
                </a:lnTo>
                <a:lnTo>
                  <a:pt x="138645" y="54468"/>
                </a:lnTo>
                <a:lnTo>
                  <a:pt x="151025" y="54468"/>
                </a:lnTo>
                <a:cubicBezTo>
                  <a:pt x="155141" y="54468"/>
                  <a:pt x="158452" y="51156"/>
                  <a:pt x="158452" y="47040"/>
                </a:cubicBezTo>
                <a:cubicBezTo>
                  <a:pt x="158452" y="42924"/>
                  <a:pt x="155141" y="39613"/>
                  <a:pt x="151025" y="39613"/>
                </a:cubicBezTo>
                <a:lnTo>
                  <a:pt x="138645" y="39613"/>
                </a:lnTo>
                <a:cubicBezTo>
                  <a:pt x="138645" y="28688"/>
                  <a:pt x="129764" y="19806"/>
                  <a:pt x="118839" y="19806"/>
                </a:cubicBezTo>
                <a:lnTo>
                  <a:pt x="118839" y="7427"/>
                </a:lnTo>
                <a:cubicBezTo>
                  <a:pt x="118839" y="3311"/>
                  <a:pt x="115528" y="0"/>
                  <a:pt x="111412" y="0"/>
                </a:cubicBezTo>
                <a:cubicBezTo>
                  <a:pt x="107296" y="0"/>
                  <a:pt x="103984" y="3311"/>
                  <a:pt x="103984" y="7427"/>
                </a:cubicBezTo>
                <a:lnTo>
                  <a:pt x="103984" y="19806"/>
                </a:lnTo>
                <a:lnTo>
                  <a:pt x="86653" y="19806"/>
                </a:lnTo>
                <a:lnTo>
                  <a:pt x="86653" y="7427"/>
                </a:lnTo>
                <a:cubicBezTo>
                  <a:pt x="86653" y="3311"/>
                  <a:pt x="83342" y="0"/>
                  <a:pt x="79226" y="0"/>
                </a:cubicBezTo>
                <a:cubicBezTo>
                  <a:pt x="75110" y="0"/>
                  <a:pt x="71799" y="3311"/>
                  <a:pt x="71799" y="7427"/>
                </a:cubicBezTo>
                <a:lnTo>
                  <a:pt x="71799" y="19806"/>
                </a:lnTo>
                <a:lnTo>
                  <a:pt x="54468" y="19806"/>
                </a:lnTo>
                <a:lnTo>
                  <a:pt x="54468" y="7427"/>
                </a:lnTo>
                <a:close/>
                <a:moveTo>
                  <a:pt x="49516" y="39613"/>
                </a:moveTo>
                <a:lnTo>
                  <a:pt x="108936" y="39613"/>
                </a:lnTo>
                <a:cubicBezTo>
                  <a:pt x="114413" y="39613"/>
                  <a:pt x="118839" y="44039"/>
                  <a:pt x="118839" y="49516"/>
                </a:cubicBezTo>
                <a:lnTo>
                  <a:pt x="118839" y="108936"/>
                </a:lnTo>
                <a:cubicBezTo>
                  <a:pt x="118839" y="114413"/>
                  <a:pt x="114413" y="118839"/>
                  <a:pt x="108936" y="118839"/>
                </a:cubicBezTo>
                <a:lnTo>
                  <a:pt x="49516" y="118839"/>
                </a:lnTo>
                <a:cubicBezTo>
                  <a:pt x="44039" y="118839"/>
                  <a:pt x="39613" y="114413"/>
                  <a:pt x="39613" y="108936"/>
                </a:cubicBezTo>
                <a:lnTo>
                  <a:pt x="39613" y="49516"/>
                </a:lnTo>
                <a:cubicBezTo>
                  <a:pt x="39613" y="44039"/>
                  <a:pt x="44039" y="39613"/>
                  <a:pt x="49516" y="39613"/>
                </a:cubicBezTo>
                <a:close/>
                <a:moveTo>
                  <a:pt x="54468" y="54468"/>
                </a:moveTo>
                <a:lnTo>
                  <a:pt x="54468" y="103984"/>
                </a:lnTo>
                <a:lnTo>
                  <a:pt x="103984" y="103984"/>
                </a:lnTo>
                <a:lnTo>
                  <a:pt x="103984" y="54468"/>
                </a:lnTo>
                <a:lnTo>
                  <a:pt x="54468" y="5446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7016819" y="3028194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Implementation Complexity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16819" y="3274674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schemes (especially IR) require sophisticated encoding/decoding algorithms and rate-compatible code design.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5288" y="3987711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59069" y="4131495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58101" y="4228326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19806" y="19806"/>
                </a:moveTo>
                <a:cubicBezTo>
                  <a:pt x="8882" y="19806"/>
                  <a:pt x="0" y="28688"/>
                  <a:pt x="0" y="39613"/>
                </a:cubicBezTo>
                <a:lnTo>
                  <a:pt x="0" y="41903"/>
                </a:lnTo>
                <a:cubicBezTo>
                  <a:pt x="0" y="44008"/>
                  <a:pt x="1362" y="45803"/>
                  <a:pt x="3126" y="46948"/>
                </a:cubicBezTo>
                <a:cubicBezTo>
                  <a:pt x="7211" y="49609"/>
                  <a:pt x="9903" y="54189"/>
                  <a:pt x="9903" y="59419"/>
                </a:cubicBezTo>
                <a:cubicBezTo>
                  <a:pt x="9903" y="64650"/>
                  <a:pt x="7211" y="69230"/>
                  <a:pt x="3126" y="71891"/>
                </a:cubicBezTo>
                <a:cubicBezTo>
                  <a:pt x="1362" y="73036"/>
                  <a:pt x="0" y="74831"/>
                  <a:pt x="0" y="76936"/>
                </a:cubicBezTo>
                <a:lnTo>
                  <a:pt x="0" y="94081"/>
                </a:lnTo>
                <a:lnTo>
                  <a:pt x="158452" y="94081"/>
                </a:lnTo>
                <a:lnTo>
                  <a:pt x="158452" y="76936"/>
                </a:lnTo>
                <a:cubicBezTo>
                  <a:pt x="158452" y="74831"/>
                  <a:pt x="157090" y="73036"/>
                  <a:pt x="155326" y="71891"/>
                </a:cubicBezTo>
                <a:cubicBezTo>
                  <a:pt x="151241" y="69230"/>
                  <a:pt x="148549" y="64650"/>
                  <a:pt x="148549" y="59419"/>
                </a:cubicBezTo>
                <a:cubicBezTo>
                  <a:pt x="148549" y="54189"/>
                  <a:pt x="151241" y="49609"/>
                  <a:pt x="155326" y="46948"/>
                </a:cubicBezTo>
                <a:cubicBezTo>
                  <a:pt x="157090" y="45803"/>
                  <a:pt x="158452" y="44008"/>
                  <a:pt x="158452" y="41903"/>
                </a:cubicBezTo>
                <a:lnTo>
                  <a:pt x="158452" y="39613"/>
                </a:lnTo>
                <a:cubicBezTo>
                  <a:pt x="158452" y="28688"/>
                  <a:pt x="149570" y="19806"/>
                  <a:pt x="138645" y="19806"/>
                </a:cubicBezTo>
                <a:lnTo>
                  <a:pt x="19806" y="19806"/>
                </a:lnTo>
                <a:close/>
                <a:moveTo>
                  <a:pt x="158452" y="128742"/>
                </a:moveTo>
                <a:lnTo>
                  <a:pt x="158452" y="108936"/>
                </a:lnTo>
                <a:lnTo>
                  <a:pt x="0" y="108936"/>
                </a:lnTo>
                <a:lnTo>
                  <a:pt x="0" y="128742"/>
                </a:lnTo>
                <a:cubicBezTo>
                  <a:pt x="0" y="134220"/>
                  <a:pt x="4426" y="138645"/>
                  <a:pt x="9903" y="138645"/>
                </a:cubicBezTo>
                <a:lnTo>
                  <a:pt x="29710" y="138645"/>
                </a:lnTo>
                <a:lnTo>
                  <a:pt x="29710" y="131218"/>
                </a:lnTo>
                <a:cubicBezTo>
                  <a:pt x="29710" y="127102"/>
                  <a:pt x="33021" y="123791"/>
                  <a:pt x="37137" y="123791"/>
                </a:cubicBezTo>
                <a:cubicBezTo>
                  <a:pt x="41253" y="123791"/>
                  <a:pt x="44565" y="127102"/>
                  <a:pt x="44565" y="131218"/>
                </a:cubicBezTo>
                <a:lnTo>
                  <a:pt x="44565" y="138645"/>
                </a:lnTo>
                <a:lnTo>
                  <a:pt x="71799" y="138645"/>
                </a:lnTo>
                <a:lnTo>
                  <a:pt x="71799" y="131218"/>
                </a:lnTo>
                <a:cubicBezTo>
                  <a:pt x="71799" y="127102"/>
                  <a:pt x="75110" y="123791"/>
                  <a:pt x="79226" y="123791"/>
                </a:cubicBezTo>
                <a:cubicBezTo>
                  <a:pt x="83342" y="123791"/>
                  <a:pt x="86653" y="127102"/>
                  <a:pt x="86653" y="131218"/>
                </a:cubicBezTo>
                <a:lnTo>
                  <a:pt x="86653" y="138645"/>
                </a:lnTo>
                <a:lnTo>
                  <a:pt x="113887" y="138645"/>
                </a:lnTo>
                <a:lnTo>
                  <a:pt x="113887" y="131218"/>
                </a:lnTo>
                <a:cubicBezTo>
                  <a:pt x="113887" y="127102"/>
                  <a:pt x="117199" y="123791"/>
                  <a:pt x="121315" y="123791"/>
                </a:cubicBezTo>
                <a:cubicBezTo>
                  <a:pt x="125431" y="123791"/>
                  <a:pt x="128742" y="127102"/>
                  <a:pt x="128742" y="131218"/>
                </a:cubicBezTo>
                <a:lnTo>
                  <a:pt x="128742" y="138645"/>
                </a:lnTo>
                <a:lnTo>
                  <a:pt x="148549" y="138645"/>
                </a:lnTo>
                <a:cubicBezTo>
                  <a:pt x="154026" y="138645"/>
                  <a:pt x="158452" y="134220"/>
                  <a:pt x="158452" y="128742"/>
                </a:cubicBezTo>
                <a:close/>
                <a:moveTo>
                  <a:pt x="49516" y="49516"/>
                </a:moveTo>
                <a:lnTo>
                  <a:pt x="49516" y="69323"/>
                </a:lnTo>
                <a:cubicBezTo>
                  <a:pt x="49516" y="74800"/>
                  <a:pt x="45091" y="79226"/>
                  <a:pt x="39613" y="79226"/>
                </a:cubicBezTo>
                <a:cubicBezTo>
                  <a:pt x="34135" y="79226"/>
                  <a:pt x="29710" y="74800"/>
                  <a:pt x="29710" y="69323"/>
                </a:cubicBezTo>
                <a:lnTo>
                  <a:pt x="29710" y="49516"/>
                </a:lnTo>
                <a:cubicBezTo>
                  <a:pt x="29710" y="44039"/>
                  <a:pt x="34135" y="39613"/>
                  <a:pt x="39613" y="39613"/>
                </a:cubicBezTo>
                <a:cubicBezTo>
                  <a:pt x="45091" y="39613"/>
                  <a:pt x="49516" y="44039"/>
                  <a:pt x="49516" y="49516"/>
                </a:cubicBezTo>
                <a:close/>
                <a:moveTo>
                  <a:pt x="89129" y="49516"/>
                </a:moveTo>
                <a:lnTo>
                  <a:pt x="89129" y="69323"/>
                </a:lnTo>
                <a:cubicBezTo>
                  <a:pt x="89129" y="74800"/>
                  <a:pt x="84704" y="79226"/>
                  <a:pt x="79226" y="79226"/>
                </a:cubicBezTo>
                <a:cubicBezTo>
                  <a:pt x="73748" y="79226"/>
                  <a:pt x="69323" y="74800"/>
                  <a:pt x="69323" y="69323"/>
                </a:cubicBezTo>
                <a:lnTo>
                  <a:pt x="69323" y="49516"/>
                </a:lnTo>
                <a:cubicBezTo>
                  <a:pt x="69323" y="44039"/>
                  <a:pt x="73748" y="39613"/>
                  <a:pt x="79226" y="39613"/>
                </a:cubicBezTo>
                <a:cubicBezTo>
                  <a:pt x="84704" y="39613"/>
                  <a:pt x="89129" y="44039"/>
                  <a:pt x="89129" y="49516"/>
                </a:cubicBezTo>
                <a:close/>
                <a:moveTo>
                  <a:pt x="128742" y="49516"/>
                </a:moveTo>
                <a:lnTo>
                  <a:pt x="128742" y="69323"/>
                </a:lnTo>
                <a:cubicBezTo>
                  <a:pt x="128742" y="74800"/>
                  <a:pt x="124317" y="79226"/>
                  <a:pt x="118839" y="79226"/>
                </a:cubicBezTo>
                <a:cubicBezTo>
                  <a:pt x="113361" y="79226"/>
                  <a:pt x="108936" y="74800"/>
                  <a:pt x="108936" y="69323"/>
                </a:cubicBezTo>
                <a:lnTo>
                  <a:pt x="108936" y="49516"/>
                </a:lnTo>
                <a:cubicBezTo>
                  <a:pt x="108936" y="44039"/>
                  <a:pt x="113361" y="39613"/>
                  <a:pt x="118839" y="39613"/>
                </a:cubicBezTo>
                <a:cubicBezTo>
                  <a:pt x="124317" y="39613"/>
                  <a:pt x="128742" y="44039"/>
                  <a:pt x="128742" y="4951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7016819" y="4131495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Requirements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16819" y="4377975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CC and IR schemes need substantial buffer storage at the receiver to store soft decisions and multiple transmissions.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15288" y="5091004"/>
            <a:ext cx="5243587" cy="956581"/>
          </a:xfrm>
          <a:custGeom>
            <a:avLst/>
            <a:gdLst/>
            <a:ahLst/>
            <a:cxnLst/>
            <a:rect l="l" t="t" r="r" b="b"/>
            <a:pathLst>
              <a:path w="5243587" h="956581">
                <a:moveTo>
                  <a:pt x="70423" y="0"/>
                </a:moveTo>
                <a:lnTo>
                  <a:pt x="5173164" y="0"/>
                </a:lnTo>
                <a:cubicBezTo>
                  <a:pt x="5212057" y="0"/>
                  <a:pt x="5243587" y="31530"/>
                  <a:pt x="5243587" y="70423"/>
                </a:cubicBezTo>
                <a:lnTo>
                  <a:pt x="5243587" y="886157"/>
                </a:lnTo>
                <a:cubicBezTo>
                  <a:pt x="5243587" y="925051"/>
                  <a:pt x="5212057" y="956581"/>
                  <a:pt x="5173164" y="956581"/>
                </a:cubicBezTo>
                <a:lnTo>
                  <a:pt x="70423" y="956581"/>
                </a:lnTo>
                <a:cubicBezTo>
                  <a:pt x="31556" y="956581"/>
                  <a:pt x="0" y="925025"/>
                  <a:pt x="0" y="886157"/>
                </a:cubicBezTo>
                <a:lnTo>
                  <a:pt x="0" y="70423"/>
                </a:lnTo>
                <a:cubicBezTo>
                  <a:pt x="0" y="31530"/>
                  <a:pt x="31530" y="0"/>
                  <a:pt x="70423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59069" y="5234787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295" y="5331619"/>
            <a:ext cx="198065" cy="158452"/>
          </a:xfrm>
          <a:custGeom>
            <a:avLst/>
            <a:gdLst/>
            <a:ahLst/>
            <a:cxnLst/>
            <a:rect l="l" t="t" r="r" b="b"/>
            <a:pathLst>
              <a:path w="198065" h="158452">
                <a:moveTo>
                  <a:pt x="163404" y="39613"/>
                </a:moveTo>
                <a:cubicBezTo>
                  <a:pt x="166127" y="39613"/>
                  <a:pt x="168355" y="41841"/>
                  <a:pt x="168355" y="44565"/>
                </a:cubicBezTo>
                <a:lnTo>
                  <a:pt x="168355" y="113887"/>
                </a:lnTo>
                <a:cubicBezTo>
                  <a:pt x="168355" y="116611"/>
                  <a:pt x="166127" y="118839"/>
                  <a:pt x="163404" y="118839"/>
                </a:cubicBezTo>
                <a:lnTo>
                  <a:pt x="34661" y="118839"/>
                </a:lnTo>
                <a:cubicBezTo>
                  <a:pt x="31938" y="118839"/>
                  <a:pt x="29710" y="116611"/>
                  <a:pt x="29710" y="113887"/>
                </a:cubicBezTo>
                <a:lnTo>
                  <a:pt x="29710" y="44565"/>
                </a:lnTo>
                <a:cubicBezTo>
                  <a:pt x="29710" y="41841"/>
                  <a:pt x="31938" y="39613"/>
                  <a:pt x="34661" y="39613"/>
                </a:cubicBezTo>
                <a:lnTo>
                  <a:pt x="163404" y="39613"/>
                </a:lnTo>
                <a:close/>
                <a:moveTo>
                  <a:pt x="34661" y="19806"/>
                </a:moveTo>
                <a:cubicBezTo>
                  <a:pt x="20983" y="19806"/>
                  <a:pt x="9903" y="30886"/>
                  <a:pt x="9903" y="44565"/>
                </a:cubicBezTo>
                <a:lnTo>
                  <a:pt x="9903" y="113887"/>
                </a:lnTo>
                <a:cubicBezTo>
                  <a:pt x="9903" y="127566"/>
                  <a:pt x="20983" y="138645"/>
                  <a:pt x="34661" y="138645"/>
                </a:cubicBezTo>
                <a:lnTo>
                  <a:pt x="163404" y="138645"/>
                </a:lnTo>
                <a:cubicBezTo>
                  <a:pt x="177082" y="138645"/>
                  <a:pt x="188162" y="127566"/>
                  <a:pt x="188162" y="113887"/>
                </a:cubicBezTo>
                <a:lnTo>
                  <a:pt x="188162" y="99032"/>
                </a:lnTo>
                <a:cubicBezTo>
                  <a:pt x="193639" y="99032"/>
                  <a:pt x="198065" y="94607"/>
                  <a:pt x="198065" y="89129"/>
                </a:cubicBezTo>
                <a:lnTo>
                  <a:pt x="198065" y="69323"/>
                </a:lnTo>
                <a:cubicBezTo>
                  <a:pt x="198065" y="63845"/>
                  <a:pt x="193639" y="59419"/>
                  <a:pt x="188162" y="59419"/>
                </a:cubicBezTo>
                <a:lnTo>
                  <a:pt x="188162" y="44565"/>
                </a:lnTo>
                <a:cubicBezTo>
                  <a:pt x="188162" y="30886"/>
                  <a:pt x="177082" y="19806"/>
                  <a:pt x="163404" y="19806"/>
                </a:cubicBezTo>
                <a:lnTo>
                  <a:pt x="34661" y="19806"/>
                </a:lnTo>
                <a:close/>
                <a:moveTo>
                  <a:pt x="51992" y="54468"/>
                </a:moveTo>
                <a:cubicBezTo>
                  <a:pt x="47876" y="54468"/>
                  <a:pt x="44565" y="57779"/>
                  <a:pt x="44565" y="61895"/>
                </a:cubicBezTo>
                <a:lnTo>
                  <a:pt x="44565" y="96557"/>
                </a:lnTo>
                <a:cubicBezTo>
                  <a:pt x="44565" y="100673"/>
                  <a:pt x="47876" y="103984"/>
                  <a:pt x="51992" y="103984"/>
                </a:cubicBezTo>
                <a:lnTo>
                  <a:pt x="96557" y="103984"/>
                </a:lnTo>
                <a:cubicBezTo>
                  <a:pt x="100673" y="103984"/>
                  <a:pt x="103984" y="100673"/>
                  <a:pt x="103984" y="96557"/>
                </a:cubicBezTo>
                <a:lnTo>
                  <a:pt x="103984" y="61895"/>
                </a:lnTo>
                <a:cubicBezTo>
                  <a:pt x="103984" y="57779"/>
                  <a:pt x="100673" y="54468"/>
                  <a:pt x="96557" y="54468"/>
                </a:cubicBezTo>
                <a:lnTo>
                  <a:pt x="51992" y="5446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7016819" y="5234787"/>
            <a:ext cx="45686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Power Consumption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6819" y="5481268"/>
            <a:ext cx="456869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Additional processing for combining and advanced decoding increases energy consumption in mobile devices.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945" y="385187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66990" y="0"/>
                </a:moveTo>
                <a:lnTo>
                  <a:pt x="334944" y="0"/>
                </a:lnTo>
                <a:cubicBezTo>
                  <a:pt x="371941" y="0"/>
                  <a:pt x="401934" y="29993"/>
                  <a:pt x="401934" y="66990"/>
                </a:cubicBezTo>
                <a:lnTo>
                  <a:pt x="401934" y="334944"/>
                </a:lnTo>
                <a:cubicBezTo>
                  <a:pt x="401934" y="371941"/>
                  <a:pt x="371941" y="401934"/>
                  <a:pt x="334944" y="401934"/>
                </a:cubicBezTo>
                <a:lnTo>
                  <a:pt x="66990" y="401934"/>
                </a:lnTo>
                <a:cubicBezTo>
                  <a:pt x="29993" y="401934"/>
                  <a:pt x="0" y="371941"/>
                  <a:pt x="0" y="334944"/>
                </a:cubicBezTo>
                <a:lnTo>
                  <a:pt x="0" y="66990"/>
                </a:lnTo>
                <a:cubicBezTo>
                  <a:pt x="0" y="29993"/>
                  <a:pt x="29993" y="0"/>
                  <a:pt x="6699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65783" y="468923"/>
            <a:ext cx="22608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363" y="502418"/>
            <a:ext cx="3692769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945" y="971341"/>
            <a:ext cx="11522110" cy="16747"/>
          </a:xfrm>
          <a:custGeom>
            <a:avLst/>
            <a:gdLst/>
            <a:ahLst/>
            <a:cxnLst/>
            <a:rect l="l" t="t" r="r" b="b"/>
            <a:pathLst>
              <a:path w="11522110" h="16747">
                <a:moveTo>
                  <a:pt x="0" y="0"/>
                </a:moveTo>
                <a:lnTo>
                  <a:pt x="11522110" y="0"/>
                </a:lnTo>
                <a:lnTo>
                  <a:pt x="11522110" y="16747"/>
                </a:lnTo>
                <a:lnTo>
                  <a:pt x="0" y="16747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34945" y="1155560"/>
            <a:ext cx="11597473" cy="242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evolution of HARQ technology continues with emerging research areas that promise to further enhance wireless communication performance.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3319" y="1576335"/>
            <a:ext cx="5660571" cy="2093407"/>
          </a:xfrm>
          <a:custGeom>
            <a:avLst/>
            <a:gdLst/>
            <a:ahLst/>
            <a:cxnLst/>
            <a:rect l="l" t="t" r="r" b="b"/>
            <a:pathLst>
              <a:path w="5660571" h="2093407">
                <a:moveTo>
                  <a:pt x="66989" y="0"/>
                </a:moveTo>
                <a:lnTo>
                  <a:pt x="5593582" y="0"/>
                </a:lnTo>
                <a:cubicBezTo>
                  <a:pt x="5630579" y="0"/>
                  <a:pt x="5660571" y="29992"/>
                  <a:pt x="5660571" y="66989"/>
                </a:cubicBezTo>
                <a:lnTo>
                  <a:pt x="5660571" y="2026418"/>
                </a:lnTo>
                <a:cubicBezTo>
                  <a:pt x="5660571" y="2063415"/>
                  <a:pt x="5630579" y="2093407"/>
                  <a:pt x="5593582" y="2093407"/>
                </a:cubicBezTo>
                <a:lnTo>
                  <a:pt x="66989" y="2093407"/>
                </a:lnTo>
                <a:cubicBezTo>
                  <a:pt x="29992" y="2093407"/>
                  <a:pt x="0" y="2063415"/>
                  <a:pt x="0" y="2026418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9165" y="1752181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53143" y="1886159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47102" y="21981"/>
                </a:moveTo>
                <a:cubicBezTo>
                  <a:pt x="47102" y="9852"/>
                  <a:pt x="56954" y="0"/>
                  <a:pt x="69082" y="0"/>
                </a:cubicBezTo>
                <a:lnTo>
                  <a:pt x="78503" y="0"/>
                </a:lnTo>
                <a:cubicBezTo>
                  <a:pt x="85450" y="0"/>
                  <a:pt x="91063" y="5613"/>
                  <a:pt x="91063" y="12560"/>
                </a:cubicBezTo>
                <a:lnTo>
                  <a:pt x="91063" y="188407"/>
                </a:lnTo>
                <a:cubicBezTo>
                  <a:pt x="91063" y="195354"/>
                  <a:pt x="85450" y="200967"/>
                  <a:pt x="78503" y="200967"/>
                </a:cubicBezTo>
                <a:lnTo>
                  <a:pt x="65942" y="200967"/>
                </a:lnTo>
                <a:cubicBezTo>
                  <a:pt x="54245" y="200967"/>
                  <a:pt x="44393" y="192960"/>
                  <a:pt x="41606" y="182126"/>
                </a:cubicBezTo>
                <a:cubicBezTo>
                  <a:pt x="41332" y="182126"/>
                  <a:pt x="41096" y="182126"/>
                  <a:pt x="40821" y="182126"/>
                </a:cubicBezTo>
                <a:cubicBezTo>
                  <a:pt x="23472" y="182126"/>
                  <a:pt x="9420" y="168074"/>
                  <a:pt x="9420" y="150725"/>
                </a:cubicBezTo>
                <a:cubicBezTo>
                  <a:pt x="9420" y="143660"/>
                  <a:pt x="11775" y="137144"/>
                  <a:pt x="15701" y="131885"/>
                </a:cubicBezTo>
                <a:cubicBezTo>
                  <a:pt x="8086" y="126154"/>
                  <a:pt x="3140" y="117048"/>
                  <a:pt x="3140" y="106764"/>
                </a:cubicBezTo>
                <a:cubicBezTo>
                  <a:pt x="3140" y="94635"/>
                  <a:pt x="10048" y="84076"/>
                  <a:pt x="20097" y="78856"/>
                </a:cubicBezTo>
                <a:cubicBezTo>
                  <a:pt x="17310" y="74146"/>
                  <a:pt x="15701" y="68651"/>
                  <a:pt x="15701" y="62802"/>
                </a:cubicBezTo>
                <a:cubicBezTo>
                  <a:pt x="15701" y="45453"/>
                  <a:pt x="29753" y="31401"/>
                  <a:pt x="47102" y="31401"/>
                </a:cubicBezTo>
                <a:lnTo>
                  <a:pt x="47102" y="21981"/>
                </a:lnTo>
                <a:close/>
                <a:moveTo>
                  <a:pt x="153865" y="21981"/>
                </a:moveTo>
                <a:lnTo>
                  <a:pt x="153865" y="31401"/>
                </a:lnTo>
                <a:cubicBezTo>
                  <a:pt x="171214" y="31401"/>
                  <a:pt x="185266" y="45453"/>
                  <a:pt x="185266" y="62802"/>
                </a:cubicBezTo>
                <a:cubicBezTo>
                  <a:pt x="185266" y="68690"/>
                  <a:pt x="183657" y="74185"/>
                  <a:pt x="180870" y="78856"/>
                </a:cubicBezTo>
                <a:cubicBezTo>
                  <a:pt x="190958" y="84076"/>
                  <a:pt x="197827" y="94596"/>
                  <a:pt x="197827" y="106764"/>
                </a:cubicBezTo>
                <a:cubicBezTo>
                  <a:pt x="197827" y="117048"/>
                  <a:pt x="192881" y="126154"/>
                  <a:pt x="185266" y="131885"/>
                </a:cubicBezTo>
                <a:cubicBezTo>
                  <a:pt x="189192" y="137144"/>
                  <a:pt x="191547" y="143660"/>
                  <a:pt x="191547" y="150725"/>
                </a:cubicBezTo>
                <a:cubicBezTo>
                  <a:pt x="191547" y="168074"/>
                  <a:pt x="177495" y="182126"/>
                  <a:pt x="160146" y="182126"/>
                </a:cubicBezTo>
                <a:cubicBezTo>
                  <a:pt x="159871" y="182126"/>
                  <a:pt x="159635" y="182126"/>
                  <a:pt x="159361" y="182126"/>
                </a:cubicBezTo>
                <a:cubicBezTo>
                  <a:pt x="156574" y="192960"/>
                  <a:pt x="146722" y="200967"/>
                  <a:pt x="135025" y="200967"/>
                </a:cubicBezTo>
                <a:lnTo>
                  <a:pt x="122464" y="200967"/>
                </a:lnTo>
                <a:cubicBezTo>
                  <a:pt x="115517" y="200967"/>
                  <a:pt x="109904" y="195354"/>
                  <a:pt x="109904" y="188407"/>
                </a:cubicBezTo>
                <a:lnTo>
                  <a:pt x="109904" y="12560"/>
                </a:lnTo>
                <a:cubicBezTo>
                  <a:pt x="109904" y="5613"/>
                  <a:pt x="115517" y="0"/>
                  <a:pt x="122464" y="0"/>
                </a:cubicBezTo>
                <a:lnTo>
                  <a:pt x="131885" y="0"/>
                </a:lnTo>
                <a:cubicBezTo>
                  <a:pt x="144013" y="0"/>
                  <a:pt x="153865" y="9852"/>
                  <a:pt x="153865" y="219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88571" y="1869412"/>
            <a:ext cx="231949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AI-Based HARQ Optimization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9165" y="2355082"/>
            <a:ext cx="5375868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Leveraging </a:t>
            </a:r>
            <a:r>
              <a:rPr lang="en-US" sz="105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machine learning algorithms</a:t>
            </a: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 optimize retransmission strategies based on real-time channel conditions and traffic patterns.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9165" y="2857500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Predictive retransmission scheduling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165" y="3091962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Dynamic code rate adaptation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165" y="3326423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Intelligent combining strategies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8110" y="1576335"/>
            <a:ext cx="5660571" cy="2093407"/>
          </a:xfrm>
          <a:custGeom>
            <a:avLst/>
            <a:gdLst/>
            <a:ahLst/>
            <a:cxnLst/>
            <a:rect l="l" t="t" r="r" b="b"/>
            <a:pathLst>
              <a:path w="5660571" h="2093407">
                <a:moveTo>
                  <a:pt x="66989" y="0"/>
                </a:moveTo>
                <a:lnTo>
                  <a:pt x="5593582" y="0"/>
                </a:lnTo>
                <a:cubicBezTo>
                  <a:pt x="5630579" y="0"/>
                  <a:pt x="5660571" y="29992"/>
                  <a:pt x="5660571" y="66989"/>
                </a:cubicBezTo>
                <a:lnTo>
                  <a:pt x="5660571" y="2026418"/>
                </a:lnTo>
                <a:cubicBezTo>
                  <a:pt x="5660571" y="2063415"/>
                  <a:pt x="5630579" y="2093407"/>
                  <a:pt x="5593582" y="2093407"/>
                </a:cubicBezTo>
                <a:lnTo>
                  <a:pt x="66989" y="2093407"/>
                </a:lnTo>
                <a:cubicBezTo>
                  <a:pt x="29992" y="2093407"/>
                  <a:pt x="0" y="2063415"/>
                  <a:pt x="0" y="2026418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3956" y="1752181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7934" y="1886159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75846" y="100484"/>
                </a:moveTo>
                <a:cubicBezTo>
                  <a:pt x="175846" y="58877"/>
                  <a:pt x="142090" y="25121"/>
                  <a:pt x="100484" y="25121"/>
                </a:cubicBezTo>
                <a:lnTo>
                  <a:pt x="100484" y="175846"/>
                </a:lnTo>
                <a:cubicBezTo>
                  <a:pt x="142090" y="175846"/>
                  <a:pt x="175846" y="142090"/>
                  <a:pt x="175846" y="100484"/>
                </a:cubicBezTo>
                <a:close/>
                <a:moveTo>
                  <a:pt x="0" y="100484"/>
                </a:moveTo>
                <a:cubicBezTo>
                  <a:pt x="0" y="45025"/>
                  <a:pt x="45025" y="0"/>
                  <a:pt x="100484" y="0"/>
                </a:cubicBezTo>
                <a:cubicBezTo>
                  <a:pt x="155942" y="0"/>
                  <a:pt x="200967" y="45025"/>
                  <a:pt x="200967" y="100484"/>
                </a:cubicBezTo>
                <a:cubicBezTo>
                  <a:pt x="200967" y="155942"/>
                  <a:pt x="155942" y="200967"/>
                  <a:pt x="100484" y="200967"/>
                </a:cubicBezTo>
                <a:cubicBezTo>
                  <a:pt x="45025" y="200967"/>
                  <a:pt x="0" y="155942"/>
                  <a:pt x="0" y="1004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33363" y="1869412"/>
            <a:ext cx="1992923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Adaptive HARQ Schemes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3956" y="2355082"/>
            <a:ext cx="5375868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Developing </a:t>
            </a:r>
            <a:r>
              <a:rPr lang="en-US" sz="105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context-aware HARQ</a:t>
            </a: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that dynamically switches between Type I, CC, and IR based on application requirements and channel state.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3956" y="2857500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Service-specific optimization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3956" y="3091962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Cross-layer design approaches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3956" y="3326423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QoS-aware retransmission control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3319" y="3853962"/>
            <a:ext cx="5660571" cy="2093407"/>
          </a:xfrm>
          <a:custGeom>
            <a:avLst/>
            <a:gdLst/>
            <a:ahLst/>
            <a:cxnLst/>
            <a:rect l="l" t="t" r="r" b="b"/>
            <a:pathLst>
              <a:path w="5660571" h="2093407">
                <a:moveTo>
                  <a:pt x="66989" y="0"/>
                </a:moveTo>
                <a:lnTo>
                  <a:pt x="5593582" y="0"/>
                </a:lnTo>
                <a:cubicBezTo>
                  <a:pt x="5630579" y="0"/>
                  <a:pt x="5660571" y="29992"/>
                  <a:pt x="5660571" y="66989"/>
                </a:cubicBezTo>
                <a:lnTo>
                  <a:pt x="5660571" y="2026418"/>
                </a:lnTo>
                <a:cubicBezTo>
                  <a:pt x="5660571" y="2063415"/>
                  <a:pt x="5630579" y="2093407"/>
                  <a:pt x="5593582" y="2093407"/>
                </a:cubicBezTo>
                <a:lnTo>
                  <a:pt x="66989" y="2093407"/>
                </a:lnTo>
                <a:cubicBezTo>
                  <a:pt x="29992" y="2093407"/>
                  <a:pt x="0" y="2063415"/>
                  <a:pt x="0" y="2026418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65" y="4029808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143" y="4163786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50242" y="125604"/>
                </a:moveTo>
                <a:lnTo>
                  <a:pt x="9617" y="125604"/>
                </a:lnTo>
                <a:cubicBezTo>
                  <a:pt x="-157" y="125604"/>
                  <a:pt x="-6162" y="114967"/>
                  <a:pt x="-1138" y="106567"/>
                </a:cubicBezTo>
                <a:lnTo>
                  <a:pt x="19626" y="71948"/>
                </a:lnTo>
                <a:cubicBezTo>
                  <a:pt x="23041" y="66256"/>
                  <a:pt x="29164" y="62802"/>
                  <a:pt x="35797" y="62802"/>
                </a:cubicBezTo>
                <a:lnTo>
                  <a:pt x="73086" y="62802"/>
                </a:lnTo>
                <a:cubicBezTo>
                  <a:pt x="102956" y="12207"/>
                  <a:pt x="147507" y="9656"/>
                  <a:pt x="177298" y="14013"/>
                </a:cubicBezTo>
                <a:cubicBezTo>
                  <a:pt x="182323" y="14759"/>
                  <a:pt x="186248" y="18684"/>
                  <a:pt x="186954" y="23669"/>
                </a:cubicBezTo>
                <a:cubicBezTo>
                  <a:pt x="191311" y="53460"/>
                  <a:pt x="188760" y="98011"/>
                  <a:pt x="138165" y="127881"/>
                </a:cubicBezTo>
                <a:lnTo>
                  <a:pt x="138165" y="165170"/>
                </a:lnTo>
                <a:cubicBezTo>
                  <a:pt x="138165" y="171803"/>
                  <a:pt x="134711" y="177926"/>
                  <a:pt x="129019" y="181341"/>
                </a:cubicBezTo>
                <a:lnTo>
                  <a:pt x="94400" y="202105"/>
                </a:lnTo>
                <a:cubicBezTo>
                  <a:pt x="86039" y="207129"/>
                  <a:pt x="75363" y="201085"/>
                  <a:pt x="75363" y="191350"/>
                </a:cubicBezTo>
                <a:lnTo>
                  <a:pt x="75363" y="150725"/>
                </a:lnTo>
                <a:cubicBezTo>
                  <a:pt x="75363" y="136870"/>
                  <a:pt x="64097" y="125604"/>
                  <a:pt x="50242" y="125604"/>
                </a:cubicBezTo>
                <a:lnTo>
                  <a:pt x="50203" y="125604"/>
                </a:lnTo>
                <a:close/>
                <a:moveTo>
                  <a:pt x="157005" y="62802"/>
                </a:moveTo>
                <a:cubicBezTo>
                  <a:pt x="157005" y="52404"/>
                  <a:pt x="148563" y="43962"/>
                  <a:pt x="138165" y="43962"/>
                </a:cubicBezTo>
                <a:cubicBezTo>
                  <a:pt x="127766" y="43962"/>
                  <a:pt x="119324" y="52404"/>
                  <a:pt x="119324" y="62802"/>
                </a:cubicBezTo>
                <a:cubicBezTo>
                  <a:pt x="119324" y="73201"/>
                  <a:pt x="127766" y="81643"/>
                  <a:pt x="138165" y="81643"/>
                </a:cubicBezTo>
                <a:cubicBezTo>
                  <a:pt x="148563" y="81643"/>
                  <a:pt x="157005" y="73201"/>
                  <a:pt x="157005" y="628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88571" y="4147038"/>
            <a:ext cx="1507253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Integration with 6G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165" y="4632709"/>
            <a:ext cx="5375868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Designing next-generation HARQ for </a:t>
            </a:r>
            <a:r>
              <a:rPr lang="en-US" sz="105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6G requirements</a:t>
            </a: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including terahertz communications and intelligent reflecting surfaces.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165" y="5135126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THz band communication support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9165" y="5369588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Massive MIMO integration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9165" y="5604049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Semantic communication paradigms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8110" y="3853962"/>
            <a:ext cx="5660571" cy="2093407"/>
          </a:xfrm>
          <a:custGeom>
            <a:avLst/>
            <a:gdLst/>
            <a:ahLst/>
            <a:cxnLst/>
            <a:rect l="l" t="t" r="r" b="b"/>
            <a:pathLst>
              <a:path w="5660571" h="2093407">
                <a:moveTo>
                  <a:pt x="66989" y="0"/>
                </a:moveTo>
                <a:lnTo>
                  <a:pt x="5593582" y="0"/>
                </a:lnTo>
                <a:cubicBezTo>
                  <a:pt x="5630579" y="0"/>
                  <a:pt x="5660571" y="29992"/>
                  <a:pt x="5660571" y="66989"/>
                </a:cubicBezTo>
                <a:lnTo>
                  <a:pt x="5660571" y="2026418"/>
                </a:lnTo>
                <a:cubicBezTo>
                  <a:pt x="5660571" y="2063415"/>
                  <a:pt x="5630579" y="2093407"/>
                  <a:pt x="5593582" y="2093407"/>
                </a:cubicBezTo>
                <a:lnTo>
                  <a:pt x="66989" y="2093407"/>
                </a:lnTo>
                <a:cubicBezTo>
                  <a:pt x="29992" y="2093407"/>
                  <a:pt x="0" y="2063415"/>
                  <a:pt x="0" y="2026418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3956" y="4029808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7934" y="4163786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2560" y="12560"/>
                </a:moveTo>
                <a:cubicBezTo>
                  <a:pt x="19508" y="12560"/>
                  <a:pt x="25121" y="18173"/>
                  <a:pt x="25121" y="25121"/>
                </a:cubicBezTo>
                <a:lnTo>
                  <a:pt x="25121" y="157005"/>
                </a:lnTo>
                <a:cubicBezTo>
                  <a:pt x="25121" y="160460"/>
                  <a:pt x="27947" y="163286"/>
                  <a:pt x="31401" y="163286"/>
                </a:cubicBezTo>
                <a:lnTo>
                  <a:pt x="188407" y="163286"/>
                </a:lnTo>
                <a:cubicBezTo>
                  <a:pt x="195354" y="163286"/>
                  <a:pt x="200967" y="168899"/>
                  <a:pt x="200967" y="175846"/>
                </a:cubicBezTo>
                <a:cubicBezTo>
                  <a:pt x="200967" y="182794"/>
                  <a:pt x="195354" y="188407"/>
                  <a:pt x="188407" y="188407"/>
                </a:cubicBezTo>
                <a:lnTo>
                  <a:pt x="31401" y="188407"/>
                </a:lnTo>
                <a:cubicBezTo>
                  <a:pt x="14052" y="188407"/>
                  <a:pt x="0" y="174355"/>
                  <a:pt x="0" y="157005"/>
                </a:cubicBezTo>
                <a:lnTo>
                  <a:pt x="0" y="25121"/>
                </a:lnTo>
                <a:cubicBezTo>
                  <a:pt x="0" y="18173"/>
                  <a:pt x="5613" y="12560"/>
                  <a:pt x="12560" y="12560"/>
                </a:cubicBezTo>
                <a:close/>
                <a:moveTo>
                  <a:pt x="94203" y="37681"/>
                </a:moveTo>
                <a:cubicBezTo>
                  <a:pt x="96833" y="37681"/>
                  <a:pt x="99345" y="38780"/>
                  <a:pt x="101151" y="40743"/>
                </a:cubicBezTo>
                <a:lnTo>
                  <a:pt x="129059" y="71163"/>
                </a:lnTo>
                <a:lnTo>
                  <a:pt x="147193" y="52989"/>
                </a:lnTo>
                <a:cubicBezTo>
                  <a:pt x="150882" y="49300"/>
                  <a:pt x="156848" y="49300"/>
                  <a:pt x="160499" y="52989"/>
                </a:cubicBezTo>
                <a:lnTo>
                  <a:pt x="185620" y="78110"/>
                </a:lnTo>
                <a:cubicBezTo>
                  <a:pt x="187386" y="79877"/>
                  <a:pt x="188367" y="82271"/>
                  <a:pt x="188367" y="84783"/>
                </a:cubicBezTo>
                <a:lnTo>
                  <a:pt x="188367" y="128745"/>
                </a:lnTo>
                <a:cubicBezTo>
                  <a:pt x="188367" y="133965"/>
                  <a:pt x="184167" y="138165"/>
                  <a:pt x="178947" y="138165"/>
                </a:cubicBezTo>
                <a:lnTo>
                  <a:pt x="59623" y="138165"/>
                </a:lnTo>
                <a:cubicBezTo>
                  <a:pt x="54402" y="138165"/>
                  <a:pt x="50203" y="133965"/>
                  <a:pt x="50203" y="128745"/>
                </a:cubicBezTo>
                <a:lnTo>
                  <a:pt x="50203" y="84783"/>
                </a:lnTo>
                <a:cubicBezTo>
                  <a:pt x="50203" y="82428"/>
                  <a:pt x="51105" y="80151"/>
                  <a:pt x="52675" y="78424"/>
                </a:cubicBezTo>
                <a:lnTo>
                  <a:pt x="87217" y="40743"/>
                </a:lnTo>
                <a:cubicBezTo>
                  <a:pt x="88983" y="38780"/>
                  <a:pt x="91534" y="37681"/>
                  <a:pt x="94164" y="376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933363" y="4147038"/>
            <a:ext cx="204316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ML for Channel Prediction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3956" y="4632709"/>
            <a:ext cx="5375868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Using </a:t>
            </a:r>
            <a:r>
              <a:rPr lang="en-US" sz="105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deep learning models</a:t>
            </a:r>
            <a:r>
              <a:rPr lang="en-US" sz="10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 predict channel conditions and proactively adjust HARQ parameters before degradation occurs.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63956" y="5135126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LSTM-based channel forecasting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63956" y="5369588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Reinforcement learning for HARQ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63956" y="5604049"/>
            <a:ext cx="536749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Real-time parameter optimization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4945" y="6123214"/>
            <a:ext cx="11522110" cy="736879"/>
          </a:xfrm>
          <a:custGeom>
            <a:avLst/>
            <a:gdLst/>
            <a:ahLst/>
            <a:cxnLst/>
            <a:rect l="l" t="t" r="r" b="b"/>
            <a:pathLst>
              <a:path w="11522110" h="736879">
                <a:moveTo>
                  <a:pt x="66990" y="0"/>
                </a:moveTo>
                <a:lnTo>
                  <a:pt x="11455120" y="0"/>
                </a:lnTo>
                <a:cubicBezTo>
                  <a:pt x="11492093" y="0"/>
                  <a:pt x="11522110" y="30017"/>
                  <a:pt x="11522110" y="66990"/>
                </a:cubicBezTo>
                <a:lnTo>
                  <a:pt x="11522110" y="669889"/>
                </a:lnTo>
                <a:cubicBezTo>
                  <a:pt x="11522110" y="706862"/>
                  <a:pt x="11492093" y="736879"/>
                  <a:pt x="11455120" y="736879"/>
                </a:cubicBezTo>
                <a:lnTo>
                  <a:pt x="66990" y="736879"/>
                </a:lnTo>
                <a:cubicBezTo>
                  <a:pt x="30017" y="736879"/>
                  <a:pt x="0" y="706862"/>
                  <a:pt x="0" y="669889"/>
                </a:cubicBezTo>
                <a:lnTo>
                  <a:pt x="0" y="66990"/>
                </a:lnTo>
                <a:cubicBezTo>
                  <a:pt x="0" y="30017"/>
                  <a:pt x="30017" y="0"/>
                  <a:pt x="6699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533819" y="6366049"/>
            <a:ext cx="188407" cy="251209"/>
          </a:xfrm>
          <a:custGeom>
            <a:avLst/>
            <a:gdLst/>
            <a:ahLst/>
            <a:cxnLst/>
            <a:rect l="l" t="t" r="r" b="b"/>
            <a:pathLst>
              <a:path w="188407" h="251209">
                <a:moveTo>
                  <a:pt x="143709" y="188407"/>
                </a:moveTo>
                <a:cubicBezTo>
                  <a:pt x="147291" y="177465"/>
                  <a:pt x="154454" y="167554"/>
                  <a:pt x="162550" y="159017"/>
                </a:cubicBezTo>
                <a:cubicBezTo>
                  <a:pt x="178594" y="142139"/>
                  <a:pt x="188407" y="119324"/>
                  <a:pt x="188407" y="94203"/>
                </a:cubicBezTo>
                <a:cubicBezTo>
                  <a:pt x="188407" y="42195"/>
                  <a:pt x="146211" y="0"/>
                  <a:pt x="94203" y="0"/>
                </a:cubicBezTo>
                <a:cubicBezTo>
                  <a:pt x="42195" y="0"/>
                  <a:pt x="0" y="42195"/>
                  <a:pt x="0" y="94203"/>
                </a:cubicBezTo>
                <a:cubicBezTo>
                  <a:pt x="0" y="119324"/>
                  <a:pt x="9813" y="142139"/>
                  <a:pt x="25857" y="159017"/>
                </a:cubicBezTo>
                <a:cubicBezTo>
                  <a:pt x="33952" y="167554"/>
                  <a:pt x="41165" y="177465"/>
                  <a:pt x="44698" y="188407"/>
                </a:cubicBezTo>
                <a:lnTo>
                  <a:pt x="143660" y="188407"/>
                </a:lnTo>
                <a:close/>
                <a:moveTo>
                  <a:pt x="141305" y="211957"/>
                </a:moveTo>
                <a:lnTo>
                  <a:pt x="47102" y="211957"/>
                </a:lnTo>
                <a:lnTo>
                  <a:pt x="47102" y="219808"/>
                </a:lnTo>
                <a:cubicBezTo>
                  <a:pt x="47102" y="241494"/>
                  <a:pt x="64667" y="259059"/>
                  <a:pt x="86353" y="259059"/>
                </a:cubicBezTo>
                <a:lnTo>
                  <a:pt x="102054" y="259059"/>
                </a:lnTo>
                <a:cubicBezTo>
                  <a:pt x="123740" y="259059"/>
                  <a:pt x="141305" y="241494"/>
                  <a:pt x="141305" y="219808"/>
                </a:cubicBezTo>
                <a:lnTo>
                  <a:pt x="141305" y="211957"/>
                </a:lnTo>
                <a:close/>
                <a:moveTo>
                  <a:pt x="90278" y="54952"/>
                </a:moveTo>
                <a:cubicBezTo>
                  <a:pt x="70751" y="54952"/>
                  <a:pt x="54952" y="70751"/>
                  <a:pt x="54952" y="90278"/>
                </a:cubicBezTo>
                <a:cubicBezTo>
                  <a:pt x="54952" y="96804"/>
                  <a:pt x="49702" y="102054"/>
                  <a:pt x="43177" y="102054"/>
                </a:cubicBezTo>
                <a:cubicBezTo>
                  <a:pt x="36651" y="102054"/>
                  <a:pt x="31401" y="96804"/>
                  <a:pt x="31401" y="90278"/>
                </a:cubicBezTo>
                <a:cubicBezTo>
                  <a:pt x="31401" y="57749"/>
                  <a:pt x="57749" y="31401"/>
                  <a:pt x="90278" y="31401"/>
                </a:cubicBezTo>
                <a:cubicBezTo>
                  <a:pt x="96804" y="31401"/>
                  <a:pt x="102054" y="36651"/>
                  <a:pt x="102054" y="43177"/>
                </a:cubicBezTo>
                <a:cubicBezTo>
                  <a:pt x="102054" y="49702"/>
                  <a:pt x="96804" y="54952"/>
                  <a:pt x="90278" y="549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16912" y="6257192"/>
            <a:ext cx="10885714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Impact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6912" y="6525148"/>
            <a:ext cx="1087734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These research directions aim to achieve </a:t>
            </a:r>
            <a:r>
              <a:rPr lang="en-US" sz="105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near-zero latency</a:t>
            </a:r>
            <a:r>
              <a:rPr lang="en-US" sz="105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r>
              <a:rPr lang="en-US" sz="105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99.99999% reliability</a:t>
            </a:r>
            <a:r>
              <a:rPr lang="en-US" sz="105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next-generation wireless applications.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cf77b42b9dec20892aa332ce3c4d8b95d8663c4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8B000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7500" y="365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2"/>
          <p:cNvSpPr/>
          <p:nvPr/>
        </p:nvSpPr>
        <p:spPr>
          <a:xfrm>
            <a:off x="441193" y="444500"/>
            <a:ext cx="21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3750" y="476250"/>
            <a:ext cx="158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7500" y="920750"/>
            <a:ext cx="11557000" cy="15875"/>
          </a:xfrm>
          <a:custGeom>
            <a:avLst/>
            <a:gdLst/>
            <a:ahLst/>
            <a:cxnLst/>
            <a:rect l="l" t="t" r="r" b="b"/>
            <a:pathLst>
              <a:path w="11557000" h="15875">
                <a:moveTo>
                  <a:pt x="0" y="0"/>
                </a:moveTo>
                <a:lnTo>
                  <a:pt x="11557000" y="0"/>
                </a:lnTo>
                <a:lnTo>
                  <a:pt x="11557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146" y="1129771"/>
            <a:ext cx="11554354" cy="870479"/>
          </a:xfrm>
          <a:custGeom>
            <a:avLst/>
            <a:gdLst/>
            <a:ahLst/>
            <a:cxnLst/>
            <a:rect l="l" t="t" r="r" b="b"/>
            <a:pathLst>
              <a:path w="11554354" h="870479">
                <a:moveTo>
                  <a:pt x="63501" y="0"/>
                </a:moveTo>
                <a:lnTo>
                  <a:pt x="11490853" y="0"/>
                </a:lnTo>
                <a:cubicBezTo>
                  <a:pt x="11525924" y="0"/>
                  <a:pt x="11554354" y="28431"/>
                  <a:pt x="11554354" y="63501"/>
                </a:cubicBezTo>
                <a:lnTo>
                  <a:pt x="11554354" y="806978"/>
                </a:lnTo>
                <a:cubicBezTo>
                  <a:pt x="11554354" y="842049"/>
                  <a:pt x="11525924" y="870479"/>
                  <a:pt x="11490853" y="870479"/>
                </a:cubicBezTo>
                <a:lnTo>
                  <a:pt x="63501" y="870479"/>
                </a:lnTo>
                <a:cubicBezTo>
                  <a:pt x="28431" y="870479"/>
                  <a:pt x="0" y="842049"/>
                  <a:pt x="0" y="806978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1385" y="132291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79979" y="1291169"/>
            <a:ext cx="11112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1542" y="1608669"/>
            <a:ext cx="1130300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study comprehensively evaluated three HARQ schemes for 5G NR, demonstrating that </a:t>
            </a: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HARQ is essential for achieving 5G reliability targets</a:t>
            </a:r>
            <a:r>
              <a:rPr lang="en-US" sz="112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 fading channel environments.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5438" y="2171573"/>
            <a:ext cx="3754438" cy="1595438"/>
          </a:xfrm>
          <a:custGeom>
            <a:avLst/>
            <a:gdLst/>
            <a:ahLst/>
            <a:cxnLst/>
            <a:rect l="l" t="t" r="r" b="b"/>
            <a:pathLst>
              <a:path w="3754438" h="1595438">
                <a:moveTo>
                  <a:pt x="63498" y="0"/>
                </a:moveTo>
                <a:lnTo>
                  <a:pt x="3690939" y="0"/>
                </a:lnTo>
                <a:cubicBezTo>
                  <a:pt x="3726008" y="0"/>
                  <a:pt x="3754438" y="28429"/>
                  <a:pt x="3754438" y="63498"/>
                </a:cubicBezTo>
                <a:lnTo>
                  <a:pt x="3754438" y="1531939"/>
                </a:lnTo>
                <a:cubicBezTo>
                  <a:pt x="3754438" y="1567008"/>
                  <a:pt x="3726008" y="1595437"/>
                  <a:pt x="3690939" y="1595438"/>
                </a:cubicBezTo>
                <a:lnTo>
                  <a:pt x="63498" y="1595438"/>
                </a:lnTo>
                <a:cubicBezTo>
                  <a:pt x="28429" y="1595438"/>
                  <a:pt x="0" y="1567008"/>
                  <a:pt x="0" y="153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375" y="230651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30651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3125" y="2354135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 I HARQ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3021" y="2721906"/>
            <a:ext cx="3473979" cy="291042"/>
          </a:xfrm>
          <a:custGeom>
            <a:avLst/>
            <a:gdLst/>
            <a:ahLst/>
            <a:cxnLst/>
            <a:rect l="l" t="t" r="r" b="b"/>
            <a:pathLst>
              <a:path w="3473979" h="291042">
                <a:moveTo>
                  <a:pt x="31750" y="0"/>
                </a:moveTo>
                <a:lnTo>
                  <a:pt x="3442229" y="0"/>
                </a:lnTo>
                <a:cubicBezTo>
                  <a:pt x="3459764" y="0"/>
                  <a:pt x="3473979" y="14215"/>
                  <a:pt x="3473979" y="31750"/>
                </a:cubicBezTo>
                <a:lnTo>
                  <a:pt x="3473979" y="259292"/>
                </a:lnTo>
                <a:cubicBezTo>
                  <a:pt x="3473979" y="276827"/>
                  <a:pt x="3459764" y="291042"/>
                  <a:pt x="3442229" y="291042"/>
                </a:cubicBezTo>
                <a:lnTo>
                  <a:pt x="31750" y="291042"/>
                </a:lnTo>
                <a:cubicBezTo>
                  <a:pt x="14215" y="291042"/>
                  <a:pt x="0" y="276827"/>
                  <a:pt x="0" y="25929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9167" y="2788047"/>
            <a:ext cx="339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Simple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63021" y="3081737"/>
            <a:ext cx="3473979" cy="291042"/>
          </a:xfrm>
          <a:custGeom>
            <a:avLst/>
            <a:gdLst/>
            <a:ahLst/>
            <a:cxnLst/>
            <a:rect l="l" t="t" r="r" b="b"/>
            <a:pathLst>
              <a:path w="3473979" h="291042">
                <a:moveTo>
                  <a:pt x="31750" y="0"/>
                </a:moveTo>
                <a:lnTo>
                  <a:pt x="3442229" y="0"/>
                </a:lnTo>
                <a:cubicBezTo>
                  <a:pt x="3459764" y="0"/>
                  <a:pt x="3473979" y="14215"/>
                  <a:pt x="3473979" y="31750"/>
                </a:cubicBezTo>
                <a:lnTo>
                  <a:pt x="3473979" y="259292"/>
                </a:lnTo>
                <a:cubicBezTo>
                  <a:pt x="3473979" y="276827"/>
                  <a:pt x="3459764" y="291042"/>
                  <a:pt x="3442229" y="291042"/>
                </a:cubicBezTo>
                <a:lnTo>
                  <a:pt x="31750" y="291042"/>
                </a:lnTo>
                <a:cubicBezTo>
                  <a:pt x="14215" y="291042"/>
                  <a:pt x="0" y="276827"/>
                  <a:pt x="0" y="25929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9167" y="3147885"/>
            <a:ext cx="339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✗ Inefficient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0375" y="3470672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for </a:t>
            </a: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resource-constrained devices</a:t>
            </a: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requiring minimal complexity.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20104" y="2171573"/>
            <a:ext cx="3754438" cy="1595438"/>
          </a:xfrm>
          <a:custGeom>
            <a:avLst/>
            <a:gdLst/>
            <a:ahLst/>
            <a:cxnLst/>
            <a:rect l="l" t="t" r="r" b="b"/>
            <a:pathLst>
              <a:path w="3754438" h="1595438">
                <a:moveTo>
                  <a:pt x="63498" y="0"/>
                </a:moveTo>
                <a:lnTo>
                  <a:pt x="3690939" y="0"/>
                </a:lnTo>
                <a:cubicBezTo>
                  <a:pt x="3726008" y="0"/>
                  <a:pt x="3754438" y="28429"/>
                  <a:pt x="3754438" y="63498"/>
                </a:cubicBezTo>
                <a:lnTo>
                  <a:pt x="3754438" y="1531939"/>
                </a:lnTo>
                <a:cubicBezTo>
                  <a:pt x="3754438" y="1567008"/>
                  <a:pt x="3726008" y="1595437"/>
                  <a:pt x="3690939" y="1595438"/>
                </a:cubicBezTo>
                <a:lnTo>
                  <a:pt x="63498" y="1595438"/>
                </a:lnTo>
                <a:cubicBezTo>
                  <a:pt x="28429" y="1595438"/>
                  <a:pt x="0" y="1567008"/>
                  <a:pt x="0" y="153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>
                <a:alpha val="5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55042" y="230651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B0000">
              <a:alpha val="70196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323292" y="230651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67792" y="2354135"/>
            <a:ext cx="119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Chase Combining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357688" y="2721906"/>
            <a:ext cx="3473979" cy="291042"/>
          </a:xfrm>
          <a:custGeom>
            <a:avLst/>
            <a:gdLst/>
            <a:ahLst/>
            <a:cxnLst/>
            <a:rect l="l" t="t" r="r" b="b"/>
            <a:pathLst>
              <a:path w="3473979" h="291042">
                <a:moveTo>
                  <a:pt x="31750" y="0"/>
                </a:moveTo>
                <a:lnTo>
                  <a:pt x="3442229" y="0"/>
                </a:lnTo>
                <a:cubicBezTo>
                  <a:pt x="3459764" y="0"/>
                  <a:pt x="3473979" y="14215"/>
                  <a:pt x="3473979" y="31750"/>
                </a:cubicBezTo>
                <a:lnTo>
                  <a:pt x="3473979" y="259292"/>
                </a:lnTo>
                <a:cubicBezTo>
                  <a:pt x="3473979" y="276827"/>
                  <a:pt x="3459764" y="291042"/>
                  <a:pt x="3442229" y="291042"/>
                </a:cubicBezTo>
                <a:lnTo>
                  <a:pt x="31750" y="291042"/>
                </a:lnTo>
                <a:cubicBezTo>
                  <a:pt x="14215" y="291042"/>
                  <a:pt x="0" y="276827"/>
                  <a:pt x="0" y="25929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23834" y="2788047"/>
            <a:ext cx="339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Balanced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57688" y="3081737"/>
            <a:ext cx="3473979" cy="291042"/>
          </a:xfrm>
          <a:custGeom>
            <a:avLst/>
            <a:gdLst/>
            <a:ahLst/>
            <a:cxnLst/>
            <a:rect l="l" t="t" r="r" b="b"/>
            <a:pathLst>
              <a:path w="3473979" h="291042">
                <a:moveTo>
                  <a:pt x="31750" y="0"/>
                </a:moveTo>
                <a:lnTo>
                  <a:pt x="3442229" y="0"/>
                </a:lnTo>
                <a:cubicBezTo>
                  <a:pt x="3459764" y="0"/>
                  <a:pt x="3473979" y="14215"/>
                  <a:pt x="3473979" y="31750"/>
                </a:cubicBezTo>
                <a:lnTo>
                  <a:pt x="3473979" y="259292"/>
                </a:lnTo>
                <a:cubicBezTo>
                  <a:pt x="3473979" y="276827"/>
                  <a:pt x="3459764" y="291042"/>
                  <a:pt x="3442229" y="291042"/>
                </a:cubicBezTo>
                <a:lnTo>
                  <a:pt x="31750" y="291042"/>
                </a:lnTo>
                <a:cubicBezTo>
                  <a:pt x="14215" y="291042"/>
                  <a:pt x="0" y="276827"/>
                  <a:pt x="0" y="25929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23834" y="3147885"/>
            <a:ext cx="339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Moderate complexity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355042" y="3470672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Ideal for </a:t>
            </a: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general-purpose applications</a:t>
            </a: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requiring good performance.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114771" y="2171573"/>
            <a:ext cx="3754438" cy="1595438"/>
          </a:xfrm>
          <a:custGeom>
            <a:avLst/>
            <a:gdLst/>
            <a:ahLst/>
            <a:cxnLst/>
            <a:rect l="l" t="t" r="r" b="b"/>
            <a:pathLst>
              <a:path w="3754438" h="1595438">
                <a:moveTo>
                  <a:pt x="63498" y="0"/>
                </a:moveTo>
                <a:lnTo>
                  <a:pt x="3690939" y="0"/>
                </a:lnTo>
                <a:cubicBezTo>
                  <a:pt x="3726008" y="0"/>
                  <a:pt x="3754438" y="28429"/>
                  <a:pt x="3754438" y="63498"/>
                </a:cubicBezTo>
                <a:lnTo>
                  <a:pt x="3754438" y="1531939"/>
                </a:lnTo>
                <a:cubicBezTo>
                  <a:pt x="3754438" y="1567008"/>
                  <a:pt x="3726008" y="1595437"/>
                  <a:pt x="3690939" y="1595438"/>
                </a:cubicBezTo>
                <a:lnTo>
                  <a:pt x="63498" y="1595438"/>
                </a:lnTo>
                <a:cubicBezTo>
                  <a:pt x="28429" y="1595438"/>
                  <a:pt x="0" y="1567008"/>
                  <a:pt x="0" y="153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49709" y="230651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8217959" y="230651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662459" y="2354135"/>
            <a:ext cx="162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Incremental Redundancy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52354" y="2721906"/>
            <a:ext cx="3473979" cy="291042"/>
          </a:xfrm>
          <a:custGeom>
            <a:avLst/>
            <a:gdLst/>
            <a:ahLst/>
            <a:cxnLst/>
            <a:rect l="l" t="t" r="r" b="b"/>
            <a:pathLst>
              <a:path w="3473979" h="291042">
                <a:moveTo>
                  <a:pt x="31750" y="0"/>
                </a:moveTo>
                <a:lnTo>
                  <a:pt x="3442229" y="0"/>
                </a:lnTo>
                <a:cubicBezTo>
                  <a:pt x="3459764" y="0"/>
                  <a:pt x="3473979" y="14215"/>
                  <a:pt x="3473979" y="31750"/>
                </a:cubicBezTo>
                <a:lnTo>
                  <a:pt x="3473979" y="259292"/>
                </a:lnTo>
                <a:cubicBezTo>
                  <a:pt x="3473979" y="276827"/>
                  <a:pt x="3459764" y="291042"/>
                  <a:pt x="3442229" y="291042"/>
                </a:cubicBezTo>
                <a:lnTo>
                  <a:pt x="31750" y="291042"/>
                </a:lnTo>
                <a:cubicBezTo>
                  <a:pt x="14215" y="291042"/>
                  <a:pt x="0" y="276827"/>
                  <a:pt x="0" y="25929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00A63E">
                <a:alpha val="30196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18500" y="2788047"/>
            <a:ext cx="339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Best performance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252354" y="3081737"/>
            <a:ext cx="3473979" cy="291042"/>
          </a:xfrm>
          <a:custGeom>
            <a:avLst/>
            <a:gdLst/>
            <a:ahLst/>
            <a:cxnLst/>
            <a:rect l="l" t="t" r="r" b="b"/>
            <a:pathLst>
              <a:path w="3473979" h="291042">
                <a:moveTo>
                  <a:pt x="31750" y="0"/>
                </a:moveTo>
                <a:lnTo>
                  <a:pt x="3442229" y="0"/>
                </a:lnTo>
                <a:cubicBezTo>
                  <a:pt x="3459764" y="0"/>
                  <a:pt x="3473979" y="14215"/>
                  <a:pt x="3473979" y="31750"/>
                </a:cubicBezTo>
                <a:lnTo>
                  <a:pt x="3473979" y="259292"/>
                </a:lnTo>
                <a:cubicBezTo>
                  <a:pt x="3473979" y="276827"/>
                  <a:pt x="3459764" y="291042"/>
                  <a:pt x="3442229" y="291042"/>
                </a:cubicBezTo>
                <a:lnTo>
                  <a:pt x="31750" y="291042"/>
                </a:lnTo>
                <a:cubicBezTo>
                  <a:pt x="14215" y="291042"/>
                  <a:pt x="0" y="276827"/>
                  <a:pt x="0" y="25929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18500" y="3147885"/>
            <a:ext cx="339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✗ Higher complexity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249709" y="3470672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Optimal for </a:t>
            </a: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5G high-data-rate</a:t>
            </a: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mission-critical applications.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17500" y="3931047"/>
            <a:ext cx="11557000" cy="1103313"/>
          </a:xfrm>
          <a:custGeom>
            <a:avLst/>
            <a:gdLst/>
            <a:ahLst/>
            <a:cxnLst/>
            <a:rect l="l" t="t" r="r" b="b"/>
            <a:pathLst>
              <a:path w="11557000" h="1103313">
                <a:moveTo>
                  <a:pt x="63496" y="0"/>
                </a:moveTo>
                <a:lnTo>
                  <a:pt x="11493504" y="0"/>
                </a:lnTo>
                <a:cubicBezTo>
                  <a:pt x="11528572" y="0"/>
                  <a:pt x="11557000" y="28428"/>
                  <a:pt x="11557000" y="63496"/>
                </a:cubicBezTo>
                <a:lnTo>
                  <a:pt x="11557000" y="1039817"/>
                </a:lnTo>
                <a:cubicBezTo>
                  <a:pt x="11557000" y="1074885"/>
                  <a:pt x="11528572" y="1103312"/>
                  <a:pt x="11493504" y="1103313"/>
                </a:cubicBezTo>
                <a:lnTo>
                  <a:pt x="63496" y="1103313"/>
                </a:lnTo>
                <a:cubicBezTo>
                  <a:pt x="28428" y="1103313"/>
                  <a:pt x="0" y="1074885"/>
                  <a:pt x="0" y="1039817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476250" y="4121547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674688" y="4089797"/>
            <a:ext cx="1112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Fundamental Trade-off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76250" y="4407297"/>
            <a:ext cx="1131093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choice of HARQ scheme involves a fundamental </a:t>
            </a: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trade-off between complexity and efficiency</a:t>
            </a:r>
            <a:r>
              <a:rPr lang="en-US" sz="112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Application requirements, channel conditions, and device capabilities must be carefully considered to select the optimal approach.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20146" y="5191786"/>
            <a:ext cx="5712354" cy="894292"/>
          </a:xfrm>
          <a:custGeom>
            <a:avLst/>
            <a:gdLst/>
            <a:ahLst/>
            <a:cxnLst/>
            <a:rect l="l" t="t" r="r" b="b"/>
            <a:pathLst>
              <a:path w="5712354" h="894292">
                <a:moveTo>
                  <a:pt x="63504" y="0"/>
                </a:moveTo>
                <a:lnTo>
                  <a:pt x="5648851" y="0"/>
                </a:lnTo>
                <a:cubicBezTo>
                  <a:pt x="5683923" y="0"/>
                  <a:pt x="5712354" y="28432"/>
                  <a:pt x="5712354" y="63504"/>
                </a:cubicBezTo>
                <a:lnTo>
                  <a:pt x="5712354" y="830788"/>
                </a:lnTo>
                <a:cubicBezTo>
                  <a:pt x="5712354" y="865860"/>
                  <a:pt x="5683923" y="894292"/>
                  <a:pt x="5648851" y="894292"/>
                </a:cubicBezTo>
                <a:lnTo>
                  <a:pt x="63504" y="894292"/>
                </a:lnTo>
                <a:cubicBezTo>
                  <a:pt x="28432" y="894292"/>
                  <a:pt x="0" y="865860"/>
                  <a:pt x="0" y="83078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F9FAFB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5667" y="535318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Text 42"/>
          <p:cNvSpPr/>
          <p:nvPr/>
        </p:nvSpPr>
        <p:spPr>
          <a:xfrm>
            <a:off x="608542" y="5321435"/>
            <a:ext cx="535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Overall Performance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49792" y="5575435"/>
            <a:ext cx="5516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Incremental Redundancy</a:t>
            </a: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delivers the best BER and throughput performance, making it the preferred choice for 5G NR deployment.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162146" y="5191786"/>
            <a:ext cx="5712354" cy="894292"/>
          </a:xfrm>
          <a:custGeom>
            <a:avLst/>
            <a:gdLst/>
            <a:ahLst/>
            <a:cxnLst/>
            <a:rect l="l" t="t" r="r" b="b"/>
            <a:pathLst>
              <a:path w="5712354" h="894292">
                <a:moveTo>
                  <a:pt x="63504" y="0"/>
                </a:moveTo>
                <a:lnTo>
                  <a:pt x="5648851" y="0"/>
                </a:lnTo>
                <a:cubicBezTo>
                  <a:pt x="5683923" y="0"/>
                  <a:pt x="5712354" y="28432"/>
                  <a:pt x="5712354" y="63504"/>
                </a:cubicBezTo>
                <a:lnTo>
                  <a:pt x="5712354" y="830788"/>
                </a:lnTo>
                <a:cubicBezTo>
                  <a:pt x="5712354" y="865860"/>
                  <a:pt x="5683923" y="894292"/>
                  <a:pt x="5648851" y="894292"/>
                </a:cubicBezTo>
                <a:lnTo>
                  <a:pt x="63504" y="894292"/>
                </a:lnTo>
                <a:cubicBezTo>
                  <a:pt x="28432" y="894292"/>
                  <a:pt x="0" y="865860"/>
                  <a:pt x="0" y="83078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F9FAFB"/>
          </a:solidFill>
          <a:ln w="8467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07667" y="535318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538" y="7938"/>
                </a:moveTo>
                <a:lnTo>
                  <a:pt x="36637" y="7938"/>
                </a:lnTo>
                <a:cubicBezTo>
                  <a:pt x="29344" y="7938"/>
                  <a:pt x="22969" y="12923"/>
                  <a:pt x="21233" y="19993"/>
                </a:cubicBezTo>
                <a:lnTo>
                  <a:pt x="347" y="104304"/>
                </a:lnTo>
                <a:cubicBezTo>
                  <a:pt x="-1513" y="111795"/>
                  <a:pt x="4167" y="119063"/>
                  <a:pt x="11906" y="119063"/>
                </a:cubicBezTo>
                <a:lnTo>
                  <a:pt x="55538" y="119063"/>
                </a:lnTo>
                <a:lnTo>
                  <a:pt x="55538" y="103188"/>
                </a:lnTo>
                <a:cubicBezTo>
                  <a:pt x="55538" y="98797"/>
                  <a:pt x="59085" y="95250"/>
                  <a:pt x="63475" y="95250"/>
                </a:cubicBezTo>
                <a:cubicBezTo>
                  <a:pt x="67866" y="95250"/>
                  <a:pt x="71413" y="98797"/>
                  <a:pt x="71413" y="103188"/>
                </a:cubicBezTo>
                <a:lnTo>
                  <a:pt x="71413" y="119063"/>
                </a:lnTo>
                <a:lnTo>
                  <a:pt x="115094" y="119063"/>
                </a:lnTo>
                <a:cubicBezTo>
                  <a:pt x="122833" y="119063"/>
                  <a:pt x="128513" y="111795"/>
                  <a:pt x="126653" y="104304"/>
                </a:cubicBezTo>
                <a:lnTo>
                  <a:pt x="105792" y="19993"/>
                </a:lnTo>
                <a:cubicBezTo>
                  <a:pt x="104031" y="12923"/>
                  <a:pt x="97681" y="7938"/>
                  <a:pt x="90363" y="7938"/>
                </a:cubicBezTo>
                <a:lnTo>
                  <a:pt x="71413" y="7938"/>
                </a:lnTo>
                <a:lnTo>
                  <a:pt x="71413" y="23812"/>
                </a:lnTo>
                <a:cubicBezTo>
                  <a:pt x="71413" y="28203"/>
                  <a:pt x="67866" y="31750"/>
                  <a:pt x="63475" y="31750"/>
                </a:cubicBezTo>
                <a:cubicBezTo>
                  <a:pt x="59085" y="31750"/>
                  <a:pt x="55538" y="28203"/>
                  <a:pt x="55538" y="23812"/>
                </a:cubicBezTo>
                <a:lnTo>
                  <a:pt x="55538" y="7938"/>
                </a:lnTo>
                <a:close/>
                <a:moveTo>
                  <a:pt x="71413" y="55563"/>
                </a:moveTo>
                <a:lnTo>
                  <a:pt x="71413" y="71438"/>
                </a:lnTo>
                <a:cubicBezTo>
                  <a:pt x="71413" y="75828"/>
                  <a:pt x="67866" y="79375"/>
                  <a:pt x="63475" y="79375"/>
                </a:cubicBezTo>
                <a:cubicBezTo>
                  <a:pt x="59085" y="79375"/>
                  <a:pt x="55538" y="75828"/>
                  <a:pt x="55538" y="71438"/>
                </a:cubicBezTo>
                <a:lnTo>
                  <a:pt x="55538" y="55563"/>
                </a:lnTo>
                <a:cubicBezTo>
                  <a:pt x="55538" y="51172"/>
                  <a:pt x="59085" y="47625"/>
                  <a:pt x="63475" y="47625"/>
                </a:cubicBezTo>
                <a:cubicBezTo>
                  <a:pt x="67866" y="47625"/>
                  <a:pt x="71413" y="51172"/>
                  <a:pt x="71413" y="5556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9" name="Text 46"/>
          <p:cNvSpPr/>
          <p:nvPr/>
        </p:nvSpPr>
        <p:spPr>
          <a:xfrm>
            <a:off x="6450542" y="5321435"/>
            <a:ext cx="535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Path Forward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291792" y="5575435"/>
            <a:ext cx="5516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research should focus on </a:t>
            </a: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AI-driven adaptive HARQ</a:t>
            </a: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integration with emerging 6G technologies.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17500" y="6281875"/>
            <a:ext cx="11557000" cy="5292"/>
          </a:xfrm>
          <a:custGeom>
            <a:avLst/>
            <a:gdLst/>
            <a:ahLst/>
            <a:cxnLst/>
            <a:rect l="l" t="t" r="r" b="b"/>
            <a:pathLst>
              <a:path w="11557000" h="5292">
                <a:moveTo>
                  <a:pt x="0" y="0"/>
                </a:moveTo>
                <a:lnTo>
                  <a:pt x="11557000" y="0"/>
                </a:lnTo>
                <a:lnTo>
                  <a:pt x="1155700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281781" y="6411516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285750" y="6665516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778417" y="488759"/>
            <a:ext cx="2859287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686" y="622461"/>
            <a:ext cx="466779" cy="381000"/>
          </a:xfrm>
          <a:custGeom>
            <a:avLst/>
            <a:gdLst/>
            <a:ahLst/>
            <a:cxnLst/>
            <a:rect l="l" t="t" r="r" b="b"/>
            <a:pathLst>
              <a:path w="466779" h="381000">
                <a:moveTo>
                  <a:pt x="77798" y="0"/>
                </a:moveTo>
                <a:lnTo>
                  <a:pt x="388981" y="0"/>
                </a:lnTo>
                <a:cubicBezTo>
                  <a:pt x="431919" y="0"/>
                  <a:pt x="466779" y="28454"/>
                  <a:pt x="466779" y="63501"/>
                </a:cubicBezTo>
                <a:lnTo>
                  <a:pt x="466779" y="317499"/>
                </a:lnTo>
                <a:cubicBezTo>
                  <a:pt x="466779" y="352546"/>
                  <a:pt x="431919" y="381000"/>
                  <a:pt x="388981" y="381000"/>
                </a:cubicBezTo>
                <a:lnTo>
                  <a:pt x="77798" y="381000"/>
                </a:lnTo>
                <a:cubicBezTo>
                  <a:pt x="34860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34860" y="0"/>
                  <a:pt x="777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63145" y="622461"/>
            <a:ext cx="508000" cy="37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464" y="622461"/>
            <a:ext cx="7620000" cy="3283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References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3145" y="1427642"/>
          <a:ext cx="10402688" cy="4955224"/>
        </p:xfrm>
        <a:graphic>
          <a:graphicData uri="http://schemas.openxmlformats.org/drawingml/2006/table">
            <a:tbl>
              <a:tblPr/>
              <a:tblGrid>
                <a:gridCol w="1040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5224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1401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17145" y="1718253"/>
            <a:ext cx="9606217" cy="46646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1 ) Throughput and Delay Analysis of HARQ with Code Combining over Double Rayleigh Fading Channels -</a:t>
            </a:r>
            <a:endParaRPr lang="en-US" sz="1600" dirty="0"/>
          </a:p>
          <a:p>
            <a:r>
              <a:rPr lang="en-IN" u="sng" dirty="0">
                <a:hlinkClick r:id="rId3"/>
              </a:rPr>
              <a:t>https://drive.google.com/file/d/1N-OrEkbxuYs4QRwbdTpeMklnE2wDYdli/view?usp=sharing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2) Resource Allocation and HARQ Optimization for URLLC Traffic in 5G Wireless Networks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IN" u="sng" dirty="0">
                <a:hlinkClick r:id="rId4"/>
              </a:rPr>
              <a:t>https://drive.google.com/file/d/1PMNAJSdlmasz_vWRyERSJZXWKQkN21Ks/view?usp=sharing</a:t>
            </a:r>
            <a:endParaRPr lang="en-IN" u="sng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3) Optimized Asymmetric Feedback Detection for Rate-adaptive HARQ with Unreliable Feedback</a:t>
            </a:r>
            <a:endParaRPr lang="en-US" sz="1600" dirty="0"/>
          </a:p>
          <a:p>
            <a:r>
              <a:rPr lang="en-IN" dirty="0"/>
              <a:t> </a:t>
            </a:r>
            <a:r>
              <a:rPr lang="en-IN" u="sng" dirty="0">
                <a:hlinkClick r:id="rId5"/>
              </a:rPr>
              <a:t>https://drive.google.com/file/d/1Qx2NJsd29xjYSvTMBcHu1JMaYZAcl1BZ/view?usp=sharing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4) URLLC for 5G and Beyond: Requirements, Enabling Incumbent Technologies and Network Intelligence</a:t>
            </a:r>
            <a:endParaRPr lang="en-US" sz="1600" dirty="0"/>
          </a:p>
          <a:p>
            <a:r>
              <a:rPr lang="en-IN" u="sng" dirty="0">
                <a:hlinkClick r:id="rId6"/>
              </a:rPr>
              <a:t>https://drive.google.com/file/d/18ZLKuHUWLrPDFYnw_WdtTpKi9yQad_Qj/view?usp=sharing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5) Performance Evaluation of 5G New Radio LDPC over Different Scenarios of Lognormal Fading Channel</a:t>
            </a:r>
          </a:p>
          <a:p>
            <a:pPr>
              <a:lnSpc>
                <a:spcPct val="100000"/>
              </a:lnSpc>
            </a:pPr>
            <a:r>
              <a:rPr lang="en-IN" u="sng" dirty="0">
                <a:hlinkClick r:id="rId7"/>
              </a:rPr>
              <a:t>https://drive.google.com/file/d/1YbbMUDmyaAqTGB-pGvnqG1AITd0fjF1F/view?usp=sharing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 2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2655</Words>
  <Application>Microsoft Office PowerPoint</Application>
  <PresentationFormat>Widescreen</PresentationFormat>
  <Paragraphs>486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Noto Sans SC</vt:lpstr>
      <vt:lpstr>Arial</vt:lpstr>
      <vt:lpstr>MiSans</vt:lpstr>
      <vt:lpstr>Sorts Mill Goudy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HARQ Schemes in 5G NR</dc:title>
  <dc:subject>Performance Evaluation of HARQ Schemes in 5G NR</dc:subject>
  <dc:creator>Kimi</dc:creator>
  <cp:lastModifiedBy>Sree nithie</cp:lastModifiedBy>
  <cp:revision>2</cp:revision>
  <dcterms:created xsi:type="dcterms:W3CDTF">2026-03-29T10:02:44Z</dcterms:created>
  <dcterms:modified xsi:type="dcterms:W3CDTF">2026-03-29T11:49:26Z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{"Label":"Performance Evaluation of HARQ Schemes in 5G NR","ContentProducer":"001191110108MACG2KBH8F10000","ProduceID":"19d38d0c-8562-8772-8000-00004491ffcd","ReservedCode1":"","ContentPropagator":"001191110108MACG2KBH8F20000","PropagateID":"19d38d0c-8562-8772-8000-00004491ffcd","ReservedCode2":""}</vt:lpwstr>
  </property>
</Properties>
</file>